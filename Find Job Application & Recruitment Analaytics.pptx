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.xml" ContentType="application/vnd.openxmlformats-officedocument.presentationml.notesSlide+xml"/>
  <Override PartName="/ppt/charts/chartEx1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57" r:id="rId4"/>
    <p:sldId id="258" r:id="rId5"/>
    <p:sldId id="259" r:id="rId6"/>
    <p:sldId id="272" r:id="rId7"/>
    <p:sldId id="260" r:id="rId8"/>
    <p:sldId id="274" r:id="rId9"/>
    <p:sldId id="261" r:id="rId10"/>
    <p:sldId id="262" r:id="rId11"/>
    <p:sldId id="263" r:id="rId12"/>
    <p:sldId id="264" r:id="rId13"/>
    <p:sldId id="265" r:id="rId14"/>
    <p:sldId id="269" r:id="rId15"/>
    <p:sldId id="270" r:id="rId16"/>
    <p:sldId id="271" r:id="rId17"/>
    <p:sldId id="276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990099"/>
    <a:srgbClr val="FF6600"/>
    <a:srgbClr val="FFCC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86019f7b59ca6a/Documents/Find%20Job%20Application%20%5eL0%20Recruitment%20Analytics%20%20Mini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86019f7b59ca6a/Documents/Find%20Job%20Application%20%5eL0%20Recruitment%20Analytics%20%20Mini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86019f7b59ca6a/Documents/Find%20Job%20Application%20%5eL0%20Recruitment%20Analytics%20%20Mini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86019f7b59ca6a/Documents/Find%20Job%20Application%20%5eL0%20Recruitment%20Analytics%20%20Mini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86019f7b59ca6a/Documents/Find%20Job%20Application%20%5eL0%20Recruitment%20Analytics%20%20Mini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86019f7b59ca6a/Documents/Find%20Job%20Application%20%5eL0%20Recruitment%20Analytics%20%20Mini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https://d.docs.live.net/0d86019f7b59ca6a/Documents/Find%20Job%20Application%20%5eL0%20Recruitment%20Analytics%20%20Mini%20projec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[Find Job Application ^L0 Recruitment Analytics  Mini project.xlsx]Pivot Table!PivotTable7</c:name>
    <c:fmtId val="-1"/>
  </c:pivotSource>
  <c:chart>
    <c:autoTitleDeleted val="1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6.2293440987774815E-17"/>
              <c:y val="5.3390397340051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6.2293440987774815E-17"/>
              <c:y val="5.3390397340051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6.2293440987774815E-17"/>
              <c:y val="5.33903973400514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>
            <a:gsLst>
              <a:gs pos="0">
                <a:schemeClr val="accent4"/>
              </a:gs>
              <a:gs pos="100000">
                <a:schemeClr val="accent4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9.2126573265642331E-2"/>
          <c:y val="0.20385818913982179"/>
          <c:w val="0.7654420384951881"/>
          <c:h val="0.664642875739974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Table'!$B$4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4"/>
                </a:gs>
                <a:gs pos="100000">
                  <a:schemeClr val="accent4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A3E-4687-911C-4870C10C53F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A3E-4687-911C-4870C10C53F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A3E-4687-911C-4870C10C53F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A3E-4687-911C-4870C10C53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Table'!$A$5:$A$9</c:f>
              <c:strCache>
                <c:ptCount val="4"/>
                <c:pt idx="0">
                  <c:v>Contract</c:v>
                </c:pt>
                <c:pt idx="1">
                  <c:v>Full-Time</c:v>
                </c:pt>
                <c:pt idx="2">
                  <c:v>Internship</c:v>
                </c:pt>
                <c:pt idx="3">
                  <c:v>Part-Time</c:v>
                </c:pt>
              </c:strCache>
            </c:strRef>
          </c:cat>
          <c:val>
            <c:numRef>
              <c:f>'Pivot Table'!$B$5:$B$9</c:f>
              <c:numCache>
                <c:formatCode>General</c:formatCode>
                <c:ptCount val="4"/>
                <c:pt idx="0">
                  <c:v>446</c:v>
                </c:pt>
                <c:pt idx="1">
                  <c:v>2756</c:v>
                </c:pt>
                <c:pt idx="2">
                  <c:v>192</c:v>
                </c:pt>
                <c:pt idx="3">
                  <c:v>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A3E-4687-911C-4870C10C53F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771487824"/>
        <c:axId val="864929504"/>
      </c:barChart>
      <c:catAx>
        <c:axId val="771487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929504"/>
        <c:crosses val="autoZero"/>
        <c:auto val="1"/>
        <c:lblAlgn val="ctr"/>
        <c:lblOffset val="100"/>
        <c:noMultiLvlLbl val="0"/>
      </c:catAx>
      <c:valAx>
        <c:axId val="864929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71487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25000"/>
        <a:lumOff val="7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[Find Job Application ^L0 Recruitment Analytics  Mini project.xlsx]Pivot Table!PivotTable8</c:name>
    <c:fmtId val="-1"/>
  </c:pivotSource>
  <c:chart>
    <c:autoTitleDeleted val="1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17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17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17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5322615923009609E-2"/>
          <c:y val="0.2081944444444444"/>
          <c:w val="0.75882961504811897"/>
          <c:h val="0.57089566929133861"/>
        </c:manualLayout>
      </c:layout>
      <c:lineChart>
        <c:grouping val="stacked"/>
        <c:varyColors val="0"/>
        <c:ser>
          <c:idx val="0"/>
          <c:order val="0"/>
          <c:tx>
            <c:strRef>
              <c:f>'Pivot Table'!$B$13</c:f>
              <c:strCache>
                <c:ptCount val="1"/>
                <c:pt idx="0">
                  <c:v>Total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Table'!$A$14:$A$26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'Pivot Table'!$B$14:$B$26</c:f>
              <c:numCache>
                <c:formatCode>General</c:formatCode>
                <c:ptCount val="12"/>
                <c:pt idx="0">
                  <c:v>329</c:v>
                </c:pt>
                <c:pt idx="1">
                  <c:v>290</c:v>
                </c:pt>
                <c:pt idx="2">
                  <c:v>313</c:v>
                </c:pt>
                <c:pt idx="3">
                  <c:v>300</c:v>
                </c:pt>
                <c:pt idx="4">
                  <c:v>341</c:v>
                </c:pt>
                <c:pt idx="5">
                  <c:v>293</c:v>
                </c:pt>
                <c:pt idx="6">
                  <c:v>302</c:v>
                </c:pt>
                <c:pt idx="7">
                  <c:v>299</c:v>
                </c:pt>
                <c:pt idx="8">
                  <c:v>311</c:v>
                </c:pt>
                <c:pt idx="9">
                  <c:v>319</c:v>
                </c:pt>
                <c:pt idx="10">
                  <c:v>308</c:v>
                </c:pt>
                <c:pt idx="11">
                  <c:v>294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2C-42DD-A6F2-F39E025DC31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97362064"/>
        <c:axId val="864916064"/>
      </c:lineChart>
      <c:catAx>
        <c:axId val="897362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916064"/>
        <c:crosses val="autoZero"/>
        <c:auto val="1"/>
        <c:lblAlgn val="ctr"/>
        <c:lblOffset val="100"/>
        <c:noMultiLvlLbl val="0"/>
      </c:catAx>
      <c:valAx>
        <c:axId val="8649160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97362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25000"/>
        <a:lumOff val="75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[Find Job Application ^L0 Recruitment Analytics  Mini project.xlsx]Pivot Table!PivotTable9</c:name>
    <c:fmtId val="-1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accent4"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accent4"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accent4"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accent4"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accent4"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accent4"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'Pivot Table'!$E$4</c:f>
              <c:strCache>
                <c:ptCount val="1"/>
                <c:pt idx="0">
                  <c:v>Average of Salary_Expected_LPA_Clean</c:v>
                </c:pt>
              </c:strCache>
            </c:strRef>
          </c:tx>
          <c:spPr>
            <a:solidFill>
              <a:schemeClr val="accent4">
                <a:tint val="77000"/>
                <a:alpha val="85000"/>
              </a:schemeClr>
            </a:solidFill>
            <a:ln w="9525" cap="flat" cmpd="sng" algn="ctr">
              <a:solidFill>
                <a:schemeClr val="accent4">
                  <a:tint val="77000"/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4">
                  <a:tint val="77000"/>
                  <a:lumMod val="75000"/>
                </a:schemeClr>
              </a:contourClr>
            </a:sp3d>
          </c:spPr>
          <c:invertIfNegative val="0"/>
          <c:cat>
            <c:strRef>
              <c:f>'Pivot Table'!$D$5:$D$19</c:f>
              <c:strCache>
                <c:ptCount val="14"/>
                <c:pt idx="0">
                  <c:v>Accountant</c:v>
                </c:pt>
                <c:pt idx="1">
                  <c:v>Business Analyst</c:v>
                </c:pt>
                <c:pt idx="2">
                  <c:v>Content Writer</c:v>
                </c:pt>
                <c:pt idx="3">
                  <c:v>Customer Support Executive</c:v>
                </c:pt>
                <c:pt idx="4">
                  <c:v>Data Analyst</c:v>
                </c:pt>
                <c:pt idx="5">
                  <c:v>Data Scientist</c:v>
                </c:pt>
                <c:pt idx="6">
                  <c:v>Digital Marketing Executive</c:v>
                </c:pt>
                <c:pt idx="7">
                  <c:v>Financial Analyst</c:v>
                </c:pt>
                <c:pt idx="8">
                  <c:v>Hr Executive</c:v>
                </c:pt>
                <c:pt idx="9">
                  <c:v>Qa Tester</c:v>
                </c:pt>
                <c:pt idx="10">
                  <c:v>Sales Executive</c:v>
                </c:pt>
                <c:pt idx="11">
                  <c:v>Software Developer</c:v>
                </c:pt>
                <c:pt idx="12">
                  <c:v>System Administrator</c:v>
                </c:pt>
                <c:pt idx="13">
                  <c:v>Web Developer</c:v>
                </c:pt>
              </c:strCache>
            </c:strRef>
          </c:cat>
          <c:val>
            <c:numRef>
              <c:f>'Pivot Table'!$E$5:$E$19</c:f>
              <c:numCache>
                <c:formatCode>General</c:formatCode>
                <c:ptCount val="14"/>
                <c:pt idx="0">
                  <c:v>5.1976833204633222</c:v>
                </c:pt>
                <c:pt idx="1">
                  <c:v>8.2871484738955861</c:v>
                </c:pt>
                <c:pt idx="2">
                  <c:v>4.5834727701612907</c:v>
                </c:pt>
                <c:pt idx="3">
                  <c:v>4.3230493971631212</c:v>
                </c:pt>
                <c:pt idx="4">
                  <c:v>7.5923339721254326</c:v>
                </c:pt>
                <c:pt idx="5">
                  <c:v>13.415872658730162</c:v>
                </c:pt>
                <c:pt idx="6">
                  <c:v>5.9429860633484166</c:v>
                </c:pt>
                <c:pt idx="7">
                  <c:v>8.1218357394366176</c:v>
                </c:pt>
                <c:pt idx="8">
                  <c:v>5.8185947933884332</c:v>
                </c:pt>
                <c:pt idx="9">
                  <c:v>6.9321836398467376</c:v>
                </c:pt>
                <c:pt idx="10">
                  <c:v>5.1622892255892285</c:v>
                </c:pt>
                <c:pt idx="11">
                  <c:v>12.045491352459019</c:v>
                </c:pt>
                <c:pt idx="12">
                  <c:v>7.0350165319865336</c:v>
                </c:pt>
                <c:pt idx="13">
                  <c:v>8.1786264818840593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FB-4D7A-9E1A-5C3337712B7E}"/>
            </c:ext>
          </c:extLst>
        </c:ser>
        <c:ser>
          <c:idx val="1"/>
          <c:order val="1"/>
          <c:tx>
            <c:strRef>
              <c:f>'Pivot Table'!$F$4</c:f>
              <c:strCache>
                <c:ptCount val="1"/>
                <c:pt idx="0">
                  <c:v>Average of Salary_Offered_LPA_Clean</c:v>
                </c:pt>
              </c:strCache>
            </c:strRef>
          </c:tx>
          <c:spPr>
            <a:solidFill>
              <a:schemeClr val="accent4">
                <a:shade val="76000"/>
                <a:alpha val="85000"/>
              </a:schemeClr>
            </a:solidFill>
            <a:ln w="9525" cap="flat" cmpd="sng" algn="ctr">
              <a:solidFill>
                <a:schemeClr val="accent4">
                  <a:shade val="76000"/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4">
                  <a:shade val="76000"/>
                  <a:lumMod val="75000"/>
                </a:schemeClr>
              </a:contourClr>
            </a:sp3d>
          </c:spPr>
          <c:invertIfNegative val="0"/>
          <c:cat>
            <c:strRef>
              <c:f>'Pivot Table'!$D$5:$D$19</c:f>
              <c:strCache>
                <c:ptCount val="14"/>
                <c:pt idx="0">
                  <c:v>Accountant</c:v>
                </c:pt>
                <c:pt idx="1">
                  <c:v>Business Analyst</c:v>
                </c:pt>
                <c:pt idx="2">
                  <c:v>Content Writer</c:v>
                </c:pt>
                <c:pt idx="3">
                  <c:v>Customer Support Executive</c:v>
                </c:pt>
                <c:pt idx="4">
                  <c:v>Data Analyst</c:v>
                </c:pt>
                <c:pt idx="5">
                  <c:v>Data Scientist</c:v>
                </c:pt>
                <c:pt idx="6">
                  <c:v>Digital Marketing Executive</c:v>
                </c:pt>
                <c:pt idx="7">
                  <c:v>Financial Analyst</c:v>
                </c:pt>
                <c:pt idx="8">
                  <c:v>Hr Executive</c:v>
                </c:pt>
                <c:pt idx="9">
                  <c:v>Qa Tester</c:v>
                </c:pt>
                <c:pt idx="10">
                  <c:v>Sales Executive</c:v>
                </c:pt>
                <c:pt idx="11">
                  <c:v>Software Developer</c:v>
                </c:pt>
                <c:pt idx="12">
                  <c:v>System Administrator</c:v>
                </c:pt>
                <c:pt idx="13">
                  <c:v>Web Developer</c:v>
                </c:pt>
              </c:strCache>
            </c:strRef>
          </c:cat>
          <c:val>
            <c:numRef>
              <c:f>'Pivot Table'!$F$5:$F$19</c:f>
              <c:numCache>
                <c:formatCode>General</c:formatCode>
                <c:ptCount val="14"/>
                <c:pt idx="0">
                  <c:v>4.2880306177606178</c:v>
                </c:pt>
                <c:pt idx="1">
                  <c:v>7.5895578313253029</c:v>
                </c:pt>
                <c:pt idx="2">
                  <c:v>4.1887093145161289</c:v>
                </c:pt>
                <c:pt idx="3">
                  <c:v>3.3695032978723405</c:v>
                </c:pt>
                <c:pt idx="4">
                  <c:v>6.9111496864111466</c:v>
                </c:pt>
                <c:pt idx="5">
                  <c:v>11.966666468253969</c:v>
                </c:pt>
                <c:pt idx="6">
                  <c:v>5.3470585972850646</c:v>
                </c:pt>
                <c:pt idx="7">
                  <c:v>7.355985633802816</c:v>
                </c:pt>
                <c:pt idx="8">
                  <c:v>4.6834706198347078</c:v>
                </c:pt>
                <c:pt idx="9">
                  <c:v>5.6306509961685833</c:v>
                </c:pt>
                <c:pt idx="10">
                  <c:v>4.6683497979797961</c:v>
                </c:pt>
                <c:pt idx="11">
                  <c:v>10.579507991803277</c:v>
                </c:pt>
                <c:pt idx="12">
                  <c:v>6.3592590235690247</c:v>
                </c:pt>
                <c:pt idx="13">
                  <c:v>7.3405796014492735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FB-4D7A-9E1A-5C3337712B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1062688288"/>
        <c:axId val="538607616"/>
        <c:axId val="0"/>
      </c:bar3DChart>
      <c:catAx>
        <c:axId val="1062688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607616"/>
        <c:crosses val="autoZero"/>
        <c:auto val="1"/>
        <c:lblAlgn val="ctr"/>
        <c:lblOffset val="100"/>
        <c:noMultiLvlLbl val="0"/>
      </c:catAx>
      <c:valAx>
        <c:axId val="538607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2688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tx2">
            <a:lumMod val="25000"/>
            <a:lumOff val="7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25000"/>
        <a:lumOff val="75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[Find Job Application ^L0 Recruitment Analytics  Mini project.xlsx]Pivot Table!PivotTable6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Industry perfprmance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</c:pivotFmt>
      <c:pivotFmt>
        <c:idx val="11"/>
      </c:pivotFmt>
      <c:pivotFmt>
        <c:idx val="12"/>
      </c:pivotFmt>
      <c:pivotFmt>
        <c:idx val="13"/>
      </c:pivotFmt>
      <c:pivotFmt>
        <c:idx val="14"/>
      </c:pivotFmt>
      <c:pivotFmt>
        <c:idx val="15"/>
      </c:pivotFmt>
      <c:pivotFmt>
        <c:idx val="16"/>
      </c:pivotFmt>
      <c:pivotFmt>
        <c:idx val="17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</c:pivotFmt>
      <c:pivotFmt>
        <c:idx val="19"/>
      </c:pivotFmt>
      <c:pivotFmt>
        <c:idx val="20"/>
      </c:pivotFmt>
      <c:pivotFmt>
        <c:idx val="21"/>
      </c:pivotFmt>
      <c:pivotFmt>
        <c:idx val="22"/>
      </c:pivotFmt>
      <c:pivotFmt>
        <c:idx val="23"/>
      </c:pivotFmt>
      <c:pivotFmt>
        <c:idx val="24"/>
      </c:pivotFmt>
      <c:pivotFmt>
        <c:idx val="25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7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8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9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0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1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2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3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5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6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7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8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9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0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1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3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4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5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6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7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8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'Pivot Table'!$H$23</c:f>
              <c:strCache>
                <c:ptCount val="1"/>
                <c:pt idx="0">
                  <c:v>Total</c:v>
                </c:pt>
              </c:strCache>
            </c:strRef>
          </c:tx>
          <c:explosion val="6"/>
          <c:dPt>
            <c:idx val="0"/>
            <c:bubble3D val="0"/>
            <c:spPr>
              <a:solidFill>
                <a:schemeClr val="accent4">
                  <a:shade val="47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5D2-4B22-AD26-B570731AE6F1}"/>
              </c:ext>
            </c:extLst>
          </c:dPt>
          <c:dPt>
            <c:idx val="1"/>
            <c:bubble3D val="0"/>
            <c:spPr>
              <a:solidFill>
                <a:schemeClr val="accent4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5D2-4B22-AD26-B570731AE6F1}"/>
              </c:ext>
            </c:extLst>
          </c:dPt>
          <c:dPt>
            <c:idx val="2"/>
            <c:bubble3D val="0"/>
            <c:spPr>
              <a:solidFill>
                <a:schemeClr val="accent4">
                  <a:shade val="82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5D2-4B22-AD26-B570731AE6F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95D2-4B22-AD26-B570731AE6F1}"/>
              </c:ext>
            </c:extLst>
          </c:dPt>
          <c:dPt>
            <c:idx val="4"/>
            <c:bubble3D val="0"/>
            <c:spPr>
              <a:solidFill>
                <a:schemeClr val="accent4">
                  <a:tint val="83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95D2-4B22-AD26-B570731AE6F1}"/>
              </c:ext>
            </c:extLst>
          </c:dPt>
          <c:dPt>
            <c:idx val="5"/>
            <c:bubble3D val="0"/>
            <c:spPr>
              <a:solidFill>
                <a:schemeClr val="accent4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95D2-4B22-AD26-B570731AE6F1}"/>
              </c:ext>
            </c:extLst>
          </c:dPt>
          <c:dPt>
            <c:idx val="6"/>
            <c:bubble3D val="0"/>
            <c:spPr>
              <a:solidFill>
                <a:schemeClr val="accent4">
                  <a:tint val="4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95D2-4B22-AD26-B570731AE6F1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Table'!$G$24:$G$31</c:f>
              <c:strCache>
                <c:ptCount val="7"/>
                <c:pt idx="0">
                  <c:v>BPO / Customer Service</c:v>
                </c:pt>
                <c:pt idx="1">
                  <c:v>Finance &amp; Accounting</c:v>
                </c:pt>
                <c:pt idx="2">
                  <c:v>Human Resources</c:v>
                </c:pt>
                <c:pt idx="3">
                  <c:v>Information Technology</c:v>
                </c:pt>
                <c:pt idx="4">
                  <c:v>Marketing &amp; Advertising</c:v>
                </c:pt>
                <c:pt idx="5">
                  <c:v>Media &amp; Communication</c:v>
                </c:pt>
                <c:pt idx="6">
                  <c:v>Sales &amp; Business Development</c:v>
                </c:pt>
              </c:strCache>
            </c:strRef>
          </c:cat>
          <c:val>
            <c:numRef>
              <c:f>'Pivot Table'!$H$24:$H$31</c:f>
              <c:numCache>
                <c:formatCode>General</c:formatCode>
                <c:ptCount val="7"/>
                <c:pt idx="0">
                  <c:v>282</c:v>
                </c:pt>
                <c:pt idx="1">
                  <c:v>543</c:v>
                </c:pt>
                <c:pt idx="2">
                  <c:v>242</c:v>
                </c:pt>
                <c:pt idx="3">
                  <c:v>1866</c:v>
                </c:pt>
                <c:pt idx="4">
                  <c:v>221</c:v>
                </c:pt>
                <c:pt idx="5">
                  <c:v>248</c:v>
                </c:pt>
                <c:pt idx="6">
                  <c:v>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5D2-4B22-AD26-B570731AE6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25000"/>
        <a:lumOff val="75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[Find Job Application ^L0 Recruitment Analytics  Mini project.xlsx]Pivot Table!PivotTable2</c:name>
    <c:fmtId val="-1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accent4">
                <a:lumMod val="75000"/>
              </a:schemeClr>
            </a:solidFill>
            <a:round/>
          </a:ln>
          <a:effectLst/>
          <a:sp3d contourW="9525">
            <a:contourClr>
              <a:schemeClr val="accent5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accent4">
                <a:lumMod val="75000"/>
              </a:schemeClr>
            </a:solidFill>
            <a:round/>
          </a:ln>
          <a:effectLst/>
          <a:sp3d contourW="9525">
            <a:contourClr>
              <a:schemeClr val="accent5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4">
              <a:alpha val="85000"/>
            </a:schemeClr>
          </a:solidFill>
          <a:ln w="9525" cap="flat" cmpd="sng" algn="ctr">
            <a:solidFill>
              <a:schemeClr val="accent4">
                <a:lumMod val="75000"/>
              </a:schemeClr>
            </a:solidFill>
            <a:round/>
          </a:ln>
          <a:effectLst/>
          <a:sp3d contourW="9525">
            <a:contourClr>
              <a:schemeClr val="accent5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6479902763832375"/>
          <c:y val="0.19218897637795279"/>
          <c:w val="0.60295494313210851"/>
          <c:h val="0.72125801983085447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'Pivot Table'!$B$29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accent4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4">
                  <a:lumMod val="75000"/>
                </a:schemeClr>
              </a:contourClr>
            </a:sp3d>
          </c:spPr>
          <c:invertIfNegative val="0"/>
          <c:cat>
            <c:strRef>
              <c:f>'Pivot Table'!$A$30:$A$36</c:f>
              <c:strCache>
                <c:ptCount val="6"/>
                <c:pt idx="0">
                  <c:v>Campus Placement</c:v>
                </c:pt>
                <c:pt idx="1">
                  <c:v>Company Website</c:v>
                </c:pt>
                <c:pt idx="2">
                  <c:v>Indeed</c:v>
                </c:pt>
                <c:pt idx="3">
                  <c:v>Linkedin</c:v>
                </c:pt>
                <c:pt idx="4">
                  <c:v>Naukri</c:v>
                </c:pt>
                <c:pt idx="5">
                  <c:v>Referral</c:v>
                </c:pt>
              </c:strCache>
            </c:strRef>
          </c:cat>
          <c:val>
            <c:numRef>
              <c:f>'Pivot Table'!$B$30:$B$36</c:f>
              <c:numCache>
                <c:formatCode>General</c:formatCode>
                <c:ptCount val="6"/>
                <c:pt idx="0">
                  <c:v>616</c:v>
                </c:pt>
                <c:pt idx="1">
                  <c:v>614</c:v>
                </c:pt>
                <c:pt idx="2">
                  <c:v>590</c:v>
                </c:pt>
                <c:pt idx="3">
                  <c:v>644</c:v>
                </c:pt>
                <c:pt idx="4">
                  <c:v>608</c:v>
                </c:pt>
                <c:pt idx="5">
                  <c:v>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0C-482A-91D0-5F09B2F289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1062785728"/>
        <c:axId val="538608576"/>
        <c:axId val="0"/>
      </c:bar3DChart>
      <c:catAx>
        <c:axId val="10627857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608576"/>
        <c:crosses val="autoZero"/>
        <c:auto val="1"/>
        <c:lblAlgn val="ctr"/>
        <c:lblOffset val="100"/>
        <c:noMultiLvlLbl val="0"/>
      </c:catAx>
      <c:valAx>
        <c:axId val="538608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2785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25000"/>
        <a:lumOff val="75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[Find Job Application ^L0 Recruitment Analytics  Mini project.xlsx]Pivot Table!PivotTable1</c:name>
    <c:fmtId val="-1"/>
  </c:pivotSource>
  <c:chart>
    <c:autoTitleDeleted val="1"/>
    <c:pivotFmts>
      <c:pivotFmt>
        <c:idx val="0"/>
        <c:spPr>
          <a:solidFill>
            <a:schemeClr val="accent4"/>
          </a:solidFill>
          <a:ln w="9525" cap="flat" cmpd="sng" algn="ctr">
            <a:noFill/>
            <a:round/>
          </a:ln>
          <a:effectLst/>
        </c:spPr>
        <c:marker>
          <c:symbol val="diamond"/>
          <c:size val="6"/>
          <c:spPr>
            <a:solidFill>
              <a:schemeClr val="accent4"/>
            </a:soli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 w="9525" cap="flat" cmpd="sng" algn="ctr">
            <a:noFill/>
            <a:round/>
          </a:ln>
          <a:effectLst/>
        </c:spPr>
        <c:marker>
          <c:symbol val="diamond"/>
          <c:size val="6"/>
          <c:spPr>
            <a:solidFill>
              <a:schemeClr val="accent4"/>
            </a:soli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 w="22225" cap="rnd" cmpd="sng" algn="ctr">
            <a:solidFill>
              <a:schemeClr val="accent4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4"/>
            </a:soli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 w="22225" cap="rnd" cmpd="sng" algn="ctr">
            <a:solidFill>
              <a:schemeClr val="accent4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4"/>
            </a:soli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 w="22225" cap="rnd" cmpd="sng" algn="ctr">
            <a:solidFill>
              <a:schemeClr val="accent4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4"/>
            </a:soli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Table'!$E$23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Table'!$D$24:$D$38</c:f>
              <c:strCache>
                <c:ptCount val="14"/>
                <c:pt idx="0">
                  <c:v>Content Writer</c:v>
                </c:pt>
                <c:pt idx="1">
                  <c:v>Web Developer</c:v>
                </c:pt>
                <c:pt idx="2">
                  <c:v>System Administrator</c:v>
                </c:pt>
                <c:pt idx="3">
                  <c:v>Business Analyst</c:v>
                </c:pt>
                <c:pt idx="4">
                  <c:v>Digital Marketing Executive</c:v>
                </c:pt>
                <c:pt idx="5">
                  <c:v>Data Scientist</c:v>
                </c:pt>
                <c:pt idx="6">
                  <c:v>Sales Executive</c:v>
                </c:pt>
                <c:pt idx="7">
                  <c:v>Hr Executive</c:v>
                </c:pt>
                <c:pt idx="8">
                  <c:v>Financial Analyst</c:v>
                </c:pt>
                <c:pt idx="9">
                  <c:v>Accountant</c:v>
                </c:pt>
                <c:pt idx="10">
                  <c:v>Data Analyst</c:v>
                </c:pt>
                <c:pt idx="11">
                  <c:v>Software Developer</c:v>
                </c:pt>
                <c:pt idx="12">
                  <c:v>Qa Tester</c:v>
                </c:pt>
                <c:pt idx="13">
                  <c:v>Customer Support Executive</c:v>
                </c:pt>
              </c:strCache>
            </c:strRef>
          </c:cat>
          <c:val>
            <c:numRef>
              <c:f>'Pivot Table'!$E$24:$E$38</c:f>
              <c:numCache>
                <c:formatCode>0.00%</c:formatCode>
                <c:ptCount val="14"/>
                <c:pt idx="0">
                  <c:v>0.97416129028805953</c:v>
                </c:pt>
                <c:pt idx="1">
                  <c:v>0.97574039665819401</c:v>
                </c:pt>
                <c:pt idx="2">
                  <c:v>0.9768942510821178</c:v>
                </c:pt>
                <c:pt idx="3">
                  <c:v>0.97866583207385849</c:v>
                </c:pt>
                <c:pt idx="4">
                  <c:v>0.99180717890642034</c:v>
                </c:pt>
                <c:pt idx="5">
                  <c:v>0.99393613160694594</c:v>
                </c:pt>
                <c:pt idx="6">
                  <c:v>0.9988301600801287</c:v>
                </c:pt>
                <c:pt idx="7">
                  <c:v>1.001429794275007</c:v>
                </c:pt>
                <c:pt idx="8">
                  <c:v>1.0026989669898585</c:v>
                </c:pt>
                <c:pt idx="9">
                  <c:v>1.003581883824114</c:v>
                </c:pt>
                <c:pt idx="10">
                  <c:v>1.012463195508156</c:v>
                </c:pt>
                <c:pt idx="11">
                  <c:v>1.0260294441314508</c:v>
                </c:pt>
                <c:pt idx="12">
                  <c:v>1.0287996005891948</c:v>
                </c:pt>
                <c:pt idx="13">
                  <c:v>1.0336148033447801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2A-45F9-9D01-E27F70AF160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7678480"/>
        <c:axId val="1761404608"/>
      </c:barChart>
      <c:catAx>
        <c:axId val="487678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1404608"/>
        <c:crosses val="autoZero"/>
        <c:auto val="1"/>
        <c:lblAlgn val="ctr"/>
        <c:lblOffset val="100"/>
        <c:noMultiLvlLbl val="0"/>
      </c:catAx>
      <c:valAx>
        <c:axId val="1761404608"/>
        <c:scaling>
          <c:orientation val="minMax"/>
        </c:scaling>
        <c:delete val="0"/>
        <c:axPos val="b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678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25000"/>
        <a:lumOff val="75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'[Find Job Application ^L0 Recruitment Analytics  Mini project.xlsx]Pivot Table'!$J$37:$J$47</cx:f>
        <cx:nf>'[Find Job Application ^L0 Recruitment Analytics  Mini project.xlsx]Pivot Table'!$J$36</cx:nf>
        <cx:lvl ptCount="11" name="State">
          <cx:pt idx="0">Delhi</cx:pt>
          <cx:pt idx="1">Gujarat</cx:pt>
          <cx:pt idx="2">Haryana</cx:pt>
          <cx:pt idx="3">Karnataka</cx:pt>
          <cx:pt idx="4">Kerala</cx:pt>
          <cx:pt idx="5">Maharashtra</cx:pt>
          <cx:pt idx="6">Tamil Nadu</cx:pt>
          <cx:pt idx="7">Telangana</cx:pt>
          <cx:pt idx="8">Uttar Pradesh</cx:pt>
          <cx:pt idx="9">West Bengal</cx:pt>
          <cx:pt idx="10">Grand Total</cx:pt>
        </cx:lvl>
      </cx:strDim>
      <cx:numDim type="colorVal">
        <cx:f>'[Find Job Application ^L0 Recruitment Analytics  Mini project.xlsx]Pivot Table'!$K$37:$K$47</cx:f>
        <cx:nf>'[Find Job Application ^L0 Recruitment Analytics  Mini project.xlsx]Pivot Table'!$K$36</cx:nf>
        <cx:lvl ptCount="11" formatCode="General" name="Application count">
          <cx:pt idx="0">286</cx:pt>
          <cx:pt idx="1">268</cx:pt>
          <cx:pt idx="2">314</cx:pt>
          <cx:pt idx="3">278</cx:pt>
          <cx:pt idx="4">260</cx:pt>
          <cx:pt idx="5">607</cx:pt>
          <cx:pt idx="6">862</cx:pt>
          <cx:pt idx="7">286</cx:pt>
          <cx:pt idx="8">261</cx:pt>
          <cx:pt idx="9">277</cx:pt>
          <cx:pt idx="10">3699</cx:pt>
        </cx:lvl>
      </cx:numDim>
    </cx:data>
  </cx:chartData>
  <cx:chart>
    <cx:plotArea>
      <cx:plotAreaRegion>
        <cx:plotSurface>
          <cx:spPr>
            <a:ln>
              <a:noFill/>
            </a:ln>
          </cx:spPr>
        </cx:plotSurface>
        <cx:series layoutId="regionMap" uniqueId="{00000000-2B9F-493C-B6CF-22D8512BAE40}">
          <cx:tx>
            <cx:txData>
              <cx:f>'[Find Job Application ^L0 Recruitment Analytics  Mini project.xlsx]Pivot Table'!$K$36</cx:f>
              <cx:v>Application count</cx:v>
            </cx:txData>
          </cx:tx>
          <cx:dataId val="0"/>
          <cx:layoutPr>
            <cx:geography cultureLanguage="en-US" cultureRegion="IN" attribution="Powered by Bing">
              <cx:geoCache provider="{E9337A44-BEBE-4D9F-B70C-5C5E7DAFC167}">
                <cx:binary>1H1bcxRHs+1fIXg+Ldf98sX2jjjdM9OSkAABNoaXDlmIvl+rq2+//uQAxlJZQt61fR5MOMIhzUx1
TmatzKzMVan/uln+c1PdXg/PlrpqzH9ulp+fZ+PY/eenn8xNdltfm5M6vxla034eT27a+qf28+f8
5vanT8P1nDfpTwRh9tNNdj2Mt8vz//4vWC29bS/am+sxb5srezusb26NrUbzg9cefOnZ9ac6b3a5
GYf8ZsQ/P49tcT1cj8+f3TZjPq7v1u725+f33vT82U/uUn957LMKJBvtJ/gsISdCE4ElI+jLP/z8
WdU26beXJT7hWiKBMddf/ok/Hv3yuoaP/w15vkhz/enTcGsMfJ8v/7/zwXvCw+/Pnz+7aW0zHnWW
gvp+fn7WfMqvnz/LTRt9fSFqj5KfvfzyVX+6r+3//i/nF/Dlnd/cMYirqade+os9drdVlv+hkn/A
GupEMEo1EuJBa8gTMASTiuMHrfGkNA/b4tvHHEvsLv5Vlji9HtbrBvbJP4YMfYK1wprx+4gQJ5Qh
whBTX03kIOJvyPGwFb5/0LHD6Zt/lR1eXA/N9Xhd/oOWwOxEYsQIe8RHiRMspMYcgPPlH/1jE3z1
UX9LoodtcuejjlVe/N9/l1Vuh+vqnzQJOmFMKyklc9HBkCKC4W8OjDi2eFKORwzx7XOuFf5dPury
GnKEa5ONwz9pCn3COEGKcv1gzAB0IKUpYV/BocGdfXWRX9HxN2V62Cz3PuzY5vL0X4WQd9d1Xj17
ef3J/qGf/304x/gEYYERUuo+StQJQxIRxOUfD/tqjL8nxMO2uPtZxxTvIFX6FyVV726r6yb9R4M5
licQrgXX2LGEPkFIK6b5N3jAy3fR8bdEecQef34L1xzxv8ocv4wjnIxeD9efbk32h3r+9+Ag4kQT
yuFo8dVtIXwPIwqdcCEoJ+rhqP63pXrYOs7HHQv98vpfZaH3t2Z8Ft4CZqp/0D70RHEukEDfEl3H
PvJES4IoEpAB3IXM3xTmYbPc+7BjlPfhv8oo8XDdfHr2rh2fNso/eEB92M3fPRPde8f/vFpwRKRE
+hso9T3MSn1CBWUYaf4V00729+0k/7g0D2+Kbx+7J/j/57LA4xb5XkzZwSln/6UKc6dq8ONXv3w9
KA05H/0Gnwdd6lddnX36+TlGGEkq4XDzvcBzXOce9nbXUJJ6dtx3L69TcNqn19Nt9b0+cX+V22sz
/vxc0hNChUIYM8kE2BUC4AzuBF4hJxpDkg/P5EwpogD/TTuMGRSN0AmFdFMrTjnmgkBKaVr77RVE
CeT+cERWFNwD/l4Pe91Wa9o23zX07ednja1ft3kzmp+fw1G6+/quo6iSQUYrpBRaI5AEylAIXr+5
fgMlN3gz/j9FMZKFJlWyn7siLIolFiw7YEN25cIgxn7X0wOPwpB53XuWQFxojBU8EFMNqrj/rLQO
urbjJtnzpj1Mcnqz1v2pKeWhaflh0/2HGvFonN9regjk9iqtNxRl9LcqJSHJlxdL1R1EQ06fkAo0
+VepIHeH7B7EEwKsc1cDSZe3WtR9su+ydT+W/Vkl5jGaiTzgdNhvootkUEdiEAdVNqFOp92asDpM
0i7mY8RId/VjgaAo+FeJFKEKTtsCbMKRI1GdyS7QKE32ZrNZTAp2ljacvWEaJ6+WLENhx4PqVVdN
dggXsZ1Dia+Oxo3bsCgndrZlzcdgaPhVMuLqBbUqecFYftbJ5tAtdtjRZv4ol5tqbXbTOIaibS7F
FOblHC5qCteGh8SmoRbBnhoUkUyHRuVR3267PuNRQ/gl6oOd7opDx5pdUbFLXdqDzfJzEbyZSftm
S+odSdmO9VPE1boPkN3NVocNIuepSGLbtxdGkNO8bsJ++G2tg7Mg66Nt+j1oXghpq5DN9Lxbw4qw
01L/Otnp/WTLLhxWk0XdIs/Y+Gsy2zO1TlE1tTEdxl1tqiUc06uNneeyeFkpHm1oixRf97VMznk2
7kqWhDqpLlY+v62n5pxSeVgMPRVlWke2Hg99odZDMNchIXJHhI6CbA4tGy6nTBwM/bzIeacYPLOa
9107HWjfhoa/F0qfFzWPZFOe4YqHtrIhzqdDOlZRwdvTwcxRWhlQDzxGs13Xz2/agV+BPcMioKd2
FHW4zdNO8iUkxbDD/e+ZfEWa/qLZxjDPVTQHYwhZ9nnHAJmT2qOijoL8bTm3p8Hwcu3kQejseiqS
PWO/90v70ZibZpjCVPVhmepXJkGRXl/nQ3Oq8BTVSh7yeonSxNiXEGq6t/mYfExlHVyuPVhO2vJV
0BXzG7It7RilsLXImOjXSc3am5T2SR52HSitnroiC5emujVrk12RLW2vNc2lCCk/giYRYY6T7EzO
7K3ElvwiSjKdmTm1H+apaUNLdRrPs9RVKCqU/lp3ZRNVK01CnDRbH5ISszxMuK3fqnK1ByyM3I3D
FtCwmZd1ACnEcs2HtTpteG1ZuPRTeplNXX5BLX3FByOuhm2Sb0ZS94cvOP0Wlr75s6+u9Kbt1iFP
s2/dhe8//ve7tob/vlS///zlsTnx50+Xf3Q1fviu+LY9Hk+N+6ajNN/XAmG+SXeMSvd++EuUfCQO
fm2SPPLivSB5LxX4I/38Et7wD+PjvQTk+/u/RkItTxjGEhwtZQLqiQJym6+RUCioBEPJXSEISOpL
UPsjElJ5giBCcQ15sj7GREiGv4VCcSIFYhSKZERCOUxr8j8JhbDOnUAQkGN4lpwfqzd3A4BJlqQt
cy1OM7zT/JWZoH/yo7j32LrH398JrZrkkwCnJPcjz6os3LZ1fZ8RsXxtunztuXzbhncj+GPLg1Xu
Ll/IoFznpZH7bOiH4c0sNpS+S5et/fxj8e9nCH+qBRLNu+vreiuVLROx14Sb7arDtUZhRguOQ0hN
ahIy2o/JV1D9j78MJEJ3H2bA9sWcNmIP/ljRUCGaDmG7CvXxx1/mfgry55dxUg+pe9QVehV7izt2
ifHM6rczKpC4WNXYLDHkG2II67Xv3vz4gY9YR8FOv/uFOoW6SR4fOFVaLudtZhMbMQNRcv/jBxwX
+jOB+/6NjuWvuw9Q+Taj0VK+n0sj53MBTpNEXWlIdsHLrCCX2Ja2jHrTN6sMUcVwf0BNNg1P5U/3
s5U/BTiq+s727mRtSm5WvrdpOvURZLexpPhzV9J+LsM+nac6tKsMLto5xeXekrZVTRikitRQcvYA
mDru3DsSVOlaTxWfQQWK8IgO7WfJ5/yJ7/eYAR2v0AJSZ7WOfL+uRv6G2rUNk8kWr/xEd3xDpYpc
GDrwfUnz/BZBW/yiCfLSRn7LO76hDWbeQbLG99Uop1/x3ENkTDbp53mU4xmGai66jvR8P7bBtu3R
EkzDTnRtKz3Fd7wBWVKs1qoAb9AyW0SrEAsL+x6gtPPTj+MOSLEGTWu6IG7aVYrXJoeGwq/1OAZP
+M5HNo900G8UsmheuIq3Ftf7NWUBZOp5aYYnFHT/7PIde9IBv25LVlmyJnEbqK0+zAPupn01rzjf
9XnGtOdjHIhT1iZq7gIZj6Ml42kDRwW03xpcLfsuH+fFD2rSwXHfTn1Cl1rFHSm3d+WwZq8aOLK+
+7GtH9OVA+S5XBSeIe2ISbDk+8oMkl6kbG379yVX5fKEqh6z+PH3d3xRptKuVLJT8VCx9SyAo+sr
neKhCn/8JR5bnt5fvk3yFYFyRGxlT5YQFQv7ILa22/st7yDaTrKVChgT8VSBBcYqrffMBrLzlN7B
s81ps1ZroWJmphJssKolCA1a883zAQ6eSx3wXi+gfY3rvjnrMG/m/VDIbX7tpaBj4nrXvJKs1OBg
EbE2Wf6rVMa8XvK0X5+Q/7jTHwjmbg2i1tPMC5vKuK5Mn7yRdd3bX2m/aXQ+BpmWV1D2oeLM77s4
qJbrAOwY6JvFHWVjfjpudNFhVtYz8sOzcPC85GsvRjLIuDRpx85MTSYVFnCOfio2H93cQ+pyIL2m
RYrqGfZTn6zdsCtSKuXrOtgmcZ6OSV3ul5SszW9VrehH26Rz84Tm8CM5z7Euf3cbVEuayHabwe9W
qurOs8AkEjL7UkNap8a5YGPYjMU2RXkmuvpQLlsqdwKqGe3bCY3CeirY8QZrIgKpyiCJaxnYHc1n
GStZ0Sc2Iz7C8iH1kvvfkk/jkvek1zFF29DuN5xM454n21addprK9VVq6vZzF7C5PmWbavjLhVLS
XBKpVPGbKgnnT4jyiNsTjuNQTcG7ds5Z3MnE0Ehs+rZblrn3c9puQbIaoAC3LoWMh6Cb43TErApT
qtJPXkDjjtOweBCqKFIWp92iPnAIpS8NCmo/n82P4LgTcXqaNkUQSB3zCk4ykcWq3kKbQ43siV32
CMqOjfS7DzB5v3KyDCoe1zkhZ4oNA/p96TAgLiMZasMmtx3UyqBEmt509WaIn1m44z/o3FSwiQYR
C5XUNux6YupwtSzwDBfc8R8b28reikHubc/xXqxTuttEG+z8zO44CZFo1BT9ssXGpmO8NbIIxdAV
T/igRyDBHewDFSILFggNcUHyOiIjLnbJ2hLPTeVAH049rcJ5u8UEzo0hyvD7JmVPZa2Pie6gGYuu
YUuVbnEq1/HSrg2CXKDPcOG5b5wsICvs2NFh3eIgqfUZmZZyl1D1VBvjEemZg2baTbwbS1h9TAiL
ZipNaGqc+8nOHDSrhmxqkmDWYCRZVFI7haKUzM+PMgfKBQoGNCdmi3ucVwejmzSaONsOP97wR9g8
EC+Yg9cm4dm24WCO54DfwrGznA5sLLsmHmeoBP/4GY9p34EshXZRU5TJHFMA7hs9tsUes7b0O46z
41Pv+NKxgVRo3sQct4yLM6W53RVr4+lumANZPNZVorbCxqmp2Iu8quVlt1SeojuIhUCdlCWmY9y3
RYKjgRMTyWwps52f4h3Q8iQ1ZbBBmadr8uW8HNPxwiZJFfut7kAW6qPBhG0xHgabzuYtnZGqoGyv
ROa3b6iD2hL6MH06kQVSQrtFZcc/rHptntj4j2zKY2P37rbhRVBCWzeZ9n2V4ZAaS8Jea+spugNa
2hWMJIWaQPPBh4FAftfoJfEzK3UwW3bbEARGfBOdkZ6EfBK+orto5SqxKsPTXs9QNCbH1Y2/Yhy0
lmjqksrA6kuhs8iq0oZCkMJT7Q5aM8ZVC7xCWJ2R2z5n1SHNU8/KFnXQWsLlGJWnsLjebB1XUg9w
8hKLX24AzIB7+3EZqUyqtZz2fEygm4snEuIuGf1CFHWwWmcdaVqK7L6Ztiacs/zWFhv20zpxcGq2
YezabLb7usxYKBj/EEyGeC7u4BQlfKBrFox72aNmZ5b82tjNeC7uwLQ3eikgE7b7AlqwoSjyKrQD
kZ6rOziVtAjSPNAgurb40kB75HUi08qvRXVkmdx1YItlpGGwcrxhuJoVbo0SfBeMgTJ+e4Y4UCX9
omvbpVO8sroZwoB2PO5mMt54hQ/iYBXnCRnapYbImpjqXBcG70xZrHu/1cl97dgh6Wi6chuPmn7E
BbkyjF75Le0i1axFva7BGOdZ8BLc44eVSM9aIXFwqvO8lriRY1zMmdrZjL9ry6T1Myh2cNqUJhi0
sjYO8jGPqkJeSNIjv81+JBLf3Y7QFp47s6hg31TLp3zF7wmvX3gp/As36U6Gp/I5DSBerzEsa8Zw
IyYT4Wpo6ud6sYPTCSgSWcmGMYYrAug3NoIfCE2+Yb9MAztAtX1FUJW0Nq7bYdu1i/w9y7vEU+0O
SBOV93LKBxvzdVijuu5A9PKpzutxkQcOB0fywF2b6kawvAvqMQbem75UJsWXVZB07/3M6kCUjGQc
4GInbMcsyUJaz79JlXua1MHoxlpdJFlp44FPNMRq+VD16rWf3A5G2cyWOaewdlCYd8yul5yZS6+l
kYPQdk6SdKTpuEdJEERBkVzkG/KsD7jUNIy7Tm4BCfbAc3xVr/KDAu6Nn2tBTiANMsjThxZ0UmXN
VZu2h6TO/Dw5ctDJunmlCxTw9+02nQ4zecG4XwRFDjC7lY+i7eBsJ+r0QrVL3AyJX5sVObDMq3HJ
rAWhu/qXbbJRIX/12yEOJCtdDN1WghFZVv4+LPpKbcLPTyEHj7afymWdxRivpsDvtnUkcWGp2fkJ
7iCSNsnSFLkeYxMAlYA05alO9G9+azuILKvccLgiGex5DtltgMQ109QvsME9mPtOEDZ231cIQnKW
iyXkhgF/UsvJCzhwZ/D+6spMcmR8Cva9eDu0wFD0yySAHnx/4SzNetZn6xhbBWSOmZouxL1456Nw
ph1MztDvWtcmMXucdadzBb39nhaj104BEu19yQdrURlUsLiq+Gtqu5ucAVvQT3AHl3CbeUW90mY/
1PQ1h7UXO/mu7UATz7mkdMFQNiYUXViVFuc9W4SnVhx0ZoZNFeSzsFH4JsINFb9UIvNKsICLfF/j
i7ZsLjUgf6HrWESIJaLdEciAci/XwrQD0G6uWQK9mjFOWXcdzNN7aD784mVRl6w1UYoGQUEv1qZ8
19syD6ki0iuPgILQfc0M2SShHr2A4Mvy2rbofJl6T4QqB6FFLRGTGTWxKullBYTDPVwoJn4ad/lV
Nh2Ac2mnMUZddcUCIDMPmVeSwpSLTx40a0prExPCSTTXeIgwKz77mdMB6AodBaPq0QCbQXxIzQKE
cP7Wb2kHn8swJqUiwRCvuJrDqpX9oakLPxoGc4lVLZ8bPQFXKIYW0rZrtvalpOYpjsHx2/81EWfH
uyZ3E3HbEVNmeB7iFrg2VWjsELwIJrS+8dOMA885oOAVmQWLTusnAxncYtTvXku7bKoRAk/WidbE
pUjfLF13hurabx+6RKopUaWAGwxDvE19tp/mlOyCqrnxk9sBZ76xxAxLaWKddVHJ1pe1eirtPOLk
AWO6lKk5gHrw1MkhzuoJyPmDFMVlL7olnAti18hPfgekvGyWpmz5EFc5/Vhl7H3Qle/8lnYgugDj
sRIyGQD/kzmdzIBDPDG/Vh07Xui6u9VTkvF8oAQEZ/h9PQVNyILuVz/J3Ri69F05oMzEnORs3m/U
rixsVJWVO78HODhlWZoqqyrYkktwldfkXd77ncWZdDBa5byHAzMsnaz6akT5q4QKrzYUcwlSlVqT
up/WIaZJTeJAkfEKp3PuxfRlLj+KyAnxKYedmKBtDdehjynzZKcx4cC0XpJgXEw2xM3UoRBN8tDP
qV91GG493N+K48CsZRpUDu7xxbSSFxVf/DAkHHjqOa1s0adDLJO0CeW2vtBD7tc3Yy7TScMuQQsp
hxi302uK+4sBjZ5yO+gccuhOiDnoYyPU+xwPV1XZex3imHDAmSysLtOuGGIBmgk1kNDDfq2Vnz90
2UgjLfqgaHUPfRu4rjaQ8soG+hcv1LtUJITgnNVw1MdpTusinKFQsbcoEH6KcalIRaGBlVasgBu9
1pGyQrypcrT5WdSlIk0FFwlw7fp40wOJsGEvIZL6dc+ZS0OyQaNavrSwXVrNUAm+di1NFio9lV41
HOjw38cocIGRTpcGdJ9ms4waKJ7FScJ6vz4Cc+lGa2mtGuqki1Vgyj6a5q7+bLWcPQ+NnN2XH9cE
sVkHXTxkq9nVqShC0BA/eO1Ml3Ak5bIoNKEutpUgERJAYqdw+g39VncQO1bAwDO06WLDZDqGeCPl
dbkuTeq5vhNNl3wQw7yAbtqsaMN8rH9ZKuwX87gbTkk714G0oPdGdaerQeYwV2126qUZl2800Ymu
XTV3cZHw7T1qk/QUxtZ1pZ9iXMIRBT/JyQpm1U3Sm4O0irKQJ63oPR/ghFVoxpVt002geWrms2FQ
v2R95VebZy7lSJY1AY7x0MWSjW/z1FzN5fjWT+9OWE2TdaZVlfaxbPTHpp1xmDH2FLf2CMkH8naX
aNRDyVwFtu7gynKhPkpoKpzasp48t4wTWUcULOtGeRsDUnUogPoSBmsg936KcaA6rAH06CtYnU+r
DTnuzsvmKRbTlxT0IcU4OO3zBeh1irTxBLexkxC6xQU4G5kvZZTWOi1P626d31q45X1GDQ1EPGZZ
z9/BFTfZv4b6nxnealmL0xL6ku1pUTZMhLLKoRifLr1Cc7ixoh9+mXsS2AitfVNet1kW9JGAxJLs
MIda+152drG7CkOVLBLQpV7ObB+oIiZyydhZ0hbzGmEE1YTfAmD2rgdMC7iPTOUCa85VPm6HtNeZ
gdt2ZLOHmpBl25mpps3HRTKWvB6ZCIrfDeZ9H6uN6CkeFvi+uw4u7+8LNHEVNZLgMhKrTO1pittU
XwjVwL0w1G/kLVF6DicihrMuN8MWo1bDhfW5ria2mwaW8v0EN62hhF1lE4Mr513dQj6r9RqpIacy
rNt8wC/mJin0WUXxyOINtD1HnJbT2bYF9cuhmRBc3EfTtIVFMiTb2woXrfTLQpjjMOuFWVFa2saC
Zy1UfYKQpFT7+RuX6UVZskIiWXVxJurbhJVvE5n7ye3yvCboxCwVAbm5TWKjq/OEY7/iIHW8JJ+A
mYKhghQTrZcwCXQZ6gq3njpxMpsBpVSU0LSLU1IU4VL2n0Ux+CV91PGTBVxvnRqJ2tiutnsJt8Hy
05aOtZ8ro05Ok4kc2YYIE6dDyS4Y5K/A/LfjBy9XRh1HOdTpNE0dTI4oVWp/HVS/QTG/UaOn2h1P
2Tf5CNdEdBtrKCqHnBQX2Zb63TRjLskLAYRhmEzXxmvbwaCNFs1FvPQIhkT46cYBKW5yDPMVYEeK
tObLnpjGbqEMeNnvvB7gUr3Gup+TIBvbGBpVn+eOnfPA+N3oYETdT4U7Ow9Tv8o2zpAGHtlo5FJF
VBfks5/sDlwn3m90sqSLq15vKpRtT6HHrgjx42Iw4iB27poKowVmy1AYiB1aORf7PM89EwSX79XJ
OSm2FEI49GiGCBhlIuqCGcV+ynEwOyO4Ks3zpoVbtVV1LujEYbpMPwg/fj9z2V6maFIgMrXghhsr
z7OGoo9wpl39SsHEAa1c6n6rDeSrUMpazhKW2FiiUXpueie/IbSyOj9GpyKv08jMfRrasa79HI5L
+cIDXuwC5+Q4WBt6mwHb/HarYaKNn0twSV+c0KbIihIGHgk5BWelbnCEknnmT/QOH7lXx1ziF9xt
TRJRqSbeKkyHd12ZT22UyIZ0u9m0wTu4cPYyCHRV7CCLK3WUajiMHrKA89bP+i4/DC4FC2QLyD/n
tc9UFNQFDKCos6ar/I7RLkFMILrBmeXomWAsU/KizlO4d7b264g8jeTE4w3ZAa7XkiamFOdluMzF
zGAgFJs8EyzswFuYrR4aAg9YLQHa8mbfA3v/xst1uCyxaqzXUdutibuhMdGS0s/byH0Fd5Cd9hs2
MGasjiG3PVSkPCfE+JUAvlyhvEMrrIMApTNMEIlHNpmoDBi0GubtjZ9SnEg8ZtWQYpiTFCd2UHub
kTSsee4ZKl2e2CxhbFgDFo3zYQl+r4uZ3gwBhBsv2V2imClY07IG1zHkWi/ltL2o+vSJWS7H/fbA
UdHliaUL9BnF0DaxWUh2jqtBhfBXDma/IOZSxeZS5GoqaR3TUrVpWCjVn2fSNpkfTF3CGNNLS0WD
6ljypoh6rU5Lhle/OOBSxoauSdNE502sWTZfmKFmkRyL6erHNj16kocUT+8nV3ou12nGEN+rjfWQ
8iOT6n2FcNvuBZzqGr8cy+WQqVUkStC0jZGlYxdmfCyO0EK69YvFx6m4d9uDdZCbftI57E1O3toR
vUlx4rntHcjCJItRoQFkh+oa3+UDlPI3ixsv88J80PuCN7AZgxJYgXssh+TNtAbd2ybjfreZYKrW
/dWrvMEWEVMdfbC66mrK4zHnykvp1OWSdVBdQEndVNAMh6pE26urgKW5p2KcrNmuY7PaNa+AIQAj
nCK4fNh/2CrdTp7rO7EVBtIkSTcOVbwN8neoHV3WMnv/Y1A97M1gLOZ9rbMJQbcabgjCpdU2KcLe
2Ol2pr3f6A2qHczmcHxrsuSo9k4lUHA06qwW3Hptdwrz1+4hqSWFXbYBhE/SDMpOmHQhjFTxi1DU
pZRpscmVG6i/4XnE667JgY8QFU1TTF7FF5h6cV98Nc1JB5ltFeNMrDuVIvS6hft8b7ws67LKVpFD
hWuGUZkpTpf2vIDhsy8J6bh9QvovlZa/+mPqEsvgz9yQRQgLW0dYXr/qMW7saV5O/XCAg5glB5il
J8yu59XSXgQrnAouOln09QeCKTtYQbYzyYKVh3pLLExXWIOyfFU3fCFR3fdrHm1plmy/t8ma20PT
QcyNLC+WG1oz9gImP47na57BFMzEzrAEzMDIQlTnbHuXYbjfclUe51S8a3LVmR0c2NgGrw5zlCFg
fr4suizYdvBuk19SkrSTVyJJXUIc8Bp7cryQvE8TXLycdKkvSE5SvwBLXUpcG5S8hepoGZMF3QrS
wwzP9LXfdnF8DJw1YRCqmMuYbsCzhdGnZ6Q1Tw3SODrCh7aK42WsDep0M0sZ9x3M6jgbzFbNOw3j
VIfdDCeE9Awm41aZV3UN5vXdhxXuNRds4mUcdIHYs3KuDltXpb/46cnxOdmaWDgj0jKeWpbtgmR7
PxbkKT0dlf2QnpzUAKM0t+Vgy1hUNn8LrGr2SmXpcr0UOHiisvnYIxyngxItU9L15d4stBS7bOyH
Pg+nAYrtZ/kMN9qeOFQ/YnKXNQf0hNROokr38IfIyvJg+YKBHRZU+7zeFImA0e1XVaIuiS7NoHaS
DBUorSEBEN3Ee3BEngFMOhW3AAaOQCGgKWMM7biRzoeR4icc9COWcEl0kgKXc4M7uLsy7eV4pivD
D63S0PcX6VQhL3YBTPq+jwYOa4s8lwGM6YBBgnDXPf1N99Lvais9/q2gu7msWXWf5+tQxFLy8QCc
axUmGfY7rHyZjH539SmHUiS1OItzptihm9Z6p3TudY6j0gEyEh2uKlklOzzl5yihIWuFp84dGK8U
VaYdYeltY/tE94c6J17nQ+py6FaYupYbXSa7MicvJA9e9DC82cuzuRw6oBUeB+HmyQ4mL/fnhTFj
HHD61m9xJ7tP+P/j7MuWJMW1LX/oYgYITa+Ae4THnFNkVr5glUMxSSAkgRBf38vPU1f0qVtt8Zpm
SeBC2trDGni3RZJgs2etOxljizJKVZzf9/Q3pzSVo21omvQ3vHfmHqjXr0sb3ycOS95i6FrG22TL
1/5GxVydV+mn23RR74OikrcwuiTumKdo29/0w7DUphMPCbfu9L51eXM89yFdVkdmWXtd9Ps5z8MX
Y8fxfU1FGEP8/fR3s/SLKiZZT9vyNKr5ZrDz+y7xt1C62O17q1skUsqvfTmtU1odiv5L5L3+/P9y
zb5F0m1A5x9g+OEQuW0ugRqrDIOi8PvW/M0Fe0Ckx23e9GAt6VhNrZmXsrGTfB8gDYLUf190qSM4
FyOVIFrNR14K1dj7eR/79/EgyVs03cqmZuILkbUOB2a2H4AC+JeV+U+r9r+s+1ssXcGODOJUbXeT
xYRs92mvKQhGLYRDP0Mpab7pqTxIyZdN0xNDdy1Uix/pBjlOw+J5WWW6nA6TtfmfmtN8u2kExN7f
1YGHa9Hfl3VPlgy6G/5aLlnfXnqSivXUudFN9bv2xVsY3tT3noms4/VuO4YAFYd1qjq4J5H31R5v
cXjWj+uxNWY9rXNnTloUoTayeFenmbyF4SFlo8QQvZ6yq+5XoAuY2gV/F74a/jN/X3vDt8I1Hg/f
Vmg3K1cs5azy92H84Gfy96cX3Qo2/Dqtp3zITEXGbCjRkfjxvq/65rTPo4C3Emn8acs7XYokAYFr
L9L33WtvQXgtsKZpkRB/moGsKefRtk+KE//6rnd/i8ErgjEkY4s/JRJTj2I82lMf6fsW5q3mV29D
NmMQ60/QqMxfJr2PP1h68PelQW8BeAftwuLXzZ2miakKytVQhCma96mekKs/7P+ddyrpyUEEdaee
7/ZMGw998WR834ydvAXhkZCTQ43enUjQHRBX/jPo1fu/xNh/uNrein2tYYFkFo/uFHl2lGM62oqP
78xVijfnlI4rS8iCVT805FqCj3+ltnsflxAeU39f9OQwcMFRZD21YM/UMnRdhXj8vuE9/H3//vQD
NIim35BYcZP/cJp80l3+Pno1PGr//uxOo6U8m2I99alNy93kzalpAKP730/pP5SJb9FfKhuXfJyJ
OLNG0e2lW3Wvz5Hlyp4La3AL/u9/5h82zlskWLORpsgG/Ai4gyX1ltO2mvb1fUgw8lbvy3QN957h
6W079bUADKySc/z1vld/c1zHAeEAeEZ7MruJVa+XoXa6ed/F9xYJJk2Rek2pPW3jup11J/ISAsbH
+26+t0iwqFFuHDbYk+8OBeOr8cuRDfSdn/TNcT06XRwzej0nIzpeabUPFSCp74P9Y6r/910/8cg9
F405JTqx1XCYqSQmvk+5CQzovz+9KQpls4GZU++XrjqoVpWATP77crG3GLA1i2g521ach2E6Ph+p
2V+HdPo33fp/OEpvUWANCSFbAVY+UZuBj3JNOEye/VuP8J+e/qbWhcMN2tVRynORoHW+JT9nNX1+
10F6i/4aszxr4J/xH1uqRpXbAXSi73b37X2Pf3NOMzWT+UitPFOjJwBwh511DyxTk3jfWX0r92Wc
WJHFG3mWLisHmd+p9J2Z2FvwF4S4Fh9zPFoXuP6ueIjpfYBE8hb5BTOIvun4Is/HVfpoDFlRFZ0I
70sI8jfHdEhV5484FzVUuG4na15gyPcvN9M/7cQ3ZzSlABURrYuaAf4wTMlDMfUf3rVV/h/IF2SE
Okumos7ZqrObwijwrrug1y/ve/6bdtRksmVQ68zPxZztkFAvXHF3per9m57g9TD+l0r3LZ6rT0ZT
iNCwszaJu/XNtuknx9O2PYGnypsLzAVD9+iP5v+juP5Pqfrf/uibEpbHvJm2YVEoW/cw7VWmepWb
0zji1Klz1+yjKpdZw66mnMiCu30fop34ZVaGdfqMwnoYdamOcYuXrolJ8ychAbC7KQWkdSzJEI8Q
SiQ5ZnkYWSbM4+aakLHLnhR8GUt7qDbpy5TInrSl9dwgEZoZPl1J5TK3fxrb6TUri5H3+kKOEXLP
dURBz9s6Lluw1RjJsH+ChFzY+pKOsPiBzHfsdzeVmVwTVpQyQhp+vM3MyCB9r9Gz9LoEr0CteEHH
5+mLyTUKmYEP4i9tNP7Zrkux1QxwX1KuWKGx2raQ9zdHXHe4Lo0pcdOfM5q2fC13C5POUFLB2u6P
qS9G+VO3K4x+QOQ8ZqtLqH0N8dsVpHdrDh33coJolKtC6F021hzEyeZ0YGSTn5K82V3VCOw0WW0s
RApbwu2g6X0mNibPPV0PDV7YMsdbuARMFWdmY49DuvaiTnsSSNVxtiALE1rUQkMAF/5yLVsm4DeH
uWtrL1Hv8wodkr2d8WbLZHkpcsbBG9n6m6bgSBsRS5he7/C15q4vrUBmV8osUbpe9ZR/X7xmdYjH
zn+u/RHJ2diZjk+HzQV77Zac8yfiG0IejqYTa1urAxyV4izDmkER4bjaJT6CoSHwvUzfG7xcmx6y
Xc8pVI2Rjel0PsbbyMgefixC93NbzRuawRcOBpL8nO18d7FSUwEnsVYkVxlItaopJGCxHABtQUGH
r9t6iviW83zJKRpp+YWNk+jKkY3yzMZuqma2B23RTYmJ266Z5ebu09WNp2ARo57Y3K7D533P20lg
O8z5eh4IdXs1t12RQyW2i6pGXdOJP4Qn03wv9wOFX0fTdbdlMB7N/BJeqTxHBuU9IaSSlJDhQzYK
GHNCYGXc76c8ZOhqpx7aagfGzH5rwd1Ko2MeSE4GkbVUrT9ylYAzYzdemE+c6kzUXePo8AO1j1A4
NHA43GoH20b3NK5pyz4DnrXo8xA5aEJyTmd6d9AkHx+yLozHr35S8wrGjE3m4mnBoe1OE4xE84vR
2bB87RIt0hzhbWwZLbkupHlKvR+zH8XQNCLCRlTqqwXittG71PbF/G0ILNIKmvcp2OhtIJmEtDNl
6mfjQzu25biM4gesQxfzFezyo6swXcLdBZ7HHB+B6nMC/3lOip/zYLfjonMT4+fxgD1tZTqcpJ9D
gW1+24758eRhM3pO80UMz8KunJ1S0Zvu4zJ2+/ECW8YtTzCJhm6AqK9KxAzWjX6a/hoxuenuB7aQ
eDPPg2pullxm9n5d4GddDQUp8j8Eywv5Kwtj8wQKeXKHMdLxE9QWXQ6BtnULgaCk3vtDhDt4SGwH
jD4ZvF5lX8jaKDAdP/DYqekpa5s+u4S5X2EkunTDfiujTdkNZ/uYfk1ZMzYfu0W2pjLRJ9BEHFLp
QKLRDEZ+2+GofXTp4dMLMcyoLzDuaObnlUrendNunGEnuQ8bYmegwnZn4Kcz+7jIjf1U0ASYqgYt
w/Dc7alFKOnmPZwYnb1t6xTTqu1+HCBwfG7aFe65e8K39nMnnCwu2sCZsvRNYtmPrpODqdrJjX4o
xZQ1KYyOCrJfnNLO1z7kaVJ7N+VZOakjmD+Il3iDmqZtBjnDHW/RJ62z5bAnbjpNV0meEoJ2x/i0
BBDTTtTY8D1PY2CwV2vhp1zBCoI9Il1qfzc4wrwaVJfDjlMHOn+NC/wZIXCkNSTPSjIeR38JHizZ
zxH+dLYpu8XzHfH+MGGey8Hjmg4lOt6b+xnWjdBXWHBYXAgj1GrkR4WnXD+k8as9wcQRk87TFHJN
S3A/J3qjZCbH07a1RMWyzbw47sPuWnQtdthYydu0icgRwWTruouDy1pSHrbvk0+Mjjavu4KtSe3S
LZM1j8cxvNr0IMPt5o8gb1Y9J029hLyJDwRmOS9p5ob+EzpHeRzLXikvz1CNb/2dHFHBPEW0xMS5
GHvcd75p6AKcd9HtD7pNh7GaD5vB0NdYDrNVZl3TB7DnDpd99OmoQcaYCu9f+j3l+e2MkfHwNEPp
rl/KLRYw0IGueLkEK7MLzI+df6ZuSaY/YVws1ANTxGGPTZ1W3S+ixIGdoCHZ5k5zK+AUi1+2Dyeq
x8LBInXrmjvX9gO5gETL1ONqcxh8nRCOFKvhy0Sa3wekkqFp7rqB3rq5b1tgm8HAwh4R0FG66wYf
za0ZNAFmOAeGOD05A9fDcvNxyj/hb4rXLev8/l1BNB6cdJl3c1EtkF9sqwTxqan2xuyfhpx5ciuk
AdeFThPAqnqzIqmiWT0s5ewcdhBINp5VGCiI7gWvS+nzHmLb3yZTXmBy1Ddjsn7W+pinO0B3uwNZ
0XTsP3FruGmERmqaZh+ukxqSVqRb+PF4pLLQDpH4iM1FDPj0EJplcDd7CAjIyzPcL5y9pL6T/nb3
TNLrzb130ARosYzOlV7ilKfQq2uPta2WPsT4gchdyRKuaYKdeaER38qRhME+pz4Ty5+HdaYYSuW3
nV5iQdL9qcDu774NbocFDX4kmZvnEe2w8FGMWMS7A0a9ez2Rlfpb3P+JabG4ud5O4eA8tEie/Hzg
Y9p2O29hTPQXnkWvXzas2Xa3DICFPg9b3/VVMXSz+7YbntM/dM6j0CUUwtLJYKWIan9N0ExNX6Ba
X8g/ZyivjN8XtYw56isIIpJKD/nAbzX3LiJ/61LB5nJJ1oirUO24PpDtQTKWJXTjtYNIwxyB0ePJ
D6jKx6JKcakPl2Ndxs98xf4+jWlQrOr3Az1XzafiK82Bi6hIFM1QoRYtOBwRZ77e5IpT+EaTPdXL
k+mWDpTjDPKdZyMHNT8SbUICW18wsP4c5sXvZ5r1xfacTamF/i7mrPJzIabQnTcFp5yXJYfVt3Bw
eald0aAVIPrEs6c4mYafUzuE/BnzJzJ9VCN3x302TMuMgFngbAAWD6CauBkhomofG62k2StRFO1L
BPIlqXbW6+2jO8ICQjR4r3moIGPYjBWXWW+eR4ceU9npVi0nEsGrVWdQ1LKTaMg01TZtcnyJvlPZ
Y7Gaq5Mrc9fkRwBa2bWVFBvNa70uabaW47HHr4NQUE0qDw3W4mdYdTvy2jo2P9hpRcZVde2QVNkA
VbhYIbpvJQ+M+K/5CtmD25YFg/ue7ynSdAICr/FlJEXiLz1eIf2wzpPnVU7ZUo+xW6ebccdR/4Om
NmznnI8qgzOJheQZfJOJqIkCPLh0JDvOEpdR8KWlzeCeVkCn5FRpprl6GF0Tn0W8GqAe9iD3Togx
PQk42Oy4RpFy1PYoEPaD2pL2MrKJ+s+rarLt42TXrMKMZMm/R9WErWpCV9wiXYNr5ggWzYxOe2n3
obvtvIGwRgFeNS5bUh2Hl6acYYbEYOec5rct8oGvQXNy30JKSZdMDouruixnLTRbTV7OczGwOxHa
+KsA+2d4zHF09M0xuEM+LkluX9IAiVeUQMQ/tEzkB3KnrLAvW2IA2/U7rxho5I+Y54CsDfNSAjVy
0JAfoxX5lzkk7WnMBzaWWu/+fhuVfG4DFPTrEdu4ovsa4ITe9LdFUciHlbXxrs129T222/BJEmWr
PmUfFLX6Cx3kJMs2NQ6wk1WN41LuaS+DK1tku/EcYVUXb9mWt68s282dH6KQNbYzq/SxHvt5sgO9
i4AvFl9CIvinVgWgFurcTzy5bTTfgiob7FwBmnzs0l+w7o7+C6WMxXKDq7cAlDPbQqz7qx7ARcX9
gGyKsFk0cNZdFpejjunJPNQt27LkbssKsLFBKw3pne2yRj65ZHf+vIHnn74eTOUM3uHF5u/XwtD2
OzJXvZyoz5P81vSmLx6GfVMwe22nTZUhM1a8klWZ9HmBCbc5QaYhTpAkcKy7zMkm1R9JBy/hoaKx
p32duqHz5Up7pKLSr7yvrEKOEsqGJISoMtK49j93QcnysO3zdvyAKVVAOtR5QbG7Fc4WNeUAwtBw
gopOk99Yofrhw56h9j/NU0H02XPEnRoVTcsvyxV+d1q4zskzSDUDvQd+lmR1JncqLxloU/tfPcDY
+nl1Xpi0irLduju3OJLCzxymXhiPHkOu4geUxjxHFQzI5nHvnHKIC93EQ/ZoNI7kpxHFavhjpKO8
FDNGZMTpwP/IHBmT7xoDVpTJ+0zhuIgmdFdhdyBZKpt1Q3R3dt3rTbdWfGXg9PtXERDbvzm3yHyo
KV8S3FfNRJPtEwvHsLdlAtd6UnrfWF3Jhqj8yR1ij38VoPurX7YHm+0kBtgWfoyq2yUEB+hsX+Dx
TMf9NG1Qd72RfZLPLwynDBExJXYRCE/dztEs7CbQmm8HknbhlozdmOq6OCxSgFIxxlrIwM+oP5Dx
DUsVN3PNRWDj4sOHwVvbhhs5tqN9VS6Zt/M8JF5enJMrxRc7ZLD1kqt9+z5KCi4S60bpvvswLtvZ
tKlOKjmu2X2/tA2rFgzC/UMchqLFJ+E9yIAOXfbKmm1BUrowyMm8rgdUckGQXpqHuc2Xm9Ds4uNC
8uiRHdDjMM9RKVVaeIOWIIW1K4G/mBjmcwyCxqqFnep6OYhDgdbJlZfOhzkxpV99cB94Fnj31wZr
E3E6xjTtahau92rZOnhM3DZIsx96SHNh15FMk7tmgD/rvWnj/FUKLEJNvC8yVaY9IA+vTh1Dgiw1
psnNfmBf3yAPyPidxxUw/BkC6W9QAmTyjxkS57yrqGzT/qPZaNdBEjrTrF9LbDJKKoGoGlHNJSDO
HbzL+icxhPSoLA78lzGj+qSank04as16N6foYDyiX0Hoi5h2Nt6Fzcof6MR8Q+rhcwZLFQYI+AyP
mPzjlLfNd+hZDH3dagTFfrDjo/cpMrMDAiPhorjoKnNEGI6A1pHe9twS9bh44tSjbVZ3vxozD3/C
INr/TpbRuXpfE3zGYuev41pchzujwN2+F+GVIZfwdXssyNWBa/J7qQLXZ5CVJSsHE1rkBhhVbjC7
Ezv6tYiEDv0dPzwFsEzgwCiunR4Qv+3riGSszCkQ6Be00qV7IItYkhfCAeIDKIhP7XbZWNt6hY+y
xtSB0d0M/WlPiRj4aRCs/9Au8IY/ZWCvLH/tWz5uVdKhc/UdWg1ww7VUuOI0dXnMsTX7/JPtUY/c
xGlwZT4ggJpyWy1c7Np87X4Kql3+SsLabVXULkO1wwu17eWwCZX80fdZ80NcU5NbsYNl/iUy89uP
yhdId+WSIZnVxbjeSniCiEoyq3/PFEe2FLDsqGALkhYnJQvxn+bfSA4sQhQn6Fs2BUoZmKqf95wH
/s20iQT/uJcNOoOJ1FBGcgYSBTWSEh3uKJvnn0rtJEOcK7pheoVSmxyq3HaB3A6+iL9QOrfHvVV5
81t36pAU/t9xyx90F4rlS9KkjP7OYJlBf6G07NAZGVr6IGc7InakXazyNlvCi5UNN+B1YLZUtKxN
X/qEMXSzkXqk9zRAUPQsN8vyevdHSk4b29xWKr3un6CJnBVfjZXbhyQp3FfR8OwLsB/+uJkbkIBu
kxmF8a70vp1YISDoewyb+Yo1H++nbASsjQ0w4IbGSTFf5k7KpaJm0qE0STN+A1N3LxcK8pYxRWD3
djfJC2dhf2Ty6MR5biC9cFI07jcLbCVuMqPSSwFPZsS8ibjXTrY0Ppt2Bnt426D3U9JlbfynsELi
9TsERFCcuRiK7htaw4SXbItYhzwMA8KCJBmZkXFw8I9F6r90O0OSSNBKaFtkGQNNIA/Lj6S2gMHT
ExUt+iYB9urwKeH26G9yk5pXyK8P48dczCCB73Bg+NjjRUrSb5lZK4Tt6ENp0Rsjz2bseFERg9f5
Ms9NmM/D0gxdlRfchB9XrOtlnpTW9zvnh8LfGBP3ccyKoJ5JywMSttiTsxAmmW8BoeThA1rR0wlh
YprOltLB1Xm3qQxwORjDnuaQIohAH+MO3wLtiMbQ2aDcDgAtbzH6jy7phq2a6JqpuyTZ9HED+bHj
V0Jhm1QqWEPet8e84/g0AssxhvQ0ymKtlsWHOzJnSDi7frqPpqMfgV5ewBCAviP6HBBqIAVvviUH
4ORnAYZM/II+077hInJp9ssL2+YcHjjjgfaAU6uZLhMmFP337licrvClQHgXY4fMHBFTbbrqlsZA
vxziRfIREmmCVzIws172uVjEDYcHOKxRm42JvkwoZA/PQZLrIUyGrW3hrrigYkLwGevhcDJcPEgZ
sszn3SscY8y7fq+4O5uLsT5t6w2K2imQmDovste5QIZWb0HaruLFxsD18SyOrz2DTE2dQm++/6bQ
0ChKPa1d9yXdD0SPNklYdsd4pmmlZa7yekY3bKvmaUNrqwQJam/rAeTC9LkwixUfYAjSb2WECrQ5
rbGhcxnzo0AGI03mfyYWrgolBdVDfoCXzcZvumgC/8nwo8JXhwSVPVCXKV4Vio/5i2pDCtFkg6Kg
653WHyMI/OM5H1yqY0lBtt/QwOymo0Wh7tFywKbekRTCo71ZYKwtXfPYzWl/XLIi3adHadCnLZkh
AXrpprO/U0r67ik/mgm4pCYdp9tVbEn+At4kZzhTlhwB858pmjP8G4M9A+lmdIWpCl1/TEG7BAaJ
hxeXRKGd8i1V+vqFGAqfOrPSDCCjogDTTyv6h2MFfoV3awktliy/T1lOUVxSn0y3PXAW24+QR+nq
hrHG3wTE61Bbasx4UoSIpc7hSOPHcrE6dmdUg0reNwXk1wC+VFd7MLilzfXQ9XK/a3zKRQWeSCtp
DSWGFAeqbzTm2RiFzu0d23ZyIGfxprhFk2DGtH5BbleiD5uNJQijx1Av2AbqXOxrtvzmPR1Vgtoh
KzyB3y1ETP4yo1bgc42YkHlcphp5YlElysoblps87pcxE0S8QjNa+4eA0n43+OF9MRTIQXYyP1Pe
q/1rgl8jk7LLPJnX81XNGgXpJo6teFqvFfR9k8zjjuQLeFkITMWmbZ+jzhyKFbsShgNejOhZ8Qqz
FopqNXVaTj/7iOoa2L7Idfrb+i1ZkAxwioJp9uA2bnCrme2dk/MqnimCR4tUUQzHr7HDNOL7MIR5
PBdtMSUBq2vIBC9mZvsPBdJ9nOVc8oKeDVKj5XdnChpE6TMJtebAi1V8ztCf62H/gv6//yFtsY6v
Jlnn5GVuMfD5sF0LVSgWRKHyim8LdI1BmzNWXTqNuRc2SWHI2XIUPuwEH8V1uQcDsKWhOjBDmlHp
9pb3vE4p8+I+GEySHpBdC/aAtKhwnyY1jPaOtyTMl2SFMft3kqZNWrFrznZeZ52speJ5SB7mFOpU
H5LVrT1iHGToK4nMeDrFVQv71DsPooumKd8+HwqQxkqkDkOenqgJEjO2TfxPwZxpPpPgEPwn+BsM
23GXHLDvRsoKXUN1CaYlEfkULK6rjO9+vY3zJMmtRZc93KiRHekruoqU3vUjJoGVSTUAACfwiVMr
auzNA72ta0ctOS82z9eKMD0kJc7cIzMuFpg1UshjnNMM0Orl3CcZ5j1swognlgoWa6KMy25obTtO
i1u/r/K4NcWepBMk3fKwSvT0WnilzavMhgeaWedeqYOq+m/eFqt+QGLb87Oi3So/hYDRTK1aMbRg
JwKQ9tJPk2L3Taum8VMQWJj7mIvR3aUrLHUeN7xrDkfzeNCXYeW6vdsHK8cvKPT6ZqvSFdnyUg+z
0GhbF9Bo69NqxWE2SQXtDxZNjTkgF/I8Ag54lTDmf0DBMHVZJSUEMPVJYxTk1gsSMIuF9Xww9gX3
9ITGM8A4GKUhd5PxE8Gyg1wlaTceXzA9afbzhpN8lsfBH1BEs+Q+TxqJxI6lUK/Lr2M8kd+kA2Pm
Zhz4Qh8ONYN5neVx9n+EfpUQrRhXSIecfWv22JVZYJRjxpkDdJUuTmwVQ2PDfdcbJOtfZsguuPx8
lXrN0NPYKczdhT3kNlRShzDWUduro5x37Inappgu8P44wu0ymZXU7RbN9JA76NSgRZpi3jpHy9dz
jyZ+ViYuy5IzZpS+r5VoJcpOsziDDInonvy5c7jI3zdHO+wfIclQePTeu8Yev8hESfvDjHOqLikB
1fGSouu7PEI1wPrPCpLUyG0mWuwPWZG4+Fdc6GAeYmwThwbfnovqkEhHSvSXV8xWeucA9lt88bim
2oXKRxiHXixeYajXI8/HCth4hpl5UVzhtZs4SyCbn9QGZ+AvaRhb92j9kU13HLZ3x/Vr8wZcB+kj
nOEdL4YfaPMlpB6oSIyDWCvqmcpN2O36hMx6xAWJQHot84M14VkmdiNVTJLM4rCIxYIuYeh1BaVB
uwqZhKXy2fFNJZAb6Hn/a73ej7/4CvkEcMlpe1lmGbMyRbxTn4i1ucfZa6lefGmEA6saLSYYRfEu
7dOa5DQBvIa0S/OUd9yHM8IotBA3NfXbbz/sZn+YD67pV7uvrEDxsgzrXYz82L8Krs32fNVwJLdO
r02pIXazlMhG22uz3Owb7lwMMF9EjJLfuQ5MgycMSjQI78iND7S2lhFdKwrjyoL6P0FcXUQJYlEe
TjszI7p2duk+AiaRISPaYMr8cQCyEfciPDag3Sg30chXblIJpPmUYp613UyNXWZf9uD7FeUsgCMg
FWbfdv2NRlKL5i0aNqn/E92Ko09K5pG+DiVFlPXoIaoZbI8SIvWoO8876KEwB5r2gnV/gGEdV1uu
ASY2y43ePO2HKizQD0cemrKdZrUlHaAc9f846yHPm1Bxg0kV8VUKRJArE+GXpoJQMvlC8L+T+y10
rbnI7tr7bVF+7+YaM4vmec6dPaFbcKwAWSdNcvmfZt3TPbpC3UKoe9/rlA3zWh6xo88YWE1rzRqQ
v9+HYHprPsdiMel5cuqUym9D8Zlt7wPXvxUUoopsGNfguaT/KNC06Ok7KTRv5YRmqDXKpuf8jGsy
RRNJbumjQ7R2/8Lh/QfBKowM/o6ORCss90CkYTKR4Pwt3fx/2DuzJbmtLMv+SpqeG6qLi7mslA8A
fPaYPRjDCywYDGKeZ3x9LyfZEhktUZ1p9VJmbUplZpDhExy4OHeftfeJu0M+KiUZiG1TITjJIWEs
gOXU8npqkW7ZYCWK8Epl4nv6OUJ1por+jDZ6B5aFtGimWGmsdck008yPMbVcAA/WHvUa7Ud6cfbu
56/0VzDVO86sqVtONZjiNYEAtXXXzWXQ+1VIneuP3JlIJyX+IaMqnebib47wX6Bt79OJEvgw7ibS
WJs2Mzk6YmdWNVrz33ygv3r2d/RZxUS/1oocA3Ik/5g26ofRroJ/D8oT7/BQyvQ6r8LAWM+M/XCj
Zt7Ffab9m0/+jjDrVLUryt401mjQKxqpsRuoKI8//5r/6qi8w0ODaYg7w4nNdSiUlnv6ELhqxN3/
33v286t+F5Ul00qDDuK4yCUnm7dzmDK5lHc/f/K/OEOF9uOTm42aj9WUcLpEliM/tWhKoyfMWTJX
yJZ55VY9NPYWk5NR/Vvj+bT3MUWRHY4WmS3GmnGoxoNeN+1loiKv/vwDfVlc/+Tqfh9SZCWzhiwU
6uvcdiIUaKeYR5or/PM2q535Qafy5k8KXS3MTVwlp2SJTypnmrEN2riP2KuE0YrpjJ+mQWN0s9tZ
lGRf391/vE7/Gb6V11/fR/vP/+Ln17Jisx9G3bsf/3kqc/7zX+fH/P47Pz7in5u38vIlf2vf/9IP
j+F5v72u/9K9/PDDirq8m2/6t2a+fWv7rPvy/LzD82/+v/7lP96+PMtprt5+++XlUx4XPpueJn7t
fvn2V7tPv/0CXUib5OxO+Y/vX+Tbb5w/xW+/+G9ZFP/5g95e2u63XyzrV0wohmqYNrX9+X9/+cf4
9uVvzF8BMEhuslRHMkPsPIWpYPJp9Nsv0v4VGUIDkVEd9Av0gl/+0Zb9t7/SheRRwtRUlWeUv/yf
N/fDd/THd/aPos+vy7jo2t9++TL87o9Tig9nS0s6uq6aOKtohLxbzuPCAE5zaIvEDUo20EpNQ3cI
x8do6IYrQMFTrzTKbaF1lMQ0vKsDgAtEA3xqSkmaZE952gwvVFXxLkgdBoJnpkFP1+ldJIVuHQOM
3UymmG55+ojib6yuQ0TeN/YgH8e+hXdcHIbQJShfZqmX15UzBqda0h9lL9g+aKWev5Q2wdgKorLb
Bml6PZfGbVpmw4GASFArzRw/aIkpViJZAjekSeM7ABd3Zek8Iq/pnjpCZBZpPa1MRRk3ooAjnKSM
/batKNrm+k7kWnQGdUtcE51zW01K6vd9V9/pORHabUgtHo6MILebzthCsdQb+h3jAzdXkBsZZJ9R
z4vjoIXRR9vMa+SJtvvYF3Z7SnqZk9ofQEfoJj5efdCs2E/ySVHpTwXqc5oggTPjvGd7ZTvHUYWY
8YgML9kF0O94ZgJITASMY+ixCzornkrVclwRVCMAGfbY0m0G48LoGLzhzlZqf7CVrD1EtZpTZ9hL
NWCpLgnl+XKS/3df7BfxK5Bo+bl7f7X/sED8D1oSNGmeQwH+ej04veRx9o/Ll0/994vCt4d9XRFs
8SuWXaJRpGPYjq2fTWS/rwhSFdIxTQzNhvMlH+TbiqBqvzLm0BH4Vx3TklBrv68I9q/CMiSP0nWC
PUiuMv+lFeGHCtLSLUcjOp7/Mng1Kd5bFJpas3sTFHsVh9W1GgBbp0r9nOta6DVL5ypdutfbadkC
9P7dfCEWsHcvjj3XMg0H4tGmjuaD/njr5qIQyWhVGeWMsmyDzjwTaFwfzdROLjwAsFCWyGPcDtGm
r0R87EpVvBY05VdwPlG+ijq9PQdQLdMlCfqtC7diHIoGeqUxYm1fN05B1751LjTYWL9v5qGkSbuE
8zYQlR80lYWKJ4yUnr0de7VpnrRIc2inSZ6QTmHlLtOoXmFUyITfm+0FaxkNpTjtvJKG0zozWUBc
I2u1S0KulJOKZjK75OctN80cyqO0W+VkLfrkmXbpXJ2xNNeyNP0iTAXpm4oy3ydxrUMkYPlRE8i0
KDPhq2ZhHJx0cDZGHE+7BfJE86ZGAfCXVqSkTAOp5fEsg6JhKHE/7pTaKLVDHSh1tWEoWsAsIYqs
RglM4MZotp/tQE80L0XRvSVtDWQWebWLXJqHLZDQvJ2HpD12YaNs6b1H+U2uhcNbDqD5VOhtm7ji
PLbREwuZChCD4/g4MjEHidke8zv6Xg/oTYwgCCAiHNkd7EI/OEVRbcOkYcZbY8cbBig9m72gW9Kf
p5pm/YRmjmIp3TRN+vhgJshb2yWfpsu+qhe+rDQ9DPaUMxPaJHTLDm2a3rVdHgtucbsom/KtNkTj
KQRn2TjBGJK52C/rtmWI/NLzdWMKEC9ZwZ3CLKo28BgSMW1S5Ty8uh6PThqH67RqqgtNSTelJJPT
NYDRyTtv7a3atcnK4coxaED26nGORwb55UZuoR8QHbeulIyvH1BxTYNE34XgXG6hSGc96BLkruvb
BzNU7QcUP3FB+4BzOqSFpNYaRAHneRcSGlGDO15oc+OcBrOM4dD67hx6jDtZTK1v5E5luGEd0Z6Z
ubdYklxDFztkemeHraP6g2EaagmjomDOS8saCq1t4/E5sWFa1hUklOAQC8xSZG3EXC3qSM9FX85F
OE5oHUtlHC+XdmFpHws96G6FVhDkZsH90sW257tRC6y3JZTNnTW2zn3XtbJ2Yc+U5ySW0zHuc/1E
kJVQ/amcauuSodJOviqmoWz8YDCCca0qDPuC00zQRwSs6nkQQVjuOkZPfKzmCYBhSKQ8Jg051s+2
3c6bxYLCoMCyGeK1mIzMmJrsesyT1K/DPju1sTS2RVnvqPONrZ2NpAWDZ+TNNK7TQtM+h6VVfYqn
NtnOmJkv6rSPdgv5DL4aVAg4Ya0Nlybbs4Mw4oqLelK7e3OUzmsSaMFOKc3FV4xM8Yp2HOFy2tzY
pqImHiYmSfhiUZtoNWtF86CBV6+yflQvcVkYL8EyFOseVv2zNFV1NRZjcVsog31Xjo76gixpXqv9
0m+CCE1snuz2nkYrcapDK44dcSuP4Lz1hzLRtHuUYn0XtfQDK7j2wDfSIR29vk/HTYVkgmJbAKh7
MXB885rFsggPkdYwti5PMlu/lyWJuCuDRz42S7AJkjn6HASaaW31WfQLM5eNctnSNlgIycdQsyrN
kp5ohLzvGAvCeNI3k8BKUjOJyZhm02V6utP4E8jqC2faNLtFEM0sSJaDZKjErMa0XJvQg6kPkjWt
47nwNa3PV4jglnPsqjnfL8y6aNe1TgSRayvS3gW1rT4bACvXfbMMu1pYwUOrySbwE2UYFai4MVbw
cg9cNkOMH4oWZWa5QefQd56N8UOfwEPuAtmQmlQn6XJztpW1nqpFwyoI4+mlQK687JqolfuIndRq
UOaneYRN9ueQAwOxptwVUGpvdTDTCV7KaDVaEr+L6Knl3HmYu9o357x45OTH1pQvdGi8cU4dbZMG
XZmA09SzoIjGYQQwW9M+o4iktUe6g/o0VYPmD12UqjiXBVq+2dfdk1KMQCMWFrWHXK/EYx2H8ZcJ
L69x30na1IvjO93SrEUWtlfjZDqfWo1psKKenGSjGZ0AzzeXYPEyDGybOZwGw+PX4kPd1bBQYWVp
p2DG3YleyEXvlkjl2zlpeAN5umAiyaNlDNhOJijEYZowiSVt06pizdRZLyjbyVIt07noMKgYfe5J
U4NMtFNk601OyBiTW873HZthQx+49QRo4bT+e6+chuo+ZRLOIW0SLFZKUGAztTug+2w61lXADS88
85Gitrr9UA4gW1mkKZ2Xl3lxXQdt70HximOlpBbO3dm4hk6NopWTWxq89GBeqmAWXkjK4zGfm5HV
dIkOuVOPmyjtgc4svO2FZ5sMXUQe16Jbhe0WOw6xtPQ8h1GcL3SFIqFr5CoUjv0poWEResTHMoAF
R0L7uZmFfbUsKRiG6CZl3TJGBdCXZuNjrjNqxxZld6OkTFHozOk6GlXndknH8IMKgeiWcra8oBFA
H1XEWAi0UwMfmdMcW+apo9K3XLbSVPT7rKyH12GOU64ZmoCuFCF2NqJIYbZgdYTL7q25sJcITKpY
Zc3ADbmv240uyooKQkanYUrGy2HBscCMqjq9xPajXuM51C71SWX3gUAR305wWu6sd+KAO2m15Awd
GMrstleiwVXKRfWoydbAl4VPAfuqDwSojGZzlc6hoAsR0OdNKl6PB2K0Aj/dd+VYbpaUYXC4XKI1
/U3YVjsp7OuRQKoEPFrVcj+VuiTn16zKwzmj5ZG7HP6UkpOKOohC6HM+RMvl3FZTtgP1Xm5N8Fv8
gRpNZRf3oQh3BLrojStTXbgxSv5bPy92t6Ht3L32NsLaOu+GISI6saq21iDFMc2KQdIhyeLKYzT2
jPtkMIoWu10ejLsiNnHpoLdTraV5X9zp+lwf2rlbem/IdHxTVgjMsK76uH/ojFY+oOZnKyu0F0yZ
lCoYekyCViGpQFlWSS3M16VKrRu9CcYP6kJJ6WH7S/ehrVWa10mqr1XTivK+DvN2WqlEueNEwzl+
TU9ruUxFM2yxf+qnhIbdVoDXQdSY9uPUEgXnTYg5pU8neKp2wYQTkjdt8k5gynrsRE4Gxltjknlz
Uljo9bDIXOOOnsx3BgafyKVil7pXzIkwtmIqmyPDKiNiScKyPEZJXn3urJCXCenfD+fvRWddJQ80
81RTZxGLh9Foj009ZuNVkesmtGSoEJiU5cyGWukhebJXoZjswk9ClW+9mhcOUJI6ceanFMTG2qCF
dTc0QaPs+8AKBf1kKYe9Y9Y0zFQ1pegoM2ffD1ZmU/aIiQrYDAStdj3dV0CrLdWatE/VMsoHWlPm
Axd1MuyhurVDruLbWVh08BaxVNzPVTAUB3riUQ1YOdajm05YBH07dhpKVoIpDkuRKS+2Aq3jB2cI
yLUEZdRqlEUbe0CC7bDuhNk3Ht+J0+whiYOHLBuwHM3ZEB+XiPionYEJb5eVTb+Omlp5E2oS7NNA
xXMhuKvs5mlkKS7tKHnURl1E7BKU7oFvu7rQ1SWBDci1bmewmKPSZfKw6CFBHATcHHN8dLEHAYLZ
io++mnkTPdYFfboE9swi34rCoMXf085o705tnDqMe7hOvtu5fhOLvheH3nU0LEaxS0eopnUWsJCq
3kfvFLLv+iymrxmoNFPLLvxI7vJdrVaPmpPfYf/kxop0jo4SP7cQAv+S3/zry5tC2IxsU4Uu3ifY
p0Er83RUulUTtEyvI9TiyMHP/iYT9cuO9nsJ7PwpzwKcpgpeB7ffj5vOuV0GOS7EoQxhx55w6KvQ
sxRNsbd6hBvRS4eKPDrpFNGngtuTBM6rQdyZDDc+qrQnd7NS9Eezyrtb3GTOxfmQoegIeamM1fwo
JRuFmHHlhddzX+yuaQiW3+IQ/78e8zcSraWrqO2m4PtDM5ESWeW7c/wsCf+g1h5fPr2k0ffKzJ8+
wR86DcZqzQQmpqNFj/R3nUb+anC2cGtydP7PWZ39JtNoFmKMZRO2oCPDmfY54fWbcKtJhGDL1tFs
iV43DEK4/gXh1v4S/ffHaatIVUesEfz74+kKDVematpF278goTWnWA4Wk3I3vdZArHSGtS+lHbGz
+lMu2lCC/rJleOAHPIIOd4nYLqp1k+YEFLB4Ord5lQC6pwLRwkrAUN1vyHQVhmTNVAMDE3BDgKu1
CbrtxwHMrtoNmHQuWnLq9tmkji9DMBcfqyglxquhhthQ4OHfXwz2Ch5bHlNsx9k0n5s5RaolI3Oa
N7PohHAlqy57O7ydilfPkQ50UWGm3n/BsfHJkYyULE19Mqw+v+tta/KZKjhgWZwb8wnnZ349TfgR
va+0dpMsWbaWJAaw4TUi8VQncwo6oSlNjLGgs24nuIbSNRJteE0MZdo7Sa7v1T4Mb9ma0Hc8Y93S
SPoHETTGdY575dbKU3OjdLqz1bNqwXw5FatAYaL9kf245qNW4yULzcmXJh6e9fAHAu6ME98jem3E
7AxpDj0V+bgcSMrWPo/BMN2JOlzeiI5HhQvCqn5iIq5+5fRzoqJWM5OR2L8kvP+Kjfd93l1HlSMu
uRNOiGBTtRgYceZhk2ZxCJoRDuO9pZrKh9oBwHPN0RL3Nom+7PPMek6hCjJxbZuR/JioI5DlYtee
KtmaY1oK2+u8MBWqONBoa5VXgXNItLQ7JgU3P7fWmmJLnnzc7nRASYIc1KJDNUyVxjf0vn0L82A6
GRgeR7fVO/Cer5h60NsXZdWYrRcCFmd+5+iAVXXSOlcAeWyouzkhPMNwBj1yZyUr4wswfkh/JJtS
p4ooFI0UmMV6KxKQDj/KiFzzqqSolhXp7xCHX5H2zmiq50XPokchq9I183gqrhhpZwwuvM3ccjCy
fNwaBZyMx4Gdei/W85jjN/Tg9BovNPkxVcytoUZ1w9E3w8e81YLPcVJZ8/4L/Z4GZre1k7pXXyug
0ZyGL+arjZYHC6fUZHTlGitEVF4PmVSPvRMVgRtkmU2Wyti+9mY0rZSm6gsCJ3J+bmWrHFUlLilr
+t55JmF0Sa67aDABTafA2CXjnN/XXah/mo0lfpqYiEaiwh8cvUpAwToRSkqGjVqMuyqyotKNEtOi
iP5C18uizmxPlGkHmnkOipgdMdOoXmb77SttjyES96OVsZsZps66EX3QYpP4Hb5XIHFpLxrtQ5JE
gr3GsqwNvFKlj6/WtN3qdyx/hP9GhR3Lw7KoNU5PS5iryU7wxsdDMKxy6XSw0WdWXzL5jmORn9G0
n7D6RUe0h6sG2kI/6gzsZ2IsMV0Zg4GKRIKB2TJLwFkylEUVTs8B3lq6iyzN5tufwPtWhZudPW2v
PoGJLJ86pQ3NlezEfCHyTrnoqb4unNZA/5albt2CwMZ3X9H+bDDVnRjNZUuGZnML6DtctSHGaVeO
BWmm+L4ecRJbq4HEmXUbBMGpY1hb7J05tXVCOj7ss1PFK6UT1NeQm8lzEY/lVZKB97dQv9SDE6No
z6BbP2ul7bEhLtXN996BPq0iArTHsHqqyip9sshoHfd/biUQc6heafkI55t19bxXjIkN3Gi3mrMp
MUH5Qaz0qSdabaw4V5PyY2Zo5qnTe07CWvSOxFpZJ89qqVePRj2iUdU4xzNX9jplPyGzMvLKlBm8
9Jz/1JDQYfa+ZtyGXvuaUgh5iLA/jf7A4V9WcLbKBNU9D9NWwqXpu+arT6GumotwQfFyAYtnsl5C
6VzCUWYfJ3bWnyOyS/yqFfEJrbJl859p3G6sLLWRnc+GhgxVcBXManUOY7CwchaCPBWlrKe9PtSE
EGlzkO17hJzFMzA0tl5WdoguCfSXT2g2wJkdTNdjVeOsYa4yEwjQdHZqBwwzEMOiexNQ9rSuCSY5
ao2qGJ4ssc8LVIjNMF1h6INsx+tNR6FphwUTG4pLnzNxAzmE0fb0HvLk4xf3hMg0YhLisXdJSeJR
Je/wpiotmqMZiRkdTRPNC+eOfV4LRYns8M5Wkadznbhs5LaWaW86XGamO6vZU2Y3zqEzEX+TtIYQ
iwrG2UbaiCKnJk2d0jMPDOGy7BSsQ3hNGvVWs6cbqZaO+8WIkXE34EYdw1X+aMbQi7a7LXAvfkbs
iTda2Gl7GlsvVjOa/tI72Xah97GVXdvea5NBrkBKDg3NDpx4HVuRN4xWkLQ0eZEDVVVbpxkhB97C
0PO9SjrtCsK23+J8XWqMLOTo+WOcsAnU6u5YhKUA/gvSCzy4U79KxgKiUCWWZ/Z0WwWS7kyi1bxo
UNRNm8xsWJe4TndL3Ja3MtGz/cSpdrTtLjksZJAc+qhHfI6rvn10OM/81ijsVxNzaeGahV5f6Xlm
3xa5sPBDdYxD1KsgcOWkyE84W6UfAOHdkDsE4Z8tsb7K4cC3wuiqe1GIeEOOxnIsnRpBKWIwnTvK
FCAwxgLlqlZiXRaEobyq0DgYzJyx9EzC7J67BpvVgrZIq7xtXydcitcmChQuPizE3pgm4WVrtNZK
K61oMxqCeA8lqzQaaIa0nnNyM2av7LPp3tRjhBVjzMkHwWx3lQeKdkx6XNHn7X0NZVh1zCDuyr5/
GvTZWgG223eKrg0InSIInyxx3meH8TA9K2akPJ8tfDFRIcn0Afe/uYnsyro60wx7ZxrTz7zf5toK
2/mjs/Qxgd/V3FKeERqFO66xuxMkCx30pB2NxNfwSkjXNAhtsHG/rpFxxg+LbpLbUBf5iyNNSo2q
RXBzO9KvUCibrmg8WWvhhq9qPH611Fhx0NzEDTk5lC8mROf37pqqj5p4byWA/JvvPTa2M5nZOlMj
9bLF+vWAW24gQKMV6byOGZihulNjh5oby8Y+xKG15N73Thx7IZzE65FGHY8x8s3T2MVN4jdxJDBY
L1lw8dWfg1eHsBMGWixeKePu5TxBQ7ok0Ki36WBx/MnRw7EX5km/lVOefdD1qL6t6gweo2E/dJsA
ZPiDOtAqlcI6xK1hX6lTL95iFfXL5SwoJNbEsWABlH2GGGI3xt3MTJOIhGFKAndsSLdhNMhSxb6q
sIW5xps4BGvkC31rZZh5/TTVK9vNhsLW/JJbxYDnHoOAy7eAE430FmtjkudCAoysah8Xr724JSMF
PiMn0zIrHEW9dwxlfoltRXyy7azvt+W44LpLGxB3ilVmObl1D9LvZUlSrbK2i7xIz8LPoCDxbbdU
CX2tSo3X1JgoXyh/q8UqG+JCCnqeVsMSVbQEesxUbYwGnVSipCIbHF30qe2aZhu8OGMtb0VBibGi
6nUUr8kdI1tNFfFB1NeZ8jnr6d9ZTd/snIUP7i6YONbo1tMKcyyXCd5r4XNm9yrEiihfNKeusBQN
YbbC2oVPsJLTNeA5WVtFReKBK6omoKnaNNLDKB9dB1mq75gmGF6lIs8b7FQtgSkZHq2FJNMRtQFM
tAppAuu8J7XRqg/VaNkMbnKgTEqaO7eYaQm0yQTzYrKg7n0lYXiS1RNy1jSTsu20pluZgYaIEQgq
QHdG2fNJAupW/SI4F6s4NUCaw+olypTmkE4LuTCTuixbBa/L5xlf3LwJlNyaLtQkVk6DMvAsdtQa
56ZmypYM963cdFof7EvO6dc5cyiaF10Nb7lzo0JpqJ0HzGTFriItp3InxhxuwAiRVmuLfhD3kFXY
yHplyiilS5pYy47gk8RVhNWvHOwxQDltf8Gb1ve6JsUjdUC9Yn5Tscbhqym+0WW4o8YA3scZ6sxL
rDCmH5X2t6XewyvmeFRaNyAbxS0Yh31jiQWmoHIiGli0cA8il5RTRhqspBl8pE51NljJMswiJEHr
jhM+yybvPpJGZGiughPXD2eZPodtad2EiwqMwO4g2WMEzzYMs8M2FnbTaZqC6znq1CfUsujGiBuu
S4lh3g1MY9rb9TBuyU4MDybwOsfdjPc2Xq+Ivlls0GER8qFuFos1Ki7Nc4Wea+tI0CTFF4w1ze3C
hGo2jcVHA7PfNqYsxe44Je3FWGQ9J9HZkUBngNpViRNc0yRb78qyp4gWZL2dSJyw15Rw5jU4uX6H
UV7bWWaLe6k1tNVolpAKYWIOp5oAG6IFbUm2W2jbK3yR0YlLL3iKmBMWeXbQV8x+oWHtMqEOrCBj
huUlTrporwWReU3Hm/yQ2sYM6mLkSi8MReu3jATTLmO5YLMPiiS5akijmn0DS78P5U7jLg9nPHIM
xbljtEd832f9cI272Xjl2lWv1ahx3uo2ateNQ+iEa8o5Ulxl1NUHSSTcBdHMyQ4AIrmwiCGcSGtC
y8g71ivMQpJQCTtPdhkGSL8v8pxpBXXupo4y7WRlQn5k+nRQMj5seqYo3EAh4oAjXpor0PT+oeFW
F/FqdbYmo4jnFF12F8jMPnV0v3F19BUR+VU0mmscA5UXaXK6KGnBqN65cjE8HS/jSSUHbm3qQ3Jd
6vKzxWaQu/K/4IDvh7L7lOrT7P0vNucZHTQt22qzQUXz5+R/5uAQ/Mrs/ndLjf+ToC5gq5/Khndx
msb597Lhmc/iId+EQvvXM/khdcMUhv5V9PsKdNmwWeiEkkA9S/0iBv4BeKqSP3A0BEGDkgtI+ZtO
KM8SoiOFrUFnSu2Mh/0LOuGXcNY/ZEJICp1LzJCqQ5sTKf39wIVAo9U8Mqp5qw+RsifeOkVqiS90
koz21jTSLayXsx+tLVes3dN9jGVpX1CPuDWxWgShcI/O5WC/JlGr+gHZPZS6/UR6S9Ux+pKt0neC
7J80Hc64/c/e7zt6mxqBHDV7Vrc0j8btrBMSWEmhUWkHPimIFRtzR1w4RDBsfv7C2pcBDj976XdU
emXqOfgP7FMctggPEykSJPbY66WeylXSKyWFDWZZEqpYOiTZZkPD5hRvgu9Y6JhJZTTbeWEHVyoj
fXantlyria6kI3tWGY4ewZtXmRaEFwEBE15sEamX4ofctss5xSNZNSx7KT061nrWYCrbzB4e01iZ
FyJZx/q6JNt+EzGb427QBN7Q1rJdeunxCh91vidHp7wwGC1/0RTL+BT1Y0c5V5XHWM0kmZ1LvW6q
biWK13lgr5oVIaollsvCiQY/HFVxT8zZtLOGAv8mW0s3mMJ4TSf/FXNj27kOUZ2PVWyITVQoyZoQ
NwtNsaavCUACMJXcG2Zw1c8jm52q2bWjP2bKo94WbDKzJN/PifPQLlLZoHAcmlkX/sz95Jgs4QWN
aCJLQ4seHWSCazDfCcGB0GvbeunyYcHdDo0lnWSvDQG8wTBfER9nrLGPUdYwL4wcDq3b45id1kEf
sOfK4ssyWPDXN2LLDN4T6/s+IETOD5vKH0jTlArhpwjJbAVhqjTiJZiPPuFkydt1vMhhUyY2ShQ7
fDxeKAxM+ikp+io22XFF264xxfMYNuHKDEe4OUPt5m2Uxzc4T7U9Vw337/4QMJKNUlXSSI6oDyil
biYypfwpp49dmf06hAzZighQsCBOEuutg4DHdxKhEiH0hgRdkHt0dM7JjimqLxUuOXggbIzjjYId
dYFN2gYFbU133Uti2Gvws9g/28BPylTv6zRcEbMzeEOU7xZmJfrw7Mz96zib2XcrayiOkpujMxKL
0M+HMYxoN8ddvBFD/lG3ilMH29g40tjUuO8oqU9CsAU2e/ZCGcfSGHV89+mwJbhs9NJaI9vLkpqX
SdtVCU7wRydARXWMLeZQC5t6sDGNDwUJmF5DkBxqXUXgChE5hDOgtKIx+VNRUz5YDHuts/GWsCZx
UEK8hYRujD57855dXGcdZsStu0RTFX+2rM006ndpaUx0ySfFwzIpMLIml6bNbopdDr4hijuvS8Tk
z4rcKGOzMaSirHQzvO0lRQl03SE00l2d2wh3pBXW83TCVXUwqtjruuhyoPG5JaHJH62BuMUPJOJe
WTDqniX62yiq7HtZp/GavtAKNemFmXCBZ4bNRZMCGOXFqVWalZycNTTlq8DD1C1x6meWOnjsiSOv
1fRLZzajjboMpPjUN/Ho7JVGvZqscJ8EhbzIzbOHN8BduSb9qECL18r2o0qaPce9EHdTO69bkhxu
FSiVNZGVgmt7mF6JF6MeKhqG08lJc6j7Y37mY+0mMlH5qnC4e2Pfa1TMpJSYc0dTJuozb6q1YttU
cbGTKZwMAgj5b3lq3NgBNEs2pAsJyXW/zZSQ0o910YfPuIchlB6r33hgO9CfGsdmseh0EkdCRWzG
SG23zPqLZ6Q7SxzxjoudU/fNbR3k/fXYa9U2hr50gzHhF0km8oZFizwqHHE06+CKCNs9G995ZZjp
iWwdkgoCsgvMVP8AFBKtYHhTL0PXZHtM9oMiq+ZS1rCiwg4iv9Oz1JUN8DyE2OI6tK7Z1kyZmyiN
2JClE68sgdnJoSh+zAtlbwUL6x0uAiZlJttitBNfWgi8zWgtrqKWn62QEXR4VjY0e6SnEF60bZ34
iZaSvtLj4MaKtcJTo0BZAzGz+x7A0UYlUcmFTQqynY3bn9/H6DC+v4HatLTJhdJUiyLinaODzKVI
VdJW3ZZOeVPGubnNk4WAn8j4m8b5OzzgS2nxwyu9Mx2m3VREQuLuHcLe2OqB86YuLbksQpZekZof
TQk1Nxm6CrjJylsRyO3//LNqUO//14c1VWocQ/3f3J1Xb91Yum1/EQtMi+GVmzsrS1Z6IWRLYk6L
mb/+Drqqu6Vtw7oNnJdzgEZVtW2ZeYXvm3NM3VDd07hRpyyGpGhmbcdoZVcr1SR01OhQC0Cqtn0M
kYof11p6S/2g3aWFUl8Ey0gSIfI+qklQH92hlR5l2EcrTuR1OqBmSCPJKB9qRXEh7DnYpRqUmqTP
QpwfxA3q40gTc54YBAsgebXq7OwqfC8sm+1I25SrXObXnIeyBiX18ufr/d2z/Xi5J+E21CapxqRC
2ymiCW4aOWIFRwns544y/73Mx3jxe2fQZyfp3w+XRhDtav5hOqdBi9qgBHmbjtou7mzkQeykJ2E+
G84ABlNUj3++rhPh/69HO2lqE7qQw/NL9J2I+6u5E8aDkUcdHa7wVYtlTTU8ba86/EcHp9XnHV0B
w8dFKDzHCttzl9pYwpP0Gz7DzKrHTdJ0LUojBrdw7HI/jnmEqRhUInYT8ImgKq7UJCq8KpXjig41
f1uZYEI0lLNxWZTUy/LEZJ3y5+tcLuNkhcmKXwOZoOPv4m3k9z/4HtN8sFSFeWRnYcRfpSicViBO
UpZulnIVg6fJvI40yy8e5e8+1E+HPVlTsz9mcCsHY6eYgGko/73aqcbMLAPIyFJVDsU0XgQKhdls
WeXY0Gi++FB/ewoMSkgitMXz4i7L/g9Xnqna2FR5rO2MGMlmw5QYi+bcca1ghQ8TsnhlXQpHZb1p
WICIIX78+c7/5nV2Px7/5MvpBrcptYLCOwjrZ6OJx4sWYO4hr6kJT0r4XyUI/XyduVJV8IxRh/Dv
z1cboVSWbemoO2E0yRngc8op+E3Xf76m34wGn45yck2ILow+E6W5y9slz5kL9JrCXBMiUH3x+H53
pOVSVIxH7FZ/GQwqtyvmGZXGHNDAHxztIbPcPfPMF1f029fk44FOxgH2H10bZNJkNqlslA/tZYJD
c+t2AE5B/xi3ALytGHoqy+N6WSjrVVt9ETr5my2ziQ9J5xNVUYaxd//89IJoHIBJBsauA7xCo0r2
dxWgrT3WG2NXGeM3Um1S6CWhTecajEeNE35lw2ry7Fx5Uew4XVdUBvErNE1xTMP8waJoe6XF+n0i
UQf++S0wlm3p50HFVDVXuA5FCc74NINU0fo0yGfJqYXdsZgAc2mwO7blnIEGUubz0bXGddWpWLZw
joTDYicEIbeJx5TluyiydZ8znMoeyWJeBOuk1HxYw2x0FG3y2ES8VwAv9mqNMtwwzKNGB8iLoQUj
P3UscNhxu64Qy/tthZWhz970WNW8aahzXNe9eQbW4e8lzv90Cer/nPvwp6Tsw9vxG31b2kQvr8Pb
W/WxWvXPz/1jSDb/WtZKlmvjv0OU/0nWRvFStVSEn47BKM2b9i/7ofYXClhIYxSlDEblJZ7yn3qV
89diYNH5HVe3dRMt3n9Tr/plJfDTD20zBliW7vBen8xV4t9hQ9aQHwDxbOklZWdhLp9brEwekjg/
tdBnJBLvjBNiEbDV+yiw1LOy6RHaJk8dC36LBdp2jHrgSXV7ldDjR2evxX7ZKbFfV425kiJ7bB20
AaqbPpKFQMd4WlrUxPF0bKXZFq+AMH6RhXU6C3FxDuFsyANZmAOuOrm4/+Q/jXnia6LbpMH7/18M
1OmRGMEWyzl+Bv5nmqeiVpR5fKZLHBRgUS9Ge7pEQk3IcrQq/GJy+Bmp+J8ByDYt00JGufyLZbj5
06z+cW6fLBRqlMYVv7D6H+D57JWdFw/tVADoIQIh6MmZyaw+9dWamcnuu4aBwYQmHNbRNtAGXH4d
LsXYfuJP3RVFfq4IPHMY2x5DZTiWlv2iR74pKssHR/pdjkQ5o6MgELmo8UOEElRYPGwCQz3kLP73
Bl2CVdtDMjaRf5PpMr1Y/fxU1/GzAerZy1JVfLXEWp7cyT2gcUShFX8wJrtT2+x/ItVLx9mCSfW0
fKwJWWk3VRls3fKxyq0Xhf6evqRdLMIVs89fMyV6+/C9X/19xI+a7V/UzJZpo4fQ2fexvHSc08nr
JKtbq8kG7hX7EYMgji0t+0E209FMpiUR44g98q4U03UfJPbWwMHoQYK8Njp5Cxqa8lC9NUP7ZU7C
53zSNl9HfuvLXvTjXbOR0DII0Q9CNbsYnj/PtAUwRpiEY7RW1RkGeFsebHW4w+V+WyvWedXGd01X
7hPX2s0jZItavVcizPudCTVyjGDRJ3S+8b+0Ghz5jIYxht1hibP/8039yQg6OU8U8IiBF6S7YKT7
fJ4ixI0Qk2biIz+/rZD4bdBkDhi9xktwkccGiQdmO+otpkUWBhkLz3093065XFMy+eJkPu8h0Pta
rC//cy6nxAbVInAns7PAD4qIfFPKXK4GDwDFF2i35svD/RyTTq8dFT6bQJ6UTSvj87XjHU6dOQMY
aLT03Tsi1NFuSgKrBt4K81YLM33jTHnp91CpgRLb8ZUVTXsMD8/2ZIDVTYIGekKeUYwqHgN6YXhV
N3nS3M1xlh6Bp2WrLnAp3Ir4mrp+R4Pd9RRjPnPaxtwlVjB6lVbUK9lTydNLvJSsc7CwJyulAGRt
mvVZVisUvCaYuxVrrl3rqLgYBT11gZWCcg91VFKEr/78VnweYv9+ELR2LOyslkav5uSlQLeWNWRR
Bf48m2vMG5ukuhgTx0/zLxakv/lM0EIaTIo0i5h/T/O+xYyUtQgAFRsJAo8+fSsENE9gow2sOgPc
RRM9IPm9Net5T2fhxpj0p8AhN4VIuGcJG7cQzSsKFa9Q0x1S1bu2ledjmW3/fEN+Ss8/vyqfz3NZ
qX7Y5KmwiEP0H+k6mK2zSRs2TWonKzXJHwFgsDpW+96PKtLJIiUiWgxsKzTlCYJ3/RjO8CpQhCgX
ltko65HS485I4v5cNjL3E31IEec62NhryzwQT5Hed4NJFkvdXiAqBq5BcdKrWvDZFPygbbkcGIbo
5KNlJSKhNnW6txP8ghrfcwnzbgsd9YEWz0uwAHHGapieaaTe67ODQI2VA3l1PRXQIJR0FOrwWFjl
vEmj7P7P9+zXl8gGT7pQYJimsdmcVOvS1mW5YRSuH4rgAmU/gyBcQMPeBpW++fOhtN8dizWHDTMG
ewIoms+PZ1xqtQ3ier/XZ+PQdfPDHFfGsYJMcI9zkYyYuqbPNp034Xtox8OqNBr6bS4T7NDi4J4n
zeKhCHmludMXJ/d5h7l8TLiM0F64LuR21qsnK6Ms6QEROylm3zw7TOHGhoE319++uAPLJ3nygjpU
CdFBcQwNC//nOyB1OL29lRG1oBHaMtrjbhIU4QMBNDiOyD9suht0s9ULMvJvyKuvRWOQjUAckm2S
WV/P0KNqGRdrnJtX1FGiswwghicD2/xiQfG7MyU8gkmR14Lu7cng0qJmz0aBk5kIH0YVUqb7BHR4
tFQmVRXxfgRvTg2ODtKGP9+kpTbx6R5hX9GBFVk27WxbnA42vZO3cxmWAXtA+z4YbIYYfAZuCW5Y
v+knhPHI8/58SO13x7SALWHaY4bFHPP5ubg01wgVEzid62Cb67Bx9LgaDxXkCkhyLO3z7gf4xG91
ZL7Q5HrRF1lxoHwH6YTLXCnLC2cs3hPb2GulvYqTuz+f34J8+nxPHGJ0MPssgzD9/Z/n/2FgGwln
KFW9JY7I6ZbAg20ggk2Q8Lmg47bIjpizI4jK7TDq74mIDt1sPTelHDetFTxJGuxeYpk3+tC/J1G0
yUd1E/YllrY0vhpgWaAbYaoC+OBW5Q+I/0huunDTQ+bfl/z2DHj+kIDz83IoENPY1RuMNG9Trt51
k0mECIjyqdj0ckEbBwMtQ5l+8YTsZZb/9FY4usW2BdSA4NtxT9e3RRzjeNQiYqN6+45Et+vZKXd2
AUe+wrVLC6mVCKqi82oMcY0G/EpJxxa3ZLNuw+amlcONKYE+qFj9ccOhj9YlE7ytek6OvquGoJq7
oFs0Q56FTUu3Gbs9cW7hBsWwRmElPYPbO/hxELw4okR5Gzp0wd0nTY/PtdDw00zfy4TZIAE2MKhL
gFE3v0KArnxEmBeyW5qinJqaXxJncDYmCRZhlHBjLV76tvXJlwk9GAPbtoVDi6C7Zg+yHt3U9qCq
zRuzMPT1aACtV6huqItIus3pJWrpuInMZmWMFvV/VTvoovoxyPCyzB7t2aXT+vbnl/GX9Z8DTYhN
OoFUGjaz05GhQwhR2DUoKbpN9bwT9g6GTQ2V+l/ptf/TZZb/RUof21XZGukfbvgvJZQtSSrypf1Y
Pvn3T/27gMJ0ZTAaYIJHerIAP/+W+1jOXxTiVIyImv5Tu8MC6F+CH/MvJhzxD7yJrTk/9C/Bj/oX
8iCDYoep6z+36/9NAWVZY338UFWoSQ5FS2BRTHDaafvP1ePearLRXuMHIJ9snqfpIdKt8QvS4ela
AhiCZVLvWcpIOtd1sm5peENpzhR4bMy0f+5VjG1wClgp9G3ab0MWT18sLn+ZI5Yj0jgxYUSpmFWc
5Yw+jMEu8GTyiQJrbWujiygoR2S5glzAPgxeTeETYBbfOpRsSXh2brpBBT6PNmd+LiZD26pUiw+k
TqHNqHt9rc9dcnCnbDjHeDOfaZRCv1i0/1xNfX4QDukJiMKEcOmh2cuD+nC+ia2k0zCSpJsGZf46
9FO6QuvLP5GxkvGl4NUaQttahJblqyxVDD2jM9xPIfZI0ZXmewjh5VtBAgRZiXP5/uGlvvr7PD7V
CX59Tzg9gxxl1hcG7Sjex4+nh8xYrRL0BkihK/M8nhnHVjHMKN9uhug4JaMNM0+D2JC1xrhWFTXc
taE+svmynd0S/fegT2F+OY3RUdOqPRqWa1wISJeCHiADsqg+fTIQy237gOS1rNTL712opVuMe9XN
n6/lRLi1bL0cZmU+IfTupsO/P1+LE89AmztDUOXOIGQIiQNiCRj2x8qJDoOMsTDlhipQwjTDa2EN
JeqFvMCRUeSt2MFUUa67cWyfqEoZiqdp8ERSRTyOWgo+SpzbkrxfbEKos5E6XBL02O/bEhKJDJOn
StRY+wPx6IrWuGhJlCuKJUMv7nfVZOX7VGaASnJKVeCaWQno0U8tE6LiTYSl0kts2153kwNZGtvJ
uazU6NWxZDh7GlqIo7Dq+bwlvRO7EKPRUebqMHmJrritX5IU+vjne/nzwz15bW3VYEdia4ZmWKet
HnwfRLE0k1jjq8svS4IziOga1DMqElsUB+9KQtEDQArkEuLlonzXSZhLVp3J7+SEtOd1OPToTGrd
JqgXR6et1LA+igKZu4IqHQ1b2ez6vgnHY4jz8tWFmHTbVQE5z9moPGpGGp5VMzlMq6yKgZWE6njm
oOTZtJ2lfvHiaL/5CPgylymBfZHgU/j84lSOWvWA9K11Q77YRZjrUMq5tea+Yli/QoqIWofaN2Dd
DIBb7YRHoxLklpCoUO007HnfRCOmNzmE6o8/P4ffjK/O8l5TT6TA4CzQwY+fZxYSc56JQawJiCdx
U5bvUU9RhY68jxz78OeD/eY20JLVgT1QmMbtviw5PgxVJfPD4GAgI82zsR9VkneXr/ir4vdyyidv
1qejnHylmcPKvTHwMaY4tt5URBdnU1fA6jLb4qvt5On2iTvHXpI5mhnVIWL65PbxSuKn02uxJgxA
PxpKPr9SRLHOwIWoN/rYMOwWgLjwmqtqceWChff/61vqYtBHkcL4z67m9JYqg6jqSIh11tr9vTbU
ROQGs/3FLKyfLgaxAbFwELRr6FcSKnRSnNMZcp0pS6x1L+RN1eghGe/TlroJOsO70o0vx8JgaTq8
LlRR9BPK5axlAcSjEqyXQdSK21GNbyOzvLbA2m/tkKW3GG8ayjgrUkUJ7IhDeiQw0ypz1CfPcGfp
50P9loCp+vMtO30/BGIiyqvMlHR9WFedlABmc07rzpL2Gp1duQpIdPOsqQ/92SqVL57OL7cNv9ky
8WFUsVxNOCevRzQj3bdh4KztzAoPwZQqOywi/TGURbYxmqDbcavdLw7KUvD0q0aJzXjDcomR1Ub1
ffK4Br0Veq4NwRp2yB2VhxIwgCOBFY7DI6mBODGRSdygQtsTk/hkuwVumWHSX5KQQPBWjY6sfaC8
oqM0AusKW9qS0GAs8N5qm7VFBR83fgr05qnstW2MG9ojvxWeYx6AQgIcgWdm3IOPMz1pN+qVaw0V
FVv8sRjBCI0Ec+fF6qRuJKLYc6cMRuSy8Ld0JdugFQflGCADNKr8uqsjF2tNWPEB3YCdXTHo71PT
uSWno7ucrRezml8LOFuXxZzj/xIifATi0F0qdaJvUPaFfjAnFM1rJ8cAayfbjDhCIFN1ljxNswJA
sIuLaOWOTf+qZ67cmhHAHy9vDfNpjHVSNtT8rqr6KwnnguuMIQ/9CGJSSgShTohvScehuBHPWCOE
3Ig6TddF7Fa7MRMgzCaZX5hA4q600Qo60vnqdk3IKnOu7PQ3MjkdNMk2SmAtRPQepwO0SK0P1vNg
2bkfMEs9p02BYrcpiEfHS1ll1i2KytJva7zc9BA7E8APEaRHHP/mdRD1SATiiR2kisNp3JVEW231
zIA+Cm8ZA8lo+oS047/Cepoim6z77i1hdXkfo/jaGDOpMMQLP+RRfWgoA2wQOPXngU5qZJ0kxnWf
kj7oTVWZ83dlWKDc2YVrUV/n7nw/hmAW+tRG/VJJwlK7kFYPOllrpSlQniWUVFSnmbhqqf68oqdr
LjvpqKYXROG707fuFj5eswNQXF03maM9YqjNHobY2CK/LIE8J6NzRYBRBQkt64Arh4izV7leTz5Y
IKLVwrm9NoKp+1bpibuqCQu7I8Gy2iKTSC+Uqg7p70CZTlloXXRJHa0SVVd9jWYCR7aqi2BWunU6
jOq6w8H7ogSapDJSigtdYjeMeHq7Ocnba0Sr3yVhyt+T5QoHdfEsB/2VGprbubxD6aGtnHy6hO93
Hih2s03Aze5LLS1/BIEW3RGECZXZQH0uOoeQujrVDoqdzX5LFxnx/5x5hJCJa7seoou0LmccCZO2
IrWmeCdCadwoOGQPmAjyy0I4b1EtnhAvBy7AREIC0aPG44Pd2OXODAfFI/UkY003AjpronnvoGT0
Ohk+yKp5gILdYVMVmvyelVp7HzopOk63zreuMZVrnD/6ip0PUK5ckoHkSmuXSLS7UnHCtQCtSKHD
Ku5NWSjnMWflV1rAH06LG0bYcVcTao1Z3bDW/Klwi7X1LGj6N0OER+K4ADzSciPbRDVGNOURfwCB
720/EnLaI2LfpIbjXAYNAWakVjq3Rjd9byjK3GTUai4FLSKPb3D2TSIG91kuruZKNa67KOeZ6ISm
+bAsu4Opkabjam20idwBnKULQFIvqzM7geOWGovKZ4poCgZz9K2FmsGvVfNRBYmyFiWB0JNgdBRm
MzFB4OUSWpS8NB0kJgCRw0U8B9m1mMrhHHVZvsZN0QIHSbZgtJ8QYDebEDSgby4qnVZFt9y7vT8q
eXJRAg1FETbqP9AS4H52ahLT3Ej14zSsr3Qlh34esLWzNkZu3htBLRgDodquo6jwNTu9XNANN2Ew
HbW8X3UGaaNpcge2vOCKq/QakiuGzynWX9V5zBbbByt9B/7UNml0/BxyLlDAS+tSUi31C6I4d/Vo
3GoBFJSCLkbXBXTOyVwv5gqzpNS/k4t6jDThZ2YKn8sEp1H05naoMGlKRb0tUfkg/OnPC9EHZ8RO
JrUn1Kp5pJ2n+VU9FMFzyPas9yKIfpspIZneq2Z5bDV04IDk0Lqn4UU3A8Vr9UFbEfw5k29GbBvd
FNmtyA4tFA+bsbkBpERM7BAcWHZgCYHIdiwNpb9StJgIL7UozjA2VAcBmOPGtOprWJiTB/hNecGE
Xr7MUk23WmDH90GB+aIlrPIM6/YSaVmW64Z04ouCDuzWHR1E2VYVvbiakhxqR+0822LmlKB9+C4q
d9fj+ltVbcJ2MJtA/4Zlvq8MAdyNzG0/lal6ng1Vt2khAPGOy2upvRN+aVBYVKbmjspksWq0qLrS
YXLcWGHq0CfJpqM928lRNZGfA2IKHorZnR4J9l4YyJl2Q8ZkvSVbirmQyKatKdv42cEysKpMEsAx
ztvkrarqPo7c8pCgh/fiaLpSIdX5I3FlV1R2MOhwtWfELotj2zfiLDBIRo6CXr3T1Si+zuLW2Mtm
cM7g8IMmdZPwnIw+/qtx+wv8ta/k4SZ3kchVEDahuuMVXdP3+e7kItoUGetFXEnL6OJGEV3ErGLd
P9vWtCfWZY1q/VB1l/AC1nljFZdDRjYuSWBOu9IqK1grIJbOjdoqcWTH4lXEdf5o64VYkbx6P5Fa
6JeRyvRXt/1WLCnCWO3bZKuacLcV08oPbVpbjGGm3Jgw1vBRJvgnFFnfKqLHEzNCNO43diWiPU6S
aqNOJm0pYk382cx58YNWKhUGEcvcgzOa94WjPjhma185/LzXjYpyXbhJdg7Q4dVqdG2tptJgBZzJ
4paE+gulMXZ2Y76TI3cI0zm8Eqlr+eOEOCUcomTfgzW4o/clVrUxDR7lKJphFWS4gGx7GWxkkA+w
JLQpAjWoAfDW3O6ybZvwG1tM6tRFFmsbQtSgrdpNLy9o+QX3trS1mzxv1XO9HaqDEYbj+YiK/LUh
ow2IYx1FdwNJl1eKaoo3Y1TdH04cFYc0jpO1HvFzWuCQ8WoVUgNDUam0ygFUeYwL04vuNvZZ3jeT
goupLGBE2MVNVdjFPqqT/i0DBQs4xFCqI/bffgtwxKg8W4s1knlZkyQQmh2/FMzXPeWf0ssRJW/N
oTKZKrs6uDMrDd+MBubHa4BEbKfaEPh+A6Q8ZB3pM8JWPbsvhTs+SjJhMYg0GZL6KooCpISdQXuk
LhP3giDDfqOnyuAbbIaQ4AeKeAprpiC7CrInS+/sLYQAZfJSwhC9YcjdczerK06e3njOeibBDFUp
NY3jWpkvR2iYLJlkU+EIiZrzpE9uYGJ+N+3kAQw1TMZo0g8yDMIdnc5Hotr4oOecQPIolbsO6uJa
z/sCWCnTjarbcBBcOddLiYh0Mqw2Pu677kw3pLaJgi7Ctg7eMVfIifYkMKt9HyE5ygluyzN3w+xK
ip4BuNajFZMclTGu7otxPnbB6wwjyBn0O+n0L1od7Z0pfBZp8xjpJtLdUMmv6x4TQaMiUjPV3AZy
6KStD+sq90tVa/AnkKdxkcMS8OkXzrs8UzqNUhQ9sMQRZJ8K2d4qTQrSunSMhl643l2kRRyaXmMJ
8TIOBTB7TqEDqivC68wdb4MxN3alWRRP5CuDp5KDauwoLQ1vfRK0tzP04u00lsq6qCp7VyhTiEOK
ae+V5MWe4qtG0oZpwa8iyG3LlwwqrJUllI5k2PWqFj4VZYsDR+uctVWGILxC92AUaXVtpRRcPM0l
ILHHSbcHsz7cqzJm0nGcnh5XHIpqRbOdPStgmYnEQyt+52cW7G2OVbWeFIuJ1ZKRSc5IoxxSPDlr
1v/NpZ0BNlublFrXUnfzM6BhigClUhL0mET2NnHVliHXLI0VYlyS1sHe3SojajXPpmj4Da1A+cSG
XT1Soii3kgQHPu7OxRekkEMbzNdaMqx6Ny9eW4qOm9Fo1Re+YX09GQNGkc6Zr5Re7daQsNGijJ0s
90bhKOdqZAQg80cJk4ag4EvJ4mNNaiOSBy0DOxI4sR/Tsz/mofMNdNhBz5vy+4x1f0sycHQLibe8
nbHrrbqKcJyYJFQ2da51DdhSfY5E5t50qa6f67YaePyV4Y9lKHzOwzK67cCpYEnVUu0oE6F7ZI+5
38j/ae/sFKSC37XxDwaW7CLqh/HboE5x4sd2Wm60uimeQXfXXEOU7iLYt2dZG4cX2hzW13hfy0OZ
VMYe2XF7EWs5fjRFDx/g5GDS0mEIVxm1l4HE42POgu0hd2NIXRL4z5Y1D7ijuidcxclHd1f3dk/C
axfFl1QG+/vUpDI4KmDCS7dvXM8qh+ZabQBnkQUsp13Beu1oZa31Nmi1Thc2KeJrg1f1mrDXCV2U
MgAvEDb7YxLJFW2HzbYAUx4P2aZOnGIX4Rt6aJpcQgBEXb02VBoHXllDyPBZnCffOo1utI4PeW3m
iiQLPs/Z2Dhhrp7VUR9dKJZarDXiqnd9IIEnGxo93ilCGlFZyYZw4czgK6npTk+QFRXMRN8U+Hor
J3MEAtQ5YHNYtBepPV7bAUmJntOn3a7iEuioOlXxzv81rdVgZiwt08mxAfopNb2OMXTEjRLBu7BB
/azxcdNMrYl3/aa1GgVTVWV9x2/XP+ADjIDGev1S66Faw/8Z2ElJpX8hWDV5KghwkJBdF8FJWZhD
fGNEEfaZGse4/3c6bUmmMKjf6YYLpYRewRdhU5UbWyZ15LW2le9SQ1GN+zwImvdeTzK21lQOi4Nu
5paJEwtez9GdYlS1c6DZkw+6RA4+K2lFuVTFEnOrTVZGnqMQj11OgkM1O8ZNNhsL3yKuJy8HeeB4
rPCTkq9dVM6afeZw2dZDzVAwz93oBWns0lQviEhsS6TpmLacaj01ctLP/gnIjQWNKqfEByfQqe7p
+ZbE47nNt7gXBBEoquUh+Wefpjjj+1y5CN3Yew+HWSnz70Kr+k1TZUyRENcY/tWhN85yO58fdLIw
3iPqQOfqLJRXLr1+6oKhwZcUVO2BqZBh4GP0Lgnt00VTWk7lOQT1bXrRq2dUw0LG8z7P4J4ZGQJl
MuUvYzxqFwT5Js9/p/PaQ+18TxKZUl1n4H6oMdqka8cYjkkbOeVqgDmM5WCwqqemRq6RVWbwSEuJ
76rPYjZ6cXlb9IFzBrgyTDeKY3zHTLb+GfFrtibNE+qZ2yXnN02HnptNCcwrZiW8iSc7uxu7sd0Y
ahUeq8jRLlORKj9F2PDGu75oNlMxt/gHan2NIQAETa6X8oFYpn6XMH3dh2kYtIzwkZV49qA1B7Sb
6QtAG+R8Q9lioVPDIy5N7Yogb8XymAEX8yDxtcqqHVvQ8eM4BWRg2BGz5NjjPEUG+ziwG/6ui9rZ
U10Nj3o/vjVa/yYb5ZvKFsDLkljb45Mcfac0zI05MIQiTOjuJfTSg+NW7llihvFbT4gvlv8yni6o
bDEz5Cysl1wCG8wdHrl1JWPEdmOlvJHODgid3to7eFO4jcshCoSfQ+vejJEZCbA2vZrCDsIu4uES
UidPNSYTESPJrSZkUK+cArbg872QsqcfOA/fY6Uq0hXpJu3lGNhXPcHJ5y1jsOCyAj9ux4aKTmp0
x75F4ycHkwzTenrCkwHLTVeE6bMxSbdWO2FlZYgYfTnNz05HHQ4SVm4+2dIZLtXaNh7JpOTKmYY9
6ovtnh5Xuaa6ZNwzO61MBRyElwSTuFBIolqxlgGTDjfPX4KZoyLHMWnJHs9WXb1O2Ui5Le8UxGrs
dZUR8IlRDy2WrgLwfUkWHrdQE/uGJW2INJOcGK8dmZLbVB+3aPSVbak2mZ/jiiE+uNOri0ZXio1q
Sntf2nqoeox0Gopbaf2glJG4PgECZFEoCSE4WnOTBzK6IioX3bKClN+2OuM8CDps3ryHkzUhPHec
ckI62GFOn3WTpqsD86KL3GPZu4+DYtj30WxZh3SS1Qqhq0ZpFlmHYO49dEDoz52+s4DdxPVjr1nJ
kcSXfMXioMLK3Q+Q0UlcRKMxnI+Dk5KfoSrT2iUziD0Q+6trm9DWjdkP/VESjvEjlDMTcAa41RC0
0UicKb7llkjvwrCbbxQltO/p15dsiTBEkhfQ1cbaCQGGZVaCR9EsWufeUeDuGFWm36Kwd9nPxsGK
LVC1x3zbbCoS5VdykAnpYWlfrEySkT3XHHNAc6wlt0zTCWwhZNYrJRUYokELhCy3pv6ZYZQMYEsR
hDW4wKtmL5jjdk8X2plXU1NX+aaJ7e6m1Rx1l7G8B2pKeWRg26UDKXLFoFzH2ZRc1GUZgDvK221U
yswfBmGdjWZRkySkFRunRrUt+oY9UJNZvgyS6ioey6smJ+pEGwOvkPpzXFovLqFnqKIsaK+s+KBF
RXPe+NjYV+2UnVu4O3dEDqk3VYnNsy4M55BPQ3YeN+ldEQGm1LI+eq+R6t/a0jTvOsJIsHAZ81qp
e9g9Q8ogbQ03Qz5gjcpEejEyk5KlV6wJfOtu4MKHt0D2823TSmuj51SZKega0JbMDrN31W66BiES
zZCnzpH4iSGIbccgJxxZ2tvO5DVKovYdlMf8Os3qCoH9uFpyglejmG2vp/OVxlW+xy6drWtZpFsb
xMoqI8O45A03wvVszBGA0G4z0481CM3ea/S61urU/DCbfD6Gw2BcOkDrAKvivK+gp7a7gvrT1gzU
bgNSSqkRxerOGlpJvXCNCCOperwvTbdJJhsxYUtruVqrdXZ0JGqRSlm7uNLJV+megKO9do4Sbjtl
1PZTgSOsdTLrulPlqmysM31ud0rF/g4wvHkkivmS2m9J7yDfllFyXSpC/R4B7GdoYjusD/lIOb+f
jhTAvqXgJsNKRas3ETAfxxT7+q7aGzI+hovZvpVj9mq0Qbwi5vl5nsMzxFBIrsK4ROak6WGOZNfR
mQ4UsakEWyBY0ntbnxCsgh5AptlCPENEFttHMM6wJmY2yFY22UAT4Dg7Wp5QpGQ7ITR3fC6wPB3z
PjV9o7TYtHfjJmTM9VU7THufCMPvAKvNW6sOUYGGkR6hiFV0a2NOSbvLpqkyqbWU0UEogN4B/mri
SfaaEr4E/AKfp6ws9r2udmeYNilcA2EnXjr165Tv9v+Rd147kltrln6V8wBNgXaTBAYNTJAMm2Ey
I9LeEGnpvefTz8dqCUdHfU53DzB3cyNAKlVWViS592/W+lbp0Et7M7QsMlLsklFGHU33vqT716rU
uhWh7IW9IU1ut2QYBFal7pGmYYXK+2GYtqSSRe++6XMrwjCEJhopRXyTojlm5Uj2jf0eRIjuVwq2
BkeuQsk/iIj+xAkSoQyvyOiTezswDY1UMYtQgqljP8KCNr5LjX525mQcHbh5zETh8iD/5z5Eyh0u
5ynUaLwO0UM89Mm1a3VOW86NfKOBdJlXg59DJBWRMF/B+XbvU6EaX78C72vd7uBc2tTNDX0dZNQx
Xc8zaTdWNSntNja47lOZHzXNYE+36JeoSyypfmFQXHuIwWtWmK25N4XBDF8yVzqwWU6r9CTkYqT/
rc5arO6aDMadjN2YPdfZ4H6HMX3WpODQxK101ZVhwrAR5MG9QUGCFD0NX32CneiIK9y0gXxnTspX
bRAlDv2t3AIij9guTcgwY3vTZ/ZbH/QPRjW+6H4ztiteXN54EKS7kUi4wArIJ8nr4mTDg3dEzYOe
ka7kBKizEdko3QN3N7AgK2FKFqdlBmY5o1NtJZ0Y6XTus++ZsAen1rUGk1u4y0kfWLWmT8+k9zIq
E8FWCr/DcLWLvH0MOpJZxkhjSJ0a1SlGwCCnyRFLu+8po6m4Cgw/LO6F77/QL2Syhyqtcs1Em6G1
a+1bpMRN5tRiGg9zC0HE6UHOUPhGrIWrlks3Q5TKqsKxmBdMcWBvJ1npXNB6msr5k4HHTXPjWpFv
RaHF/DSSJZYjRvzaBJBWp54Tl9nqeIwKo3ZVf5xfJpOuLXNYZTHZEDwsZ1FnL8OgaAtmzw/WTatN
bwT9JduO6vio2614mapZYfjFWo+SaCZhI4ZafRxTSa5WpsnHgB5MijdZE/hnjdHQJ70pXcgc+6eo
DzCStHx+fJJSaCqebyjpIy1c5DZ1vUkm1RkyRT7otsS+oOmTx4y0pLorh7WRDU9tg/a5KYJHFsib
ErvMNmWXBFixxtI2TXXoGrXBjDuWzlrASpFzJXpsC6yymDXoTHoetFUq5Ponn6NTWZm4OKJpY6q1
mw9p4QnI047OIN+ZrYgJfFh6oar1boPSBui3WgZre8pgrxSoYQSWuOhD7RCcImoshy3Qm/pFzm1m
q0KvdkasVl95wjzWHVUekCGqsZ1BZ++vKQ620amUNtkmpJkyXJvNOzO0skd1FE296RjW2dA0gpnv
CyJhn4vgPiRVqDU7Kou+jPZsTlg5qFm6HWs7zdxa7lA069kwP8xjBBLFVIbGVUNLhe0rg/XNIRFS
rcTxS8yp+ElwmuLkiGuugrgW5sRjCWpn1jnCDLO/tAlrs171aeQKVToAvixpmWC+72q113NHGENy
Gqhj9v3kB+D9mlJnm0YYWUNG5AIOJxKFSPKWjxwwaveUNDOSf2u2vEj09QYPe0xZB+HQJLhoNYTG
xmiooFY0peqRDg5Qes1WsXerar7Py68GFuZ3kcAWqs1OukuWineY1egBvV5x0uyewKssjS8xPvkt
r5J2wbQ+P+mhanqWTZCS1c9otA0DFvjcqI6RFKOjx6S2sstL7tA56ZRlJBf4PuQcTtzRAf1krTtO
6Y3Q4GRORb1sxiof9z3jhr3PFsgtEzt080gTDx2s4mOiFManYpumv2Kqx+WRxFi7Ox3CQgh0ZsH6
DC4zJM2VQ9IBSxJpXkDSGleF5/M+LBUepUBrmTvMxYOBVGtVsIcilUZr3JhDlgFVr2MFB4JLou4U
uXCbs2uUlcmma0T7XPmcdQU68ngzwPU0V5Mc8zfOpC7snTRfYG6BCWPTLMJPHR3tq9Fb0XlSm8pl
nYjlFqHiitA7w7FMG7OkHAg+qbTAvqpNh1CyuHKCouenMxSV9S4N0iu5hN9Bb2pH/IUXHiim9UyT
nCxt40soKVnndnG9dA56mI0ne2Z1vSnpersNNn5Os7Bu+i2PdUX5qDEyHTIr3EE+DR7NSm6m5SLq
ZReYLWFVEp8skoHZvst7xUd7ndWfKqxMjZm7b2rtuZKyaZfLo+kkidTXTjvEyGfCFg5QwLDoytMV
PSd5qbwMqpa6woThGUgG5jVoZWeYTmRAmh39JQl0rJ1TRX5Bddk+JjPcad3K4AHHs0JiQK1WAI1E
8G0Hs+WWvpx4tpinawU+9i7P8mzNbZF6wiQCJB/lkn5U7lXWL8qvLpk0IS2vDlJM96UGabo3ACbt
pNYmFpw7ZHFTWsCk9H4+MWhpd3OYSO9JEIgnraHQJiqPAHVMXMxh4UuPURytCSInxGLsviS7UnfR
oPrI9tUBd1+oRHf+PIwXnsiUklqvXwvRx5+anTJLD4P5appqPxBM1jHUmVgfo2BwmRrD4MO6DTLJ
6G9T4JOBxHLDGh25b5urMmbNSSfl0jjJVt7v24nICWbUQ+cZ9FrbKoIo286JfJm0kNQSSWRABZUw
9UrRolFRSqZ6dmze/F5TT2FZUIgoJkObVB14n3n1SnivUPDn9DGsMyQkEhKquSmOUiE9mrn0rSHt
vGWlVD0Une6vpWKMlqq26B09ip5kqe7PUxeYN21M+geJqFk3ju8HRq1rVY+7l6QQzcVQtPFF8sPW
w+jYHbQispzO9LsXjpUXkaTacZKW+mDIkpOW6OohTxt5kwZhdgla4uJ8o0+++t4nSnFQZafO+ohW
ReZ0QGC1pTfEIFOVKjBl5B/GLjWbatPX1vyaBVU9rQhEUD8zTaIea0oZDAt18iGOjMDNdcFclsQ6
WG/mTIxgh91AX6QReWdxNAUlACvB3Ee0m1ozu305+AUGXEV5MeyUGAaL7ypbYbdT7hm2Rod+brU1
M9uYr2qO66KUkx0BntqlNKvGy/DHuVKYWwe4/4hi8x9o/2sxcmekfjduKKNBfU+aXq3g98uO38T5
thJMjYUVvFph+IVK6dti2uoEbLEjX1nDTSPCtxHxpqyK70QkBTkn0iYHNb7KQCiXyURgSNbfQfG7
G8ziacSbao2zCWOOxRDwC5m9cejxyjqdouP9NZVd2pfXCbgWiiEHP2NIkmKeOsZAsKLBVqhdDSOL
LJDdTH8beRWo0naWq32q6dsunu70iuk3Njo2QnzJbWON8VoHM+uzcY9oJrsufjPLqV5LZhAfLVAi
V5X9183I6RiLOWIUnhH38G9zIVM3sronObIN3qUw1I+0wPJ6toJkQ4hZ8/hLnPf/sxdER5ePZ0kF
3ULJTcWDGu9fB3u771/1+9/e8y/CvYP3+m/bd5an0d/+N//Bfc/e81+/BEv4H4wj/+yP+N1Eov2m
LrgM7H2GIZt8G3+YSEz5NyaroARMnJoyCnl0sn+YSOTfsP/C2uAX+LYX1MafTCQ4tPHP4Tj49SX/
76ix2j8RYzJKAGWsYPPgvPyLWJeQDG4ujmrPHx67qTjaN2UdrEPNge2/DJxizAJruXnQHvNxxcE8
x49NFa2j7JmXAJeW5Fi97shJ9kaOA0g12JjNqpPWJnLHHpS832S70PpYZG9hGZCcGj13wxsAfE8i
uYni5cq4ZDWo01kL67Um7UvrZ0F1LXq5Xj0FX2FOSWmAtEDEPxwLdCi++EFP7yS1ir94FSmCCpit
Il6ZE1Bsl6RXyp+JyFICADhYnFFHPyRtMLLU63jRunA7ncbwDRQ/LtjhQ7bzx6aV77NqDt0I28MK
YVXpIVZkqvbZpmeBNI7hd9ISl9EgAiKAhiQETtXBVC9KHF+DdN5pGtGtkwp6K9snMrehyO60UaGK
LsszSZakQgS46cHFiVi+pArj25KZq6QV30ZHoZtX+qscSxt+TB4gDa9gkhoTpKw3yXqC21i3NJ2i
dtOkIdS8vbRCOyHd/0xMcRkLvtdhmgxmz+rTGE2PhTRzPdheoJOsCeBUWYWC5ZPo+apBGF0w7tDg
46GnYYlOFQqtePzvjDH/iaawvHcyfApAFYvxV/zl2Up6pHJRgfp2nLPHGhKpo+vNhdzaLfxsz1Dl
CiymoFbJN2l5NgjpNhT90CJycScZ3UPWcDz7vr0TUbpNJHkddcO6jhM4o7520fpiPY7GdUlMBT4A
Ol8jCzc/EDO+qcuchdNakSwPXPmqjOZ74hQR+w5erdinlh9hOUU/em08GMmrxMe88Aoibv8gTtaB
Ejo1OrJqIASBdHTLNl11LNDISuyt5EuN0LTX9Msk23dCD47jtAQbZJssbG9x6Ts8kpvZRgb2JhCr
xHO3r8RMWjQ0G6kIluYVmrLNU0nY7rokZtLKj2ClNpIPEjezPjIQs2kqbwOGE7xLjewk3XwHp9iz
LP99Ko11kRMhxhdcdb8CP5Rpz3HxrKrBKc5vag2L1OfSUYZbPr7NsTEeSlB41NaK+Url3jFtT1+Y
PHo0AhsRL+GrQl8rSyGg1V8y6qZVj3wymLBJwPc3CCZmJcEqblWK+e1Pp+v/xKC0PCWQNhaolSqT
CPsXBf3fbzhRJN/EjT6TrLnxSQWv6tCZ+3qvmDXM0OQ0d/05aGpggeMpogJTErRWbWXeYSiO3bgp
d/Vsn0OV2UbUPjSWjQCxTS4xHv8S9cR//W1jnvqLzeGXxpt/yAanvyJbf3XGlVVKJl7sexW6n1Ws
ans/4Rs2Cmdk47eqUzq+NCSHh3OxDMRWyjikKqV7V831SJxOFRICZUpkt9XVgHLMNHlmAxVoQbS0
KepKFekJd9GVg3WjpeMlirtrSb7GrOGhrdWvwBivmU78gWZhEaKLXSFg5g8WbUHelsXR2Ks/7Nq7
FWJ/6U7LhpaHkSDctBwewr6/DFZ3QOwVoJzIjyFwmLUQ9ltlzgqM4P4mlPRMRi5MUaP8YSkTIjgt
b0Mr/di0HI4ViR8hpVcKr5dsjjZ136RrQ/kpyQEKyctexIJRUKFh01ezRSZXaDwxc9mAlrRRpn0M
obSb0P6z5vUaBbf7QL0f4hk2nnNIDUMUAocbvcxoj7IUXRpiEValrLqxZW/ZsyfMJrvnuG4fK5no
mFx/mZPqkfjvc6eiSe0RM81SC8YAqCTqOKPKr0Y4bGUmlnkbf/pyeU1D2JEM6YincJBMuCK2LkEu
74pyuAy65YL9v2aKit4sE24n256t2A6ylTXbiDU/+jtZSb2BhobVxTPhY8xoO68FT2qQIFbctf7s
YbBatzYuacbBSvMSz1dfaE4SWW7YHewy2cW5/1wvteu0VLEx5SxRKxsrmb1wIMml1lrkikRHtOLS
ybpb1fEru0Am3ktdrKqg3+alVibrrX0m/vi+CLQauWbF/mRASoBwPjLizyoFwySpP5GV7XzJftZZ
ovlS8WUF0rrs5pwsYP8up9AkZqO4tFWyVWci5WhkIVk+JEF80NVpcGefzcJsTI6UKvz+1sUEsG7i
wfWDJudmemFku9XGcZuxeCOtnmKZDKdHLcxfAhSOY609pa3FOkm8GHN1G7OuRdDT7Srf/JlV7YD8
Snh07AIpYHAgy5wNXjtNbh1YqWfo8x1YB8bSxRk7Qb0xa/ldb0jzYE78UCCRSypIn0nXvpCkFS5u
bgJ47OlS6+1jP1v7ftmDaCgepWQH1v1JmErutMoIqim+KY146dSOpcX4kdH4r6Q8dRV0+9IwuqMs
XzKc6yzSnrJ2gKzJokG3H0QnHYPkdWaVyhLUsf3w1PQIVLLZm3ja9bj8mSNgNnxi42hfx0l7ViuI
fS2rXaVi8/TRJ9aPPctvI+RmXJdrpbM/Yx1oZsZoIzCMB2C7SLRoYD1dOtXWqVROhnbOu4e4jy61
lLl4B1dCA9igrtrYesQy4CRUHcXcOjnZ2n1JHmX8nTB9hGnsIUcz7dvAwD4a9ZWW/iCkchX1tQuu
ZpBthIX2Rb+XSKwJmoF2V+VxkYA/P7D6W/IC72Sf9evEApQ7KkKdWZtrZLBeEiUrQqC4H87K8Gmj
7MpYQbfdYu3hvU7UF8u+ZCyazfReDoBuc1YyRFITVMWGG0QfAzvNrPsZkX8g6/0YoaGvkQR9SCVT
tjrYJpHy1Q9x6xCnCJUfuMkE8nxl2IOLFnjV2oW1Q+NorqTeJqM+yJ4icJ/eqE76l1TjqrEk5I9w
D9ZDMR+MOr+FQWW6eFNudiK9Frini2S+MYi4zH5rOj1CAEfLSaIL2iT1SD0DBiJyUt+G/LPo5o01
m+BpCZTMopoJDeVUEI7kZVWMOuTSGxjzQYp6bwXlMC4GZvgK829GHcL8IE57bw/htzV1NxspkINZ
ZhvHU+AWDaWJ7WegdUwZopEEKKUndQ1BVamQhjbrdwg7fxi0OrGygZG513VYb0V9TIaS01c/YkY4
TVO7sbRKdXVfC9a1PpEMPhiSOxAI6hKRKTkNE3YvTVBh/tvfTVKlYV8S2tAVFdgNxepLPTOVyYow
4WnwkQ0pez6byPNhNqzU0kfSbZqtY2KCWckSZmDEQNf/V+3o0tF+FrTIURC2zb//r9873MXn/w//
4uUwuaf77rueHr6bLm3/CNlY/s//6S/+Hi7834QUs5nE9GVjBvvX7SUO66J+z/7cPf79t/1Hy2hr
v+HKVTH7Mclc0DX/AR2w1d9oJDE54hO2Ft8cbewf/aLO71gUJvg6ZQPOEJX2H9AB5TcABoIiC0Yc
vxef7x8fwO/FGZ8dH+U/h0X/osr9ydu5GPcsXPnY6SjqDf6+/+ggHZVmzhMMD1usB5zjTDg3g4Fb
pY6Vk1Y39i7y+1fAouPKCLpv1Rf+MTAybfWnj+yf1Iy29Rff56/vAyOkaZg0yrr4q4dQswOpUAq/
34qkSbetySZKS9bF7IjuLgwPesXM6OJnuIwiEPCTQSGtBv4xDpncVLV26yoTCcp2hu4fnTQ5P2gx
iWSRtawXCQcfhHlgRh6shp4OyWjvp27CsNCw2imF7Mrd4wDvF9GbN/q5F2d0Ncl4HhJ/r2qcBJJY
0/c+61lwlmISnWKUH12kQU7RgncAOAULZ9QmhujHciUHdekRId+47BE4WYvopWnKmzaNUCOnbRxo
F6DGGrtPgkj5YBtNa19CwZItKGZ5DYlrhZXnrs8zZW2EgTOpYE2Ktag0dEbPUjKzuYivlWj2eLG3
qmbu8xBMJIenbFZXOqhXq00Z4I/JydZ1tk8BafajXlhbbBTPdpFx7cx7MRrfRRhtLfmNhuSRfTlV
pXmkFXoQvrIBPc3ykRNGRaWpEpzqCFtlx5x4aDg+iHf8ipCAb7tZU1yQ8T+qPfu7xlDDXTZr2bZK
usodzRkvynCUrK4h6BN+4qCojjaJa5YGBII+NAinhazB7dKHazUGF0XW19qwivm08Pin+cTOx23F
sK9i7TGzrIpjSV+J5lrl4w/mid3YyK8z9ehUyjaLkvIFSu4aNNSBJEEDXg+FtV9QwtmPPF6rhMmH
0PQVsLbMHdvem2TM45L/4mNQ6rl00frkq9HsHhWNQ1j5KrLs1Mj9oetHZgcEjRbjDOqmJXaLjAIn
8VPXHtu3mMWLqrczQmHYMTyaxFQ/Rhkp2L6cfxUVW+8pRBPexEgAZcnL4vZTbilefBmQN7EIreAy
UgYSS+HBZcpNz57Nup7PBMsmz/2cHZoEK+LY9xtrotiuiS7ZwWZ0zT45mEApRJVv2zB5QVvznUjF
cZrPpfHY6Bm+yEqKONvle7UFDCENM7Lf+FknVnhLKpXbxyH3o3nXj5UbCIM9l3bWp/vaKonjsp2G
iJhVoU8FppUGPb4SuMQdX9rRT70ACQXS56V0GA03yo1ka4WXPlDu8oKWzd41OQEK6G1WHAeXKMK5
Evjjc4n6ZE7EBxqlJeETP6Ok1MfKVmrenCR1IqF5E6Ooxoo+jNQiluuCjs8ZSuU+yzKuRn2dyvOT
bGXbHux63YYDsBTxDIoeFVy64dEwWZKp2U5jur/qFZkJUy9ORafs2emdc3VGPaoi5u3M1wiaFtU7
0j/20dOkrdGynk212ais8XKUlAdCdTxwp5+i1y+Kj7FMD1RSMTsgkq1xJgYd0YD9lifVLuqMLxLe
dzF7R7BY6M7VIiP/NEfFJg8L6jBeF+ZouUodPyx3oDP78jnQzMjLlUtNYK3cyHzyRL4GsrSzyuiY
Rfngkgk4IOHtEa1EtALCuBi1f8/KEgB6Xt5Ifd/0oY+QxQjhiDflB54OV5/EU8bWTvAfqBeTdUpq
Hgiq4kBjiYq8Pvt5+9pNWbllnxjSrVpP8zBdzWFg62wfR7M9FIHP2KC+yZJ9Rh3xiiH3TW3VdUdv
IU/dK9Hjz8lkZpu25O8hMEZKhVf3E66kSH2YdOnBtvh4MqVCIZHv2w6PWZdMM8LMglEfMuitaQ27
AQ+FqmqbuS5/tCTb5IB+LDKCV8Pk7/DRqceK0DesSeXoKJX1zXj2aTRGVN+J7lXDtIapRHCbDrEq
0yhbyeTcWrP9zoKdYMfG5vlr2bwIlg9qLD2qhXZH4AqrzLo+sXt6ruz8YzLNCsE40c1y1rzHicmL
kTFja4fX3vYvuWTdJJxb7K9Osyojf4nNadPgClCLYDcHxN6yDFzJdUCPETV3Mx+r5PvHpGe+leCI
1CEkrvAug76UdIvVZWA49egjX08OvHq7Vulyr9OlS12icMDTjUMzlo66bKDGCCIwM+WGzuiB9Lpm
wd7j5u02sM4B9ZLEY2KbEOaxs7VdMev7oRmwXOxF2LI7sqJtISElnvy9MF47LXn0swa41aKZwHyH
bKEqOITkwl+3ob8pa+GWxVvY5KfMNp/7WtmNqc1CUz8MTbsd+hJcL35JG8aiZYmdHCH8S+J2lZjX
yh/cqtVZXqEkbJ+njPX8kG5ZTaKeV3DbtWd16LfJzMzStDdR6ycucRjbWQpnd+zrm/Db9zphRhXq
Y7IX9bNlk0KfdisxaMgy1e2QduTO3I2z5makvNPT1ffSzKpt5OQq8b/aMa+8ZJgXYwy/y+nAftkr
TPkcjj+kUZ1Qrq9jxOS1rP20flF5GvFFXaocqN+cfoh+IjX/CgP9rIn2pIl6i3f0Jk+Dx9SF3qS2
X6yYqW33g8HXqSaOTuCXjVGfEBPxEhYvvCJP1WTszfQNL9Ar6fNvgRS7TRLfdXJ3NmPhaAXaJ9UP
j9BBnxHE3NcN9FxGYB1g1KnM0PtlGECklLgj/cM2q1PfqdtinI4MFDIYq5oT28o2Q1w0MHzq5u4l
jG0vNWYCT+LPuc4/sl8r96OFdTknRQmHL0lPYXlsBOyXlOCjGIRRdCV6TONQCAdX51juZqZrmaO3
jDyYfUK0mWNrN6jpWbbRWVu9p6WYF3Sf+7NoN2J00x4TbpjIxyJAtpDa1V2gJ/c1o/xhRtaAziIM
SETK2tfwmKd3avMY64mrVYwomvhUkhKE0gSSRx89mZFprKRZ9XJW00N8MdGvsI5Lx2FbZM2Xbo+H
EC3RWPEB1uqdntEAijElfyjyggaG3xizkxdP9Vh/kEnke62uw4vuwye2v6iwknZ2xjh7HNma3A+z
rTgibMi5klFLiaKghUfiPeChTFDSJa0KQkk3LmgkX4N4+lT97rnpmedODVm8ev1UJwRKDfFTbKKj
NgYH4fgmQDsg5lvfYvXl4E2gt2pG9lARcM/Sk92h4Zk9Qglcn4NhO0M43tkkbIUsX+3hJw1RU0X3
bWXvMdBd6MrOcbOXoskVqemMD+McrotmHWLtxGTQuJJak5gVhtwfzD8wLmPmDdwJ5Ug8MKt+DEz1
ORjkh6iTOQ+sTRTcaOk3rWZsu0i/gORal3V3N8rZfa9cMo0HiCj5OXqTZODEFf7SAu3hFH8MUL7F
oN5F5eJEIWZ9tNG6DpX4sfOnkHcTrfZ+gerFdUGuN41EiWO4JbtuQgxn3QQkQFTO7xFUQabFnWv4
csQQOvU6yXxOWg1JWvVUzYhmMXh06sG2JECQHFk6Jenoi31FE6pkt97wgmLSMZzD/LFXvikQOmXZ
YyCbkpP3cbS3zeyuI9CP0rKZyX/Kk2NpiexTMkKSvYK52Pm+VlND1nb7ggypeKrauSdD3CDgNm2n
H5Sn1oXkTYvoL61nPFEknp7Y8sYwYnqHWZBs7rNEJ2xjBFNsyJ8iJzDW0jJxwN5uMClIsNbYapk8
FazmvFTJ7Ie51/gkpTZ8y6iGt2lU+oyXJUPx2jLATQxLqHNCwri9FBdzPqbRDsdNsEX8LH/zR1qf
kAzmDykjxiMzmAT40A6uBdEUawXsy5ndeb2X8zg7yJJZX+n3qI8pzMZVX+fNfZUl2g2CyyKCqbhb
4nDYISgv0dHrwa6TJnVt4ra84BgZXX9Co4LJR00w8KT2pivK6pgXceBx15Ton+15J9llc1Rz09+n
ddfs7c4kUTyRaL0QlPG5E2h3bHUTkZg6HQsy9KhnUBNdC6s1MQzK0yeSjQrzi/Ax88/BWYdq80ru
nX2K0bY80ujw/lhNkH1YsehepBTNPRK8MD7rfWvcWA6ED6wfpvtmsMuTMrD06fV4PNeFDQBNf8IP
u2ostGL23I4PfqHoj5KuM+LII/jKhiUN67Eia0/Hx38PdaJDj4aMjgi3FkteZG6zosPfFDM5jHH1
X8jebi+G0jbopJV4l0VsoFghsCMKopDEP6tbKxM0BqK+UTVopUD4ghRC81VUlHoM+iEMyk22NNiL
9GrC5QXWhXhZYA9aaDxrXcBAmOPpLTZS9VSOnbbVY1M5SEAAOVNwLmVpdCnGtzHsFq4Dlt82nc6q
OnGTwuLqrw1P5kRMQjOh4SYvx+2q+dNIY9yPjF8NdEb9DQPLo5UjVqqS12UBpxtscgvV0WcS4/Q2
2kpiPFQ4l6Ny2eaZeMNlK3B19n3GxP0rm9guql0/xfIiq/gSKZeZGr/rdYLWL3Z6zEkttJOcyo2L
QTcArJTos09WoMsbSE3PYCJuOK92kWydUr1zdWV2wljjO+42fXJS5fpJUVobI1LzMs9hCEQsoqLM
2Bzr/aMvKTiGRbqSOImiEOndKO0CazpbiI13pVLprkEQ0zbLMYWjuzpPVreyVHAuBaZNuwqPVTQ0
QNEoyhuE652qr/u6xUwqqS7r4e65C5GfF83BDq1VZFvrIM1/yvx3Rca/nLlo4h+HHZYuDIF/zaDX
NKCeyPZfhi7CiqmYDDFsRfpMmx8dZkxa53FgSyIp6bSH7VGdxiKY7zmfwoeBdMgbm2qil1GcD3iD
8/7FSoh5NH+9Ksny1kzL+2Msb1K4vFPJ8nZVy3um/HrjlnevmIPkOmiIelYFr2a3vKPW8rZOy3ub
Lm+w/+tlHgOt2QNHkPaBz7s+LW89staSpo5FdkYg6RHmq70ZukFbAth9RrV+Mrm5UvsXFBsqS1DO
FmU5ZeblvAl8Th65BYVR6YN2M42Jc0lpqM8DrItXOS6aq1w0GVRkAcdgrttzMNON2ctJpy6UZ385
/cRyDhrLiSgFhfKtLqdkPbXRDhEYq5EqJFZ7OUy75VyVInZv2a/DtkttEmkTC4lASZ1RypP9oMeJ
7YVkeD31rDO2FmYXBijssQ/VNIT3ul2AJSJm2kN3iwME+7D4dQngp1Q2ON8S0HPcEf5yWxTLvRGz
mviRl7ukXm4V5jnFk7LcNNDzuHT4aRa7QHATVcudZC23U7PcU76ZhrtxLO6K5Q4Ll9tM4VpDAEa8
uzU38xdDwgOqSmRUlao0T0MNeJdJc4vcLkrV58kwGWplnTq9DvYY8NZoBDeWAQMoaCy214keA0xG
AUe8u7rSxvxkNml+CsMw8tRSDU9lz5OnpdW6pGnbCim0Gwcnl/+uZwAtt+RhsdSU8YWvGyQxNba2
X38icLuMxBCrMbmn8dfzMOWstpqiSC9FHot3LA/qIYs5JDZw6uhXhaJTKWStlA94vsCe4Eu8xzlp
EzJIQFKFYV+jLqFbcLpKShh4ZcJaxazgVrJRjl5fVQ8h3eZ2kPTXmmE++/KeTmKmrsRS/jSl6OGC
afRsyb/FcXVL2xCGzBDDQJfy7DTIOTt3GvZvmphnCUDbUets22tK/bGPKD1JctM8GUMJJ2wI77gK
UhAAQrqzCF3Cs4mPCcVmdDOJWF6Jton3oRA3VMM3C9niIa7sZJublNldJu8DTUFJ3hN4gR4OeD5j
uQSfqECwD87fUqKfaZKIvFxkKhoTM09VpjtSZGWkrPzvAw+GE5v9i9EpxT4HX7vOyX9HJ1Oom4rM
BFfB0b5qINBYYUGOfD4gFpYrY80wlbGKXL+nnXxPXfh/2DuPHTmSdEs/kRPm0sy3oVVqptw4kkzS
hbnW5k9/v6jqvlPdg+k7Dcxq0EChNlWRSUaEm/3inO84KxHM7FTs6bmu5pfKKcqniRjoO0flyd4b
hlFh4tPVJWGjxtovrvZs6dh5EIOOKSSod0ouwG68sduNDs9apZhrRh3gayvGmRPP3cdUjvIIVDl9
S5fyA3E+FYRft/tcqn5fhC7o7YWwew875qopsBS1NqaGHknnykQLmtia+SIZfx63Y1hQWtSCdv7e
b4DAxC4VEwEp2SpBvfBSRT2fsKFrxfURrMGnfOd1/jEGcMG1C0P/mbjd8lz1fnR06lAcUAymN1Uk
v+y6K74TibrwLeBAsQAC0MX8ztzge1IE9nq2U8mSJvZu66pm6Rbw3uVh8kUwqI8nteNqbzo080tJ
NqZJfxjjvE35O2bfmx6pKhL0FOulvF/siuxYXf4OuuXR2BULUDWgFsl77OUWaR24oTHkd2jiN2y0
gUALGo+xVFxWldc+jbYjnoF5d3Sv9s8ZYfbWb7Jn2eYHu+Xggtsw0RnX7SpA3HKJpXs2Es5b5/J8
zS2XBBH26YaB9O0Y+fgOBlk1h7Qfq2PiWAlKlHh5y9S1yYxds1tmPfK6TjbLOuvH5QPhQYHvyUvW
csittecz9JJ9Vn9miXGPMSb6czKF2THvve4uqmR/T2JFee9H1vwj4vw5204jD/O1ohqvtRWcgOHW
vdZbqJKpvK41mGP18mhNMAKjP6ozTlzvWV1LtvZavLFH/HPL8P9aCvn/XfqYCyH0L/uY/42cTbH0
2f51gfXnC/5cXin1jTjCq9TREY7t/ZEt9uf+SrnfXDDEgE650l3f9tmT/X1/Jb+h9qIDsyHOX1GN
LL3+vr/yiB1DOkaBLnCuUf38O/srFfyzasdhD+bCf0ONCYJS+PxN/4pAbUiF6MoQtEEd2d73LPaW
zWBg8MxSdgzxZirLpnhPdDFjSlfqPQUIcXE8f+A85F/evgzt4CapPP0K4j+FU7UEN3ZIe3Oclx7V
Q+e0KG7SNghenWVaNOnHeXBh3U1Aje6b8qjh0O5jXCKv7Nmq3wtPw2uykC688lynvyNedr6nkAbW
2AkepQYqICNP5zS3o/M4dFNzJmq9Ohm745q7Orvj0WBIsx3LfbUCvM/nmovmnOWhSzi58ko6+WgR
R516Flm4/KK17zFpQsM9Bmv4UdHzDCtsX/iWfw7CavxoCD6/BiUrja5amvQlmpV4jnx2CbsBBto5
cyvM2S79Am7ufHG+wjjC+RMkRQULYY53/hig13IyEppIaE0voshIzqDhovCoZBHyu11GcXWlQyoR
bJBhihyOaN/yBiCYHldCY01aOSOu87u4N8NvO0+tx8jNCQnK02j6rG3/OnCFbcQE1zLNbTJr36wa
5vyMHKVnBes4GfVDh8+a5btf7Qbj0n6VRHdDHtLUDZxxFxeu7zGzbQxQRLW7u0Jm4cEZfOSas/s7
YTFGFZL4BFCWudceMgt06apinq+Q5Ag+3WQIaX4XVaQfXZLpo/EggZte1Dsg4PLJr4Tc4e9pv0yf
00RkMEfx2Wbuz1rjyrT7MThZdRaf/aQDzaqM8zxhJrwBu5D5MEUo73Z+jS50O0NfYEzkwb9ZMxf0
T0McIBPUc3jX4hjeNixj4zUpocXJjKW8eGU2nfweXSs0Dcl+05q2djD4H0Uy4mYo/f7JEx6KqIqN
/0O6WPjplOOjpUIvGN6SK5jcsetM0pXUqr8Bm+Ne/EY6DAMs+LC4wofj0C1OgSyXtxTnvi4OthVm
D2lMnb/SJJJfQGQ8FWKJPkJszydLe1dAAdMPaZn8EDutw9tUIchsB94o/GClItxnhNqxLjuFb0OH
mUXhVHVyAb00XTFO3eIeO+AxIGoBf21TM7aPVkVwgzLZVhDIugHI+1HXBcFZQVUwYR6tl8ZDU0w3
chLzVZs8RNXGN95dj5N/BrW0K0Lqs6j1XiNqXEpj2r5KIk9eZHLxhJq+8qL5aYMvuy2C9qlh8xCS
87qOXL3Nw6Ff1SQ09WwlESbFG+ljE7azYKS2CHZVGgzFXQROAHMoys9gx45Ul5umYKCYejPejKpb
9rMwkhlWNvinNmjWUJpQi3pF4m6YShQXJb1gy2M4PpdQx26YurHKYuu4zxnADg90b8j4YvBnMFSE
xYortmb1MWRKl6te9dbI1zVOfuqSM3HDaQLgHRJ9H57UMifJnig4GMkSLuy8KxUosR0v8sWqcuMe
C6474YSb/B5B5qSk/iLpfNgx27B2Ksh8vhY9XNHC9/YCttvWixv7aAMJY0QuxL6Ir6N3wKLRs+St
RQRD+TjVvt4pKjeQjMnkpCuRx80WyugAmDBbgDmm4kkxTvlQdoOMyUnb8Vw4DpwlGen7yFHRjjYw
/Y1rFd4IiAN2e0svzG4y5AGmLrKt1cIielW64/COZ1CwZGa4uBoXnR5MBKdwqBC2rYpOOjdtIKgE
NW6iEJX2m+fgtI9a00JoYR5Z1BViGa8cn0RutwyYBn2SRWMaNmVS7ruhQXqJBO4+y8Qw0v15w494
Jm/VdcLDEvtnW2tz6YXO31on7s5w4diEa+tpqMerAlDpR0PrcBd0YrlzLHZaqizd+6a81HAZEAuB
DuzTlDx6d3yGhn2l1EyAQWH3N1Ana+tWEFFen12+TXcT+MJLlnDCoxoO7ZNHvRmFYf9OToF+adKh
uuFt1g+FXryP3i8DjahQIH5o8jG6i5PBXCCQIwl24gUv4NC720n1rHZ95dwkxYK2coLZvMXbfc7N
4q0T3MtE3IzLubUw+a3CnI9umXS+y5cCvSN+73YdFbFmPTOzq61hnxSJ57L0uEJNhnyp1wggs69G
kwRujwMfUmH56VPuxXzLrr9bgnO478vU2cWFNgcH9tJPe0Ljj3iVo08VjkGrlSOKzu25xxjuEoLJ
Yv1qVI3z/Thx3ddts7MzO9iZRSN/DTv69565wF4ppY8E18f7yEvQgERR/mqVw/LcE7R3WXBo6JUt
cePD2WmA/ieufYyF+9UZQdIlmc8//ASC7HYBksXCgPz4lUfpUZJx1LJ7IkXwxlGdUauOs9VPik+3
K1O+xjq7zTzyY9waVQim9ih2YUyE+mPiPM3W+Hlda2visnqQTIX649SkpDg6FG+rmZykk+ja4KUD
/vE8Z9jXIWcu+zTqLOI2c/dOhl38Sw59TBOYIDszzswwtyOVCSlYOG8DzNykFMvpu+So+YxmmXLo
MnyVGNVF6a1k5tfP0mT5r9wlqXxwK/gtSYoGl7H0e5I5TnBoaUVANNVXrlO4m2Pk9gof+Gmp/fEt
jOIfIJEOPFoK4k+YgQoaF3AY8aFs7Cex8DmbrJpOpolu6cQYtGdNBowQzUGZ1cZ5Il8RYPdAL3We
mQ88jSXSf6sbnH1Whv1RJRlFh7/o7kedFbeVYbhkG6elh7P8PfgvJJFNyzotT7McNLUzPcQR3+nB
CK5Wdhg7YLnTMxT8fGcvbbVWDKTuc+nNz7perE2gQ5+xK/upuss9rKy+9Z0sse3MYp2VoKMesA+j
jpkQpaZumr3atHfHsS0Gtto4iUusCvsJfDTSh7E8zCgv3gIXXT0C9+prZJy1m7qF6doUBOap9dIG
6xjeudrpAAeLBH/5YHZ6TJqPEFbzeaYv/C2hnK3ryIe8BkOjuLpNSqexf5gS3yF0bOVE63ns0L+a
0UrPeRFhdQ07Pf+OIlQFC35+Ej8LK7g18H123TRXyBFbh+a9U+cYUe8eUEp6H7Dq39l4MXeEburd
ksn6hvTGq62OBZUdgZ9tuvkLEmN3n9bN7aDc/mCLmtwqGwWJwrOITjTQl6ZHqm2G6ULRmW6ysPTu
coQYh6jmWK/Q54Cy0XshUyw+yY/QM181vE0Zx+hBqx6LA9gm+VjVdQ38pRZAGhsLhMdYQPMG9ve9
wKMMrtnMZbqGqMo0xA+b5SyDftq5prcelSDB8X0COCZP+CfnvQwgFBHXmnu/KbKYJfuAPF64pJr9
PPX2L+lPcXMCIUnt1yodfo1AoolFRWHzgVMWDEPuS7YBw3IjOgsrduY/UkwaVjPZVWDc6UvXpiHV
3ICARxVZatZVbHfRitWD+z3Xdnwour6jpGSQNfXZ2UVVdsuJ0NO1x8WFKcLYrgpWdW81r7g4BZtE
wLN6uW17ZXA0Anh6Z7wwPOHabi88r/5A7dWbXduY8UETfojLVgbqxrPsXqDKLdmVRlS4G6J17GtA
bJk/LXbgNNt6qoE46gS3UqcXwTDR8W9d6MgbrRtGihSrBeqLOKjQhjKFXndFhwy8wwq5rHVDfsk2
XkRlscGsk1fWUuAHa4C8jJY8BsKSEsMjq7fSeXE7slDPN8AVbpwxkEAkAexSgLmpXGdYmb+USe0f
cQ3EPCCP631AanIk/8Fiox8A0V8XcYLFIioxikJPINqare9cbqyKaT5ZlJP63sFm6FmrtQYLBLZ0
EDtq5zX+HgIiNuyqbjXuU/a5JovaPafW55he+THgqjeJ8pJ9rupiPacgjZz4nmCJ3409xoeorKDJ
EXC61oV1FDXWBD+9XSrEVWNQF5s8ixlLTy0YTRCXpMaRFqrJal2DeNhb1xZDyuLAG7Gsp2pXVtSG
/ElQWJS/BSsKXGfWwQlmwcKHgpsWWZPbG1ro65PXsJ1y1r/x9z5ZAGrm8bNF2cHU5ioWyfo7uvNr
oqa6cR3c9YWwDtjDyCrL9A9GyZhjMrgBvlovYcrdIOKPvnLOsaA185knbfpBIqibQPDpKumPUiNe
LybAG34QLSDxIZ+65Yg0xBv4c45lh7JvgkKXt7sidzYinz+LEVf/kBx6liYbkHV3yyD1/QQlFZaT
WG549rx97UbhhqvHRuRhWljoIY6ZrOzix6hWGpBRTWBsMxK+KCBRgcsIEC/VpbsDBqUpSvFV72fb
jx4MKA+Mibk2LivKAamPBER7CcyQoRfKeX9Vm8s9BAe5whsxHjxLRi+D7QxveCaY0iVJTsPCPjE9
I+yR9WZxxvEhF1mRbIO4Dl9ykE6fvRtH5y5YJv/Q4tOnoPFRC9ZDvO0tVopre6HBOQnXTh+DOp7R
ZrvucqhnMa+4OMRrXHb5Uy/iemIBhcVzDzK/O6Ht7alBFewNIcf61fP6J9fwVRS9+t732j9zwDAK
TWtFgkHzudSpi+OBBVuPpDD0O7Zdthh/OWZIHKpTNmPx4KoDPRam+ETU+btBZwNh3aALq4Dif/Bk
pYi9agDPRZFgiyRheTZc1X5KC+ckYXzKFmc+9IopwUolNll2Tluf7Zgzn1NITC8xaIZ38N3pPsVS
X24L4PbPisIFG3xQ5KAZM1cf/5gp/Wf69j+JyElH/ZcK8sNnaz7Lz78O4Ow/X/M3xzHDtPDqupTI
/YO/TuAkMvHADYQgCYVZmyf+1wTOxYzM6I1MVr6BrveH7PzvEzj5jRA8gS/fYfp2/S//JBj/VwJy
HMUM2P6iIPcgvZDqFuJ6pnHG4PxPAzhtO4mjdVJCoLTUnRRykju6CjgWC8iYmO8XK/c6P5bgQvGU
4BEhpwZiudDNeGAEFh4zGP9PIWrocjMyrnlh++6+OVMpb5dFeM+pH3U3MBJcKJVu9qNKLfd2aOP5
WPLvQ1D4UqzRuHMpN3bvfel5cYZV18C2DXLhfIeuxZOSMupn3VLTGqog/+7k9gRFRjhop137vmtc
TRk5lps+IfkrrlW8gm6TvRTK706tpaIX7ojsJmN3nDIMwnwC5ASoIo/WiOUty3qB/uiqEdMKiXNG
S1HlKlr7sd+ANYKkfAtEt9ynHUkjiNtyFj5oqV01A2HpsRsiMO5vB8igmzBSG5UQTgB9VVyo7+sb
+K7Wac4RR/sMe249QDq7UWr9NPaiZ/vIlZ3hZbltHK87xnlnb6FFjI95yfk/9iGwrFwMGKn824jQ
r9ugmcd9Mw9kcLYexBALCAd6IW9rOY0mZNNtD/61cujb2qzyoV8+AVGCLkyzelfl1QAc6EqgWGS+
jdqe+YYnnOdI4yks+5rMmL5t0vVc6Old9HP80o/x9GaSqPseRuiTSd9aAH+ppUYb1pCvtjZQvNNj
IAbSHVIgtleAnYdmkkKLEdYi54/MNJOHet5L70tFGAK2t/kcEim/bWsCsKjdwC5tKlZ5GwPsHy2s
5VpqbXk5lMerH+4CDbL4baMTPETX3QrbTJt7AAwgNkpgxtHsN08wbvON18DfB5f428xZ+bAkRNtb
c+De6DxGTG6V/eucBfEWN+rwKtnYvlDyEuPaWI9OkNXnbJyc39bM7qIQGfvtbGiGapWxk3xwnOwr
SdSH78vopm4XIhdnGZ3JkvE3w1Re21eMFjaITpf7UkroeCNhXo9JRaRJunTmNDeLvMNNtSd95XlO
SrKQJxmPl5GU8c+2G5aDcbzpEKcqubQGM6KfYaaL5wgJaIdUxF3c4GEKVXU39ehmTRDMpyZO/PfE
bQO8ZMtovYHQT1/iOtfHUk/TB6xq8TlFxHMndFhI2JU6T27TbVKMWjrwH9IZ45s7zsU6HPLxM3Ob
5sWf3WTfVoP7zmYZfewwuoatdASXtqLzv/HQ6SbEWDX1LTbCMKC/90hoSwCwLLLFOT6nNCGqrl8j
EL3dKinEcCCZDg6SgFi0y/CsRaMwGWMIz36MrcKOCb0q3Ds2FVx8cwJMLkHJ60CisqcXLF3yRD9t
IBqijo9kzxC4z5y7dFHdTV0OSLGSvj11o2wxltEpp+ugroMbncTpuI1ymohIt/YvFZj+1xD4zQ3E
mbndTCAG7LXvjPl2LBG+bcquYzA5BWJ6TtukbPY2Lp+cGPcBSXFoiKYqTEZnHJHGfUa3TH01lKN/
lVMN2yqHAzJEmB437BAEqh2vVGTAZ9DEelcCiFmkpW57JmhIWDmK36XnoJOO5oDoXO1DWV+ZBT/D
ZswZ7kEUDBRPJ0nHlx5Q55vrJXFBoRwPD7M1ll+QKIOZ6jt2Pjxoef6qrLvkfQZF7xGmc/WSSVBQ
zONzB6k8QFSckgmbx2ebXT0xOvb0hlV3KU8pcyBAzFZl2OchWd5j+XdZ4VOg/ogrVD+sWmr5NrCb
UNswVwDurj2BW5nroT1FhoOR8Vq6tvpy3g3OaIY93vJr+eyE1nuQzDl6qWq25hVbknm+QbVfiEOa
OjVAVliZtxNq+ITw+Z7ISyK3zLLurlv/vWEWx8bG8asn6GFUVBMMPITqUdv9ELjL4VfAY0vO4KSd
/qlOhHWW7VJgA6jJRZaofs0qawrzhDWBStNz9PCOezEgJCmFk7VCAeOlmDBhBOrBYpctOv+6l85t
RG+uCy3AoT08MXUJkMP0TMA7N51/t1ZQvsLc7KAUdSbHPEKLutJzkz+mWkavAwahmzz0fsPMbwHV
I1eZZ4GKw489OoW8CnaDKMLT4A/zh4FmAaduGIMPbxCEvVxnakcRXEW5qczZTdmjfCScesENrSPo
z8ZDk49iu512YUbyy7aVSb/XZEFjrqHJn2hziuyZrcZ87iJC5oWXgqgecq/bUK2KiQlHO/0CJzus
3HCa+3WQkjiXJJN/Y+kRPUjv2cQf9MXgHy0r57lveRDeaqZC300f6PNUSALJCiy987oixM7sGSeP
+4jUrueB1uNGFz5eExgRGe6IoMzeELnwZ5a5Kk6B13kleg8kMquOwd+JuMrmlcl1gbRMZgYwpywm
whdDF1FrKzqappIPznJzgM+W6PgD+mOcfzXWSNIuouLltrRGnpievMhXuEDDmTPU/hR2b17Z1alj
XnqGHYlcMs5edCfriR/NgL6ah/eQ1z90I+0QYugQ5qLvW+8NMOKzY1izFWXPpTfO/j5Ky/AlXmYQ
13WYP3juHHebafZHhNducePmaORWVcQ7y6Hb32WRR9fGCKJ/GUfPkGOVutWHpav6iDKAgW7j1u6T
nyYKsgYMth+Et2CuUFAKyWPBre+tnQiYy46FRv6ZQnSt99Y4gqXPehPqVZZWbbPPHNREfdEyeihF
+UsmwMpe7SnC7tqaST5mbpbE1zA73skR9AUI6Erfh4kNla+PAgelUAwrHlu4SyRHljxMfcKwolNT
tGmndGNnS/6Dz4puZ5lV/YKLgFtgBEnqIf971G0COFC71dWh3CDPWGkiPB8sqRlVOI0lXmoC1MHU
oFa7jBCf4cfCz4sPfdqGA9HiDpMBPQRxv4kSv4eUrfntcFw6EoN0grXrKhMv4NfikM55VwmEqF+G
bg4e+ikNga2nfO4ZQtl7m/H1zTILTlShvO5xsPP6cVLQy0ASCmcXtLbiiUeEfyT8J7hkZFY3a48b
jm+Gb+TBygZ7Z1f2AE171LibFtFT0doIGTtIdncB3S5cBFU6n4stqxcL2nuxstkS3AbtzDsS5rq5
CDHzDtVenR5sgOCfOs3dn3he+GPFYda/hPYMCKBLTLKRnox/0h3mKOOG8CWFvLpPlgY3sNU7t3px
s5vc+IQBEhC47AED+QduWpB/SF1Y4RQZOyrCnrrwEpHMdJ69HgggS5aeIAnUUB/ww4nvysvO/Z3X
YfErGjL3hMYj/sEOwEBE7QDqMYe+TZQrjgaeqFn9p2n8w7/8PzWNwuYjdem1/oXz+FecfOaf5h87
x/9+4d+8x843yY7XDXz6tCuVih/5N/lG+E2h2QgCOyR5+c//8nf5RvCNmE03DElBBeXyD/IN/5tw
BGxlx8eDbMtQ/jvdI2bUf+welQiEp1yf8HPl8cO8f0IKDQD0lF9IVg9h68UUeTqYVwqlUHuNmkm+
aJXyUx/Mc3303WAA/msIygsmjpVdHEbuMyGKxbHsA9ZedaCpU4vUAq/rT/2MBMJK3Oewk8Dlp0nc
FZbl9/dgpEF2SELxMPOBUwoPKBaZWAmjQDAKaIBHfB6IKvw4ibcq6uPvHSW7YNORgysYbOt7aA/N
WQ1yeKs9uP0lCJOtDbQXmrl6FAtQ2tEVuPahRYe6boBYkCkFtIPNyjpzYdFCm4jjCxlaIWUa5+AF
uUANcd27nhVDrvbeAqhRDgQSNk7qHCKfZIDYX65kQJMeHA9RKtk+UFmK3FDTJ274XVWh2k+2nnA9
5OE6MwULa2Q4W7ctavq4EE5iEqxpHp36ZazUBCq9mmvJ3L96tEOrJny7Tk0BsIbH+eI4IAhPUzmN
D82YBzztZeXFlybtcZhwr+BTm6ccj0ZYYt3ddATd1ZvYIjYHSwgiMqhLpqN/HEPLflhsPzR3YD+C
8oE5BrJ04HpRe9CZ1UbId5W9HAfRB9kpGqfwSmmK7HFLbeYvO3dM8rcxdxr/QRUt/kMb5rYC2eWA
23UGB6Kpu3TjsIuCbtxTOCdfooJWCneiCPeEh9kvfgS0ehOLOEb+3f0OsRMN1tTcOyUbweraKjHm
tw6s2Mc3yVlM8xDdkwEP2biZmO9hiApvXAJQCEFPH+xUi10g8oIEvCjDY+iLaU9J0n25xSjRX1gJ
gzXMNDZZUDCxdFCr776EnssMvwrMpkh79ZTblrlMEUN3j3Zxk3Y940XNDnoAr7mCDJ3sNcFgJyFB
OV7bt61I1WloTbg1i718j0oSy8am8k9BkLmrBNRYWtoYMQGX6Krrntj5piA8g+7Oisksn/QEfJ3e
koVh3rJ0qKoEghj2kCmmqJnyiw+tAGaO225MkReXlvwMFnCZl37n2zqcESHCIQF6b9hFhGl2NDGM
CgqWYVMMNgpH8oTQLk36LlRAA3o+W7Kmqgi/WezMuIHMRBG7Wqxp2rQ0R0wvJWyzlBgtA65zoldt
Qpy9BSSUL99B3tIqWT8Br+4A7A8Z73vGhjiLGwJ2e++IYH24IVXpVzUMePJZMELinqMeslgG+ahl
P/5WW1PwNFXoUtc2MJGP2vRoKgUZN8cpJxCTNLdhQxvhbgPLgT86NsNONJRFSygnHJpgvAsbEEE+
ZwLtapwfmOKfRNFDt4WLfxP4YniLRIc+povz+zh0m1NXZ+UJc2CIN6tBQz2NUb/+z7X4f3MtoiQU
CAD/z3fi/VBmnz/+Okr920v+NkoNvl2zxVnxQ9fA6ncdmP55G0r3Gx4ol/TxwEN6A7bsv8WMrvON
y1NyO6mryNH5i5Yx/OZ7DFF5oS+5SYXz71yG4R+Esb+OUoXkUnUQkdDv8c8/X4ZxDNo/LZ1yjyK7
O7S2Hj7LFP98rNzo3iUcGLy0IIvJ8qpzOapk5RclbrdZZWf0CTTcIEheVGn8r7AVGHs9xGYoML2N
M2Xz2dJlsoXTHaxa349O7EdpYOblMxi8+4pVrjsgAwvm4kzHBoCbqmElebiZNEDUMF17tQe+OJX3
FXkDBa4PFrGrmz0kcXvh+NTzjtA/Ca5CpUCgpP2c+6mlVqhA8pO7IHJChb3cgawrfqI1F+tABcEP
8lSTA79vuqtDY8HXteIrlM6LXxwBtgIFSr32zJBu2jDSH6gH8w0RZA1+EJfTjNq4/hpBCx6RVcav
XtFNR6uswPQHNgDwsnioWTN+kofenzLbFMepVfPdYClF0gVTKuzyV7QJo4XhPsnhXFn6qhuPuRpN
0WGZC0oHhxejomeDJy1u5/kpzVyE24k3rUjMqvZWIe8dpETPzFnjX02etm9pMHkP0B8QYTMxZ5AF
uWNuSZ4hojF9wlhOIoRjMI+OzT1+M/vJ1Y1/xFU/wEqMUtocVb5M0SxIAhfcsh0bfr4a67Zpss+r
fhrrhkIS1qTIb1fVJMcnL0QwgXj/V0RSznpJ9bCGutW8BamJGIOa+mewRL9NZtSykeH8mhCLoBM0
h1yf+L1s+wG7stimOJPuMzmFb14w1xebfIyzW7QuWTJL/uXpq/Md+wGmgyyBSlS61i1ptmj8hBf6
P2v0tHtG58WxmxPWj0k7nQrhRUxnyJCRzBSgcymkZKWFp9/IX1GLTvzNzfjNwg7Dp85Cb5r7XQeY
rMSo42RDvV1iE1PmsDpkuoUz5p7NNWSTZOn2IWlnz86S23e07O069qrmFaCNuc0Ni/hYENFlnGbc
xE3BnEiOENSRnVJZBk54U0wMYHDv1d1BYDu5zuEg6VnBb0Y6DNkG2W8bpwl3Qd/M66Ry5mPPXuQ2
COVzjLRjE2qfAO0UABU7anmFTo27Oi/yzyCxGC92KEiAX3AFRjq2t1nLHLNBu7pbSstaz2YgKsZQ
HARDhcJuScFNpQZfVUDqkdNcvc+ZKICpAKyY231BRt5KMjO/iVSEzy1Ta78PEGTM9X7BZE1i3arN
orUZieWYnAoJE3wbLyeVxZ8VI3ChH/DHpzusdTj/GYxyt4NpttsAL3paYrwS6l2nBKoCnyhH7tpm
egzK+t0Lih9EnG79pbvAa/mJ8iWAGKLVoWYNeg2NiTh8rj+xQFGKJZ3ldr08Tp33iMPF4Fy8gjcJ
W3iKw7RfuRMCRpbQDTv54sv1q9s2XVAv9ey87SGwHvGjDa8JKUYrYetlj6FW3EnqyXVlShu5c9yf
qs71ttif5K9e6WgXVIzn28HlYYJcuo1SGT6BY+JdnT3cjSacCT4gMbXyq2XH9/gaImMQY2ZLPb/G
BeY1qPeYbzXEMkTtFdJxK11L5lj7kYiKo658cj3srguOHfkoe5YYyz2ACrCBEkU2RC7JQNFQn7d8
2kb7ydpfynBlW9ehWtjkWysCvVIbOKYokbGJsNRD4WQnADx0hZCwFfa6YFdyEkQdvZrSQmlJ+vOl
D6fxJJq5PJX5pCDxQqqY/LI/TwnIcFLkxCMPORyZNLka8DFls3dxJveZyDiJm8bk9VaXCI1XKOHU
LWkeSm2TVLm7bMzg1UZB/DWH8PymBt2ISfdgAKnYdXfIvUpuuDD8t7G0HhCpA67kbx6xbB/TkkmQ
YV2xMHJ7a+OrviCHK0z+dI/MNlObqM1D5qYQseg9Emae4cDz3xufxYqd7vvSF/cd2yMtBhj7cbi2
ygiuaigvQ4Z/juxZxvmud84Wcgw8oj7LZZzPfsXdvSJLu39KrCCl6Jy+tHL1YUKMs2F8SMxZ+oCV
x9tQes67BRfJOu3YmqE6WpDEklvPemB+8mke13PkNtuhWMZfYdw/JKN8xufUI//gB6xtXZu3msEv
Q6moYGwyBgBWusWL1oJNX0cQ2L7HvEcXE5kPlB3+I4Tg8cxPX+dqZMcUU/9y6ufpd9eVt04B/9cC
ygv4qNh2vYWoKQe1nMwdmxqGnKcZmMkRGXizjvibv/o4pt47FxJj2qBm5JYgHiqqARNbDLUBHPhr
exyvwsqkrN9An5PBx27iThYGY7cl+19F6FkrvrnXaxB5W66LEvdeELIC6cLHLkjtVTEPW7Zubwzc
byPs48PEINQuYqDMaBFinpR1REAN/LomrcQmyjhUZ1ucoFFiK3Y7cMhmXczwNJ2EkZV3dfKS1N7a
tlj1EJuItdIF2bbkC7bXAEzGfzgvWK3yf/36L/bOZDeSZM3O76J1e8HM3HxaaBMzp+BMZubGweTg
8zyaP70+Z5Wuqi/UDd1FA4KgXRYqM8kMRrj9dv5zviM7EzgHt6TeY5N3qn0Ew9xc1/6nhzv5K/FM
eG6oCqaNyFFXOJVXys2U9O6uqqb+beEY+kRfo0FhFvmdzGK2iYaQG8cbTYjY4f3+KWP7jeXGZAXl
MPRh35sRQQ7cbnuD/yreOcieziZRRrzw6KEtnt7NY9eUHQsDMx2FKuVuofeT7Ry1bEbG7qOVxfNF
4ZsFtGJkaGGz4+6pji0O6ca/9S0H033hWy8mwS1dV4wokag/83qen+rCy7dW5yHd65zT27aL4N7X
0Ou9kbjkSHC6jM/Imgd38Mkh28MP2bfPbCNAVJeZfc8VGqtRUJoDx15wU4a4NyFY5d6P1AH/WTFW
4Ot4xyp8tKsIFFpy1RNmZ9U37CZCCBGYrYIF0Cq27qORB0aX7isMcwcpmlPlDHfGEg+ZiN850EiZ
jh8dDvBmnpwznYsN93mN4z2tee9yAeXcZQoLYciWrgfIejE32EdWvn9BGZfRzTmktjx3wihG4yaL
E8R6OGMQWzZe3UwS32da71JSjU88fv1rs5Ar2eDt13tG+JJtCVOnjqEsZwmtzJ2FV2myT80CI4kp
zjxWab4cMNc4d9JfGf7pB2QmzptZD/C6RI//ebhxU+AqVszKp3Nov3Y61e1EbQeXIcTyHRD1+WRT
/LutWustNW59Mk2eX7NS5ohe271gZpG67YCdVEvsXHdAH+8Yv5tL3xvVqa6m6BLiOrbNufk5YN9+
AboLZ5YsKYEJY5FyJRr80DZ+fRuEhClpyH7zc3IfTgAkjgs5ZnzPvYDRZbZd0/9o3PatGQE0J4pd
jCmao8s9mk4Iab06SeH/KIvJ2ie0gT2Xut0VOJUGfhwJ6U9eus/ZCgtsQBJFyJgI4kkpnA2e/O6S
0D9YvQZHKnuikz31Li9qEV2HkVXfeT6HVIQf2O7L4bWO++baSXzKPpJKsldE1AI51lg8eGxK33DA
kt1oWt47ILdiU4TbKaJ606WWGFyydo71OITPpYkb0KBICg3NyQ92W9tnN6F9ghlseqhUXr62EfVL
YIxXZI9jHpRVILIlff5RFdI7NlCMv4K6DnFxEsCgQ6je116qr1l+wGNeA71viUria2cEib2Rk6/Q
KEzyGEVMeYCymuSlEzlHRo6LVQ0hBcg5+YXILsRZeuRKhxGLtht33UW4FPKE0hL9KvUCChdw426y
puJDN0NwtvzaeTFSWtBrJzQhe+h+Bl0TPWRNmj9W06wuJ+B0HHkyGXnpKd4BJg2Zhi3NtuvWw7WM
77tU4zl1Yga2rnsZQHadrG6ezoQAwq07NeVZYyK9KoTj7dmGfSK9sY1egNAcytwwus12eMgW1/8p
59ambq+wHwDtdHv2Bc1V1KUu86frnEzvOL+4sjb7pYiCz7oP1S7gAnhBx0Z160ZJch4l5D9Hg/vp
qXe8rLALcWpoLN9l40t6/e4yawJIFTGZ+wmhg8SSkKhUkJ4V6LACvBqamNNtRq8viJxkLC9qnDxw
GwkVTW32xT8UByeteFcZK6V2k/dUZUy5+XLC5b1nQbnxRRttcW9E8NBmueGrsBIaI56f7MGuwjg6
jxSjN40MblRtsh277HHbZSAMEys1u2nBwUboDjxW6t3UwOUKZ0kPpSgw56puulov+ayoys9mqo+O
X1Ac2gcGx0oc7GrMdC8xSVh7483sGWM+c+CM2N+66/Z9GFp5rRnBto1S5TMVuLSmV2J8ifC7AsER
j6BdwwPVMWy5jjJrssuwGO/TCSJfNPFwMYzkQhzQ3cx5TTcf6AKaNxAgb1Pd/ebtiTFkLtLzUFEW
5JgW1j3cc+7cLqj7RYKBwQIMdhoRWeaUsfRt6t4O1NwtsThHPD/3OJvEOhskh6qhgmCsLbXnnhee
/LTId5lO2vsRcDcgvA6MdRdQnumkBQ19RNblWJebBnzi7QCfEq6Y1+BQgEvEmgCtsxXRZTIPklYE
xaM9zogGgN0L8TsvgXpViuEJhplu8nQz5lVO/0JNjJ3B9xRX15nvQ7FHBrwueBRS1WnN4EmctPxZ
UN1JKCeW4XsbQpvZhLGHeC7ihuyhGNP7opXWw6wduOoXrSZU5Pex6BkznfFcFVl5TvtU/uIEbM+1
lXPNjVu+8TRryEgl7Mq2pNV+DPYSvig5gIYbubds+sRwP6VkmnqnFnSDSzTs6MFvf2hLIGNso4cL
x1TOgz1rfRxG1b67Lau9nRsPyc+qCvr3GeLFpqtrPowjD09emuAqbGR10fNNQvuZDKZhtOik6tj3
qVYD58BkOQ5J8dhjXKIsXLGYk2VFP4Vob21+pvcKhNXRXfz+JVLTZ52nas9NaAVAjPLWSH41zGGw
1bY9ohs4Tb7pSgAonLZyX2hMGUwfxQaAwLWVUlqcEa45eAwWm0A21AHlEm+DwsvDmI6N/czG2Xv0
8pma0EJRIQui8UZQJajaxd+KCBt4PUbJyTVjdhm0NtWLffU0u9kbBqubxeA0TqfkIyOueOE17Q0J
A3srDBgdeBKvHZcfn8+wZ0uwIoH5VTWldZmQp73/L9E9j5/V+a347L4Zwu//kyn8J0X4H//5fwli
2NWr1PgfK5pXn2Aa/v2K788/8g9zKPWjPmZObAi+68l/7Pcwh5KM9tmwSTRF/e0A/Wu/J1kKCp/l
nfZsf13voan+ZQ71/0B4XMUWqfi71nD3vyJpKndF2fxd0gRLwuqRDaRgw2hz9+L/v789JGXU/ff/
Jv8tGIipZpnE6hj2ezdkeN8MlYvVh3jscF2mlHyGAuqXay/VSRR2f4ETAAooz+v6Jqbl7lVPGiRZ
STjoh1u32DqEKKuLfM3cABbNUCkb8lCHyBn9WxH3rn8xuu6UXHMAVe96cYYrZIugvRyEi0Y0VMnA
aorizwTwUezCs7XQTjddUq9kPxRjmqXy6KOsHaeg+o/96M63U0D6kBvWC/s4z+XVZGXeM/6zNAPd
CcjN4R54tXRNO1z6sXBfm2VSryHrlKcutqZb2O1c0seFLJdb8nQdpe+uFX8rgs5nMXepkDrOXTlR
yUMbJjIJTYl6vFRtiK2G0tTWunRNrB5FOQ3OISPXmO8as9ALzNHEB30ivl/ucNDO4W3sYQTcO/EC
zLIqNLykrpny6dYljd1dK1eDY1ShbpFpuHN6LI7kTCOCF7UC7lpRfzVEiK7VYCUsShLTXlcmFc6p
ilFdti6kgJU9nppHOhSxfIQZE9ih72dWoyWrQer6Agvl053q7B0U7VIDBRnyame4sbFCibABUXGS
3mZWyOK19PST8NORAGdozmFlgjtFKpiS9CBt533XiepZ2TY3gyUt5pBLFymLup3B9umxnV/ox/Pu
s0a472L2IeENBKILEugzL40f+QtttakLao7B/7UZkuHVjxw9HiacTD6mYXyFW/DcwMhAfz7quCD4
mfrIrJu6lxaM3bmPzZp1nAmT8BW4MgouasNg2w+4jaqTE7EP5MbTV4BmU0KMIibm0MSKGvWMk+Gc
wiC8Cgjy7iJ2ZJ8avuGaDXSYfSjPnHkJwiW40OM60jROosLd4E2S3yfdX403UO0C+MjOICoGMFPc
Qtf6MGG6Y8ybrQW5aUhCAZNXU3g5jNj0mjKi5FjYLnhossDZTtdE+DbcQPCkCph/X65cKG/iryhp
tlkvQyxKs4lLvM/yKwQBkR6EXUKYHZG91tFrOmRc+/GaxgEDKcG0GiuKIqLR5G72AU4wEhd+YdFs
GzpDu3PztGJzyi6b459PdPEYBPRjdN7gU+BEAaGy1KbTbfpSg6zKvWHe4+SeSEuTUa+vBKIrb0eX
emZvSk+iE+lLqSZx1KVZwNDRGhEFIB9NPKpDM6uwoWJk8qYbE5S9vJdtUr20FP1QNmCfpDNO9DjY
fZ1e6gDsTRSn+z7vyJ6wYe6Wi6LlndIQG7sRA4irTe+vrF72eLHeCOpO69+s65drNcox2GIBJKdp
KVhXL2xvMNo0Bk0BYy3VFtlhHOgshsg6psFqrsmS36HVgO8aSvc3tDcqEkXUN/HFZHIwbFS7SLOV
fGSGA/0KUMiZhWdMl2R7bf/CDcij3drRYJYby7LSl970Hp1TNtSKw0BkkZyhE6sB21FveMyD44l9
axNlHnkZFJo3VvtXZeeDcyPWOhuis2zF7C0ivd5iUeNfu/k3h6WLGOqh2cPHqO86NfZHWeOw/S85
tv+fA6+wR5AYXv6Tw/2tLWktyP7pfP/+U3+d7/4fjqMwCQfw1W1f+fIfG0v9B1tKB4gKjsu1WuB/
bSyl/4fGosOR6/NXrfmPf5zvUv7BGp/znf+j+QUdXv9C+uOfsx+u48MqgmZH+sRl2Fj//99Od7dz
rNrraZ6AunHiwXDrhtmX9KnL7Ynlhf09d6ivRvftn7aw/xChBw3hn+YKl/2tkg4WU5elplpb+P7+
lTGt24sLUIqZImjZenliM2Dmod7dGWV0ocSCQTJh08sNL7GWh7mr8QHyMF7OiezqL/iN1MKCQAYa
XHJn+QHSqrpKlcas3CQYZNm4kQrDz2v8O2IEM60fYowPthMq8M2AGhZ39C6tqHcPEYxpSogMqbKc
OuDN7La3U5S7Owai91REXCjBraakaLZ0V48brylZLxZc6yKx+g4EfdEYI/TcptxCJFnCeR4pgwPh
dJdHMgPXZhERGeaUflM/fYoCn6/HxqE74rsu7o1T7Xk0XWPV7G6ympdiDnCIbNkgmpkxI+EPT4bO
0aJqxnfbtfRz73X0ynTw3G9Zl7TXTlmgKLMsJKuYwFCr1wNM9U4KFi6NXpJJBg+uM86EMmNcPnl1
lJMa7nmq6F1Y9fGPXkQ2on2rrTWPb1csiEkDkUHuv8JZBTMt0gFnHsz44KOvJ0AfZoIYHrWBeMZy
yWQUKd5ju7C244euanD4Y7nNqJNXUUp2NkOQ9YUfX2Fyo2XZsUqkZIZH23LcM6skfSu4PcV73EDO
Heg4WLy6E9dJN684wLm8m0FeYSOFu05lS+P1l1jIWdIgL5XHSg/z9Zj6/QH+DFUK3P8OadIvV+U8
1s/IX96wbeqOnIfHxupFzRZ6Um/xuPVwwFjHwR+D6i5SNkigWGfs4nIz9Njwywagcldj8hqrQZOc
F0mN33k1ueRKZC2OYqq8KNeWQA5qmntv+X0ThQtTKT8dC2ffPhrGco83ObiL3QnyriBv72yH1k23
DglhkC0j0W0fRut4jEbU0hVLYB81d+uaKl6EK8eM3rJfkDfDHR54FpJzj3/KbTvqCitKSy8ggnuA
fyqHSPgAsqspFW8kxqofkajYKfde/c4rkzx08EZuvcwhAQ6AzpT7RA/xD7pmAfEkQxIdFHXPeMiF
HO9cNfBVFhXLkx1mQb81JPF/oeQhRi7pGjzQY45DnQYCet24OYInnNWBYmPzqKrFfiilnzU7KiP6
ZZeSCi+QH8b5vcEtCG2Y6Ob9GMrgV+eTqW0TXr299lsKL3Mc92S7Ivdl7FlneTj25v2A7f6N/Hn3
jFZJmkCVrfsG7BRvXo1RaCfZhDpbRheG1EY28tNiVfUIa7B4GZ00vHdn2/tRDjnLDrrSQgtLhS2e
InYimAjlmNX7oaRQu3Ibve/MAIAtaiJcSWFKocmus4fCPuDUJkbttrkld+7sKeCXrksvGOSBo4xH
bidUKsvNCEnuZDy0hiPp6PahncaGqs5I5FdLxiRGNj7kKZJ5BdVCRT5Zt6bGsMjSys9eUmMxfAhR
4VdyS696F6ItETOIxJ9wBuOvlhbsep6EyrsYIHBAqhwKNvp16qd3VpHHdxRFsIRrSfzRZl/K6T4h
EfLCj5QmiNot0D/9GnaNBpxDVDVmwNTTHodMcZ/j0NovdeeuvVFz88PuuCvyMBOQKbke/uJhzk/U
r0sYQNCUSmeL2dwKts1ISyNelBqkpeXT1oWdZOrtbT/znVo1pW6gkVjY+mkAHBNqRLkdw9CpyAcs
4xkte3rJRctSb9GE6IkGBdgbBDabn0nf4SKJMMbUWAysEl+LEeT4yIffWcQSn30iYcUWfK7n05ha
6h9TsdQfTbS0Kx1jLfRORGA1214RjN/WeQwJM/JbE13I0FI4ZGw7OxN1F/FdJaIp3uPAtS+r0Y3i
Y5fbAHmMNTDym0Hy6cI6QaGJblKLTFU7s6+PSKLssfyEh67smKunztMHbaMr70hZRxXr5dXIzxun
ZZNHjT0wksoqMgLiIiAvXBnQ7sbp+C1yvZrNrT9ctx2Zd7+n5SVI8c/UwHWIMrXtL2+0JAmN1nsZ
0ra4HAFdAmgVPIhFt7rIY8MJmpWDeS2QD4Zt5CfTWfcZXVkFGehnuoK43pgsbpqN7Wjvg0HffZwz
ZUM+EnjzJ8qhMSoMXvtlhjG+b8EhUwEIoGY/imA6+yTRD/xDgepEVfFaVlF7GWV+RVOet6I73dVQ
CtwANFAptpY3dIAfgMzYfOdvS49iOsUrzFCABltxB78jovlnHbKh3g/0WBPDAT6A9b92PHEK4U5P
5B4p2RRwKkmwsE0x11gwqbvzXcpWhM36cFf4EEW2PgvKYQt5oGEzHpsfa1ruicdvfTe3ihSNmM3P
ivP52iVSlxBYV/lPbpoB8EYkVJdNH+DdLcCVhKKJQXKL6cwao3Qt0f7i3t7f4cdi0zqH6k54nfNp
G5ptfRygzw4fpPcAs4je9gKXxlzlR6XhTINU7Um5tATiP5YEdXzrNJ3nbIOA7vn1h6buE1YUjzCf
Bwy0KstBLY7eT2eI468lY0WI77Eh+wCP0+eFS2PMyUj3s9IX3AJXVwT03h8GAM8bp0tyTw14PPPY
qgt8UWpol3xX9bVF5LXpMu+WdXe1Zh4WPVNJXjr0Wdit3nUtjOmZSAwfApylbOvSt0YF4bkaq1cq
RGLaC4khIDXQ4FeQljowGMCaHHrLG7nJaffRXex44j5FRGhbhMDj6ni26l3BK4HFxLT7obZsRH7l
vzeqt6/KmIUAyzMZoSDBoTshg7vXg5Y/GzdsnrPZ1r/9TAX5yUMvivYBiZBmI8nLoV9g7vnyXQsi
LU4bEAUansIDd2ZE/TWryHIii8JuF89DyqcTYxz77sles4FgSuQexYLqJn+YrYpVo9avU9/wjiLO
VDIIrT4nJCt5anMwTgRYfY5LDnj51WZQ1nhO59GPpAU0uLUGPd+6SdLBXcCujTfDsDL24nWNks2F
uUwaInRh0tK7l5CJRedtfcEdLut/2c242quHxKJiAg/M1u5M+jZPNk+BQBUIbRK0zGPp11qforFm
NsFoPj3jA2Y5aqzO7i5MaNs4yKIQx3y29tXdgFaxH0SZL/4hn9wp3yRL3iCbgZi+6F3lfaDit+j/
ABsC0rJtU0NH7qEwOaOOX9mEUbZsLUxsSFcULhX0O4zCtChOeKupEA2XFA6t9W5kVINN3ZYQq7aT
RhFIgwUKbe8XB51wC+5CQAnDQsBvroGPQj7Dreg68a6wwc1bzuqinstTFDhgYU3q6/u0ZhEysfk/
qK7N914Qao7cMbwDMOEAQ6ONC5JE8R4sSr7yTrS/JoSofTvi1Nq0lRfc4bdvQW3NcHRJ7HkPizTw
x0UfxI8W1rMbNUy8fnwoXmY98bjKIUSUR79LzWuo/e6po4yIrczizAZJJurkBgfd8BUwDb7rGOMU
4NyOoofKxjK8JeHmf9k+yYAtDSjxk65ZQ2yqTumbqbMNxgQrTrFO8y7E6DiV8U4OBmuEBRyyXpoC
BY6HyqYuw3rYWYWhkZQsJ+JPiBynTgP5Mh8G7WwuiX93DL05gYDJcNICdSHX42hjxxxjZZOfC6b5
Amh6OooLp81bVpdu8lhnxJorIqU0+oC0WgpvXRY0rbeflD9tqyC1rY3TDJMgJORal1kejpz3JsHt
4cVu8ESh22IDwgdhgd8hy+mYakfMpZVscgFCDqvcBtgQExK7K15aT1fPsi+KQ41o4e6HrBZXM0C7
cd8D+cRHjtHh1Qw+mb/CGuLPDNUy3jReyFRUsj1e01RoLJsIC9yLGOz8aeqE/4H9pjqxESdEMiR8
RktuxhX5zDZ9S3UViQPXWOcW0JyRG5ue0ABWmpDIdiPjYVAGpuVVRmzfjVOoeThoyTZPV1Vz3/oT
XLaePSutv8nCgD1Ap9+ibok7Qu2NvCLtShbCkJF/8srWJiWbf5ZLPnvEPf2YxgjpQd8ZCyuNTg4w
X2pvMFxU/cgIGfe4cC9Z+4vLsC15w8FUyS6AJLd3IMYILegMGyobd655I+3jx0RpcYGMRF2nVaUf
rteJdkPBlLziluzcuymNxD5QkKmpLoDvLbSmZ89rqG7Xc/naV/Z0LDudHyn57neK8mKcMO5txwfg
NrFCf2/cvt5i5AQk6DF+tNXYwaXy+myPTMXFYknSXTxQCjKPkzhkNugc0GDl/cSq+a4wbbXrJVOj
zeKqDfkyRufXVSlpMEFLX92MDBfE62/twOmg6uQnQttymzJfRl023ZVuK15EWayhQ4HUjLHhFefY
sO0T5T6MLu62oE7NwSnnWy+2ZqpEncE9VXoOLkIPayzziWI16yD5w1lokitJXAaqSuIve9GuTHRC
NJfL2E56W4VBuIUrUH4COD82tGp81SbO7qIRn2g/lsHPCjzepRcrYBUNTjqfA3Tr8QLBWKj4LYRx
sTInxBL3/I2ZdbeQtaLLxabHiiO5q59IswjMniF2n4lw+JNdxNZVHoK9IzRTnzw3Hp9rr8l+hQN0
ta0SxvpC4y27XziGC48BgCKzQxn6AqMkXXEEeLSad/23IpsMdf4BLaq9xrnEZDl+q7fpt5Irv1Xd
fBV4M7JL97BFUH3lKgAPzjRyx/nWhYeEtS/XzFUvztYzs/5Wke1vRdmf8HLumJG6y/r7sdOv8nP/
rUTP36r0/K1Qj99qtfOtXFcUfFDPW3VsS+tvddtehe5+lbzrb/Vbq4AiAb/zg4vgWx8vmqmLgAGu
ujmhW/fTX8X0ZJXVO4quzibF/cZOaNXdIVi67+23Gg+zMrlHFqhO/SrW62/dPvrW8EPfnXaA4yKz
resOhyHdvMY5JsSJ622alyPt06MS10Nb1ydsNUxPvQ/x4lBZc/9OxNbvj/9fH/0/iXNo6av/FI1z
8waZ+q2L+/bfKaR//bk/FVJf/AGnBbGTPaYvhPc3hVT9scYe/3d4HKWIMXIj4aGtbGKHLrLqXxtQ
6fzBxtRhb2kr5drS1/+KQir/JFD/fQX6jexhYrNtoteIrvyL/y5VqsH4c69okjB9rcaTy1KetrMO
s8kS668o6wMeYIVH6m0OxoW+5u9jR36fQBZWZMrz6OvKys6pfhRGBwGFYIKDSZadercbV64jh33h
zZrzj9YGzsL8+1wMrTSv7502SV4t8GbRo6A+qboHFpLD70Dg4hapyfdt2tLFI6TzqW13wCYCH7iL
CzfBBepOKrlQnOd/jpRAPJDWKqeM7so+kl8yrfQ+nV3FJR466UWzTgzkri11HsCJUNcYT9rhEi0h
y0x4Ca7F9xjirBOJpNL8sgd04e9apxrDc/g9xJQ+h/8Ds/sPnJwGz5wF5JdDXnFHm0LXbOYkZlND
RFSnuHRs8mVghhmrFLfjdseZhOuqiUAJgpkv3EP7PZUZtQJsJ4gt6W1nC4Q11KZntwEOYAnbRIeF
yqD8ZPnRlF22cz2AKY46dsyupwUwni6geW9e50zVy4xHh6BaFdtaTCMboynQPQj5eVddy9aP7zEV
1T875lyn7Zl4uzkDm5MFhbMHttb1m2pw/U2AP/+Vvw0FeYzau9Cx/OoCsxpT9/I9gTPL6IfMcK28
Kb9ndGLeOtggPzK7sw3D5DxVLoN96ApnudG9x6I48rjMbcVE0ufUImG/0vY6DUc6UXBIIzqYYOt8
3zj8STl35TzTO5r4YQcjR/TIh2OQI5FWYy1PqI7cZTqk4+BCsF2ur7iUcAlhKT6MGD8nGutnv1+N
lJWqwAYqft1/X6AAVibhwWTZmF8IU3Vmj3tdyT0NEy7hg6ieWY3HVn5K14tavV7ZingNBUVt+1F1
oZwvedeh4Yvvyx89Pf28c2QFY6EVxAzzjlhms3gLXd0WtzJ0I6rC0lTgrCedO6+tln6xj0EsoJuA
WjRb09IKg/Nx5Q4B68N2nyBQJN6dh6rx3HWQB7d9SAkZm9r40p8mhPROFvWrX6bygXGz+7WAer8K
KDodKwVDJuNLq8ewHblyVXnSqyfYICgBEh9/sx1EbR6T0l4+CjC7N6MjWsAaQxXL23aIUCPwfKtp
r0jQjKdFRMUNMI62P1HVi0om0rH42VtLcxukHjmRNqhNTflIADbRcmz9RMKwZkepCnAydKHb/T7D
r3+t+zKGHBPhQN4gBkbyarB5JhBPLPRNW2OM2k1xZcA5pSDOqVmHHE3/O+92GZE7YDLAsVlhMAXR
JMIXa8nD4wIEBqN3RVlGDbsxb+PkEIV6fg1GPnZNl/reUTZt8dPkEZ+bOujgLFROu6WEj6SayMen
LnJhaeYkElYQ4nyZaG3foTEy8enATk900a7NUZJQbSpGRYOwaPSzLLLuqjNT9MvJANvtl77HOpXN
iccFw+ZudwwgQx24n8e/59paHZixj6S5CDnw9sibp4TtOSB/b+VJ5UAfN6joVC/THpd/1E7cXtrt
EtisSvzlhW1I+Y4TcAwOYw6c4xhz4iBBcMtg6J3GPfbE6Rw3oCNDrRAjRjyz02M9JSHSLUO43sWM
D4AygqJhkFdhfTm6NU2ds7ElO+9F1CmdPNpFWA15r24d0XSvY2oI+YyKHkBWVb9gtHrls592Fhvh
mQ/KJkB624UWhXM7MHGu/15Yxoaav9hHp514e8avS2KJ3z1NlntfVSl6RtaC/YibHRYT1L2gWNlN
qLOrAwMsLbsRBLQOozWP/YxIDXvsoHwiBofHQ+p62Y8az26BIfwpMtkqEqvJG/elIxO6RXWa3osB
KD87McV45HsOVQSafoA3dwyrEQKVGLIbbYfL1ic0Z+i2t4t9rRIBgn1ohzv6RaInriJlvhujWfYr
FiegctlpeCcGTmmtoI1geg4wuSw8r2QSgrxoqgR5Wbv3+UxF3ZYFBDmiZCjreodxjW9EOXH9kHyD
ong2oAYy+BKpiJn31UXiszHipUhcoJ7U+m2ll8xXWFfFiTfzQvlgyeaQJqY62Y7MB91JWUlLLWrj
BKcyT5MPdw6aV7wK8EkAmEAigeD8nlE6DLbFcxRyVDr41Y4vgbN2HNKFqJvOslPnAJXfJOS7yEus
jQ4b319fhBJQnZiyIr2D1EprERhNm9IkblGgi6n2NcgFN5WoJw27eM7IwmRoUyAyEW1GLyrOs1sl
D7Yfjy+T4eKSGYwLB2Gx70wLKPco1ayHbjJg2E8jYQmAVSl3fEwC6Da0swykLSZt6BKN5DmcYlQS
guBI9hVIbRp3KYmp8EB5FGUmcxzeaoZtc9JDWgd3Bv10pE/ai2+QAIOfrmOc+1RZUK3SZMb3XjwM
RcANK6VFYxdyyTvaPOR2YTRapxQUy6qf/U7rfNwmNc9MBWbX/uW0aLFoHov/2ieD/YVS/N0GS4bT
WmS8ZYGZXYh5BQmuB4DA/Lvm3LG/Qwqm/3Jt2B1nlTxYTeldysYT6jjaCC8F1Vu7nPXOppZRlGwJ
pMXIS+yCNhq7ztajbgE1MVxItyxgeDCuuw86R2n/Fcs+unbHjAawKl5OcyEG9obAKTZxPbHTzfmm
j2kEsXXDzro/9nE0XYHsj/RWuBMNUF5ivL1ME+88Nlb7jgASfejJjX/GnXmyJAcrSUcyhVtvbKtD
Mtea1YMrMIt6GFURf+31XmxDNb3QkC5+N1ZciyPEX2Vdjml6ITXXF7xi/j04MKIFWSKfcoR3Wphw
2Z3pFxq/XN8rJ2aDTBW3bh+z3YjTiVp7Ry1AFIxfF+xHpkpyWc7m35GKgg8iI8lI2dJUJke3ktVH
gx+5vZ8wx3t7lWIvJEOM2nKNdZuXMYqCweDgDusPO8rHhvFGxeNFiB6KZ5pxDrFSVkCrQOGPj43w
cSwlmYWMFXQVxcWzWyykBJqHsauz6tJpmxGwQzCZe+wtLAPsJb5BRU1OiWM6QXSq7Y/Ag5Ztn/cF
qoSO52rLZZqPCYN4f5csbUxUJ/Ivy9RKqCad7FuhKcigf2yiE35mMxxWdb4P1qoCsENu+NGimT07
pRfvcWGpnVehgPDg9V8sEmoG8Uz4YMrpfynfTNkH9ZEHbfBkklR/DGND4CnSbXk7kA14GWaE7BSJ
X17amcmvO1WR/8mbSL4qoeWLy6x27nonOgb5GCGJFa1bHJ3C1flerGz32dR1s7WzWr9zQOY7jiw/
27J0tl/7sHtTbRPSGjnm+cLqHPgiYl3zKuHCWhsZxLTIOcAecfompnxpoiF6orMOocF3yY0L5sXH
qclnh2xo0Kgfy6SbLZjtfHrvdUFRBRHznQyT/cxM/ibnxd3SqvOYZkpeWMrmyY/9nxhNgyfEPYlF
jst1xo7BwBCmv/uc0Ke7pg4sL91YmuXrSbEWJH5pc9nmmeeN8VbI0o8OSTOs1SoNqLGBm/VT13Ts
Bem+UyStMzqslOYoj01WP7QGuDDv/eW0jGi4m8znmN+VyzCQsU70Nuhs7GN5Z1MtxVSQ5PpTU17U
betVeItbP/0f7J3JcuNKlm1/pX4AaY7G0UxJgj2pJiSFFBOYukAPOBw9vv4t3rqVmXXNXlnlpKwG
lYM7SZNCJEHg+Nl7ry0PbYb68LMkNMk22lJRsioVndurxRbmRQHlvHdGeEllplZTTytCA3zuCGqt
Dm3h0g/XDr/yfryVTbTIK+uk8HSAp11K0mpB9zga0bKLLSt9Vby3h4rsbr62SbnV+9QIDHeTl06a
hsJN8PTh+jPecKz2xjEj3ozrzS6959Ee8IJVmWPa61IPKLiF70Hk5UF7jZ3b4az22rzm6R0QRp+n
qKCSJMj4COXyBldx/GXxV7ibbEyIlfq832rjgPbdObaefkEAR8tJCf/ekVESTwy43GGzZWBY73Vy
jGgC+i6jZt66s1cctMlOb4+7wblwaPCjY5Mp6yOrlb3BYV7KDUMG65dkCVCvl3yafk3WzQdDyyfZ
W+yMRENpH1oHfGIdbgk7z0K+zJDcaFIaPvj6uuc2L9B9E1PwdMf3CpwboLPaQH3ZjqLxaDmgbOXO
EgxDYdSI1Dy2QRK5W07Ewt7EpEE4VXG8cdcccpcdIFnrl+x4gK2Xruf8ij3RuQmwmBU5KAXu/Kyj
1iR8A+0q26ZtlXwNjZaHIenNt3KqsComEjSN4ja/WOwwCVi53Gvyji7SCmNTKf0Ycz2UbNilSEQ1
qpTb/nKMhr4Nb5A7YtXJC0tFooPxrJJ8G8H/e6DVsm6PTW1h2GyDyGVfGlduiN59wxCOMRvQwYqZ
a2TC/tJXfpCs4y4NvtLA9n/Ybfyc0AFJiC1z0Www8HPpLt6W9a7YETjwj3NLZsN3qKRSU0qqa2jE
RmnX1SHP5qIIiYm1jzoie2fr3ps3aZW2nxnE224bWEGniehWxe3I3n2pbhnu8CPVqFpkovOVrOOY
h/Q0i3enG8Wm4HP4zfp5ecRSRddOkbpnvCAuKkzskEqNxgvZlhO4eCSKQuLRXzcl3e+O+9n2DDw5
eEIUjgovT8IpyWrErs0KJt7BtX/S/frF5YYAWWJa7d2Ukj6oa21kQ2ZPfd7vjAkZp9TVgQtwLGXL
HzTU6t7nMUz5tI5/MVOU9Yqbn/vDyd/hVUqahUjNRlNlb9JZVqHp1PKQU7PyI1Kd2N0659bcOMmX
tvbOTCvvi+Y7cx8BVj/YKt8vsIKgAvd5RuZUVdsMLsIPsq7zCVVEfICvqk7sDcd39oYRNek5MkbQ
zWKi04kewZCb5Pi59G4/YjgzGzwH0j92kB8wnFm89vVAu+67zF1/Dhe3kee5B8RbT8z0OYvjXZap
ca/QX7lMFDR2356vLrt/vZLkqs4jlrFg5Y/d8j1nLUbbnAlyLZ3Sf5qhgAFCgF/ptpXDmZjsDPZs
sbGY5L+pCNI7jS/19jB5bQJMYauFNCht8dxEQTJR7auwfUe7sg7g7pnzrinAZVWY1lYmu2B2yCSn
nxl3Gww0c0tN9B9nDnS7TdPK/LdvJwGqUg0VYM6WN4j37mNVY70j+5O1ZKycme4E0ZtQzbldsrnZ
ybo4jFasdklhknzKHXia6CXUp8u6YtgxSmdrQ8xYx14nz0PB+bT3nOZ11OLkUcaMxiU9+QhCs9s3
pZ6gwSPcTCIp/TUsyNcG1CrcnlJtAEfoK6tsM8RfTHGtvK3P2nGjKscEaYubLGnkrQ45TY+KwpfG
nvu9PXlXxJuREJTnnGZpmQxSwYLcQOquwjfHGXkggkDiPhx4GG/h2jDeuXRBcKPKQr4y/s/KAOWB
A64hxGTTmITe8oRHKhjAfgzTE3Dedju2NdbyJujlnR8Da1vFmTtfxgI4EnfcmT6nqtjO3a3eYomV
RaVIprqQbRrSbtK+GZkvnqTbdASUSc4+L0PAtBfn9s8GoNHOK3PqnOqFgkxyb2tdxV1INWxGqBW0
F+VbybgZpJTMOUvufUwVcAviCeuphjzsdkv5TVNdtOP+UD8SeRgZhyLjWtgNVqxo/ElfJMECs6ww
DNLQuwMxO7BgnyAaF95VyYjCt47jAHUNCcebVTTK9IQrrjp4QvvforPvjYixu0VHYCCL5nvXmd1w
wvC8NtvCIBs5sD8yyFZBzz64E9wT2GOL++JapXyTubEWLXbFIe7Tk9d0ajdz3kBrYrDFhiHnjwW2
4jOeKvF71D3pziWQ9/2S7jK4Yx0hM7zvl2Qgu8HvSvblUnw20rRa6jfbac/oPf9OyNvd56209vgu
mlCDhpofBLU2Tj9jg/U7koMzYXMmKeCtFuOwh5soz1L0HJ9Dy4OwS7ReSYyEBrD/kxX+O7KC+QcD
0fkvQVHr5L36SuN3nfwzLOofP/l3XhQBKoucFIZpHGo+eMI/eVHu3zzUi9u6xZZ/QPT/o/sS8r4X
ANaHUe7jnvijMPNPaYH/i3MWvEWXsRgl2vyXwlXmjY34z8ICWkcQCOrs+Cs4uVhoGP8sLPC0hYJc
3phoo2Z92tTea4Mf5kJlEJ0p7BInFojiI8pN/e1ru8KE1NInPyQJjpeWM5A31ECOUUNftTnU2MG4
Y5t+WnxJ9ng//+9i/G9djK6JxiTt//JqfPou3qv4ryUQ//jJP5Uu829/SFKB4/L7LGH/Iwvg/Q2y
uYfdnyvP/HdG2X9k/YK/calx/TIK0G8qbl0U/1C6bhdvEDhEB23BFPCvKF38xr9cjzjxbTx3XOEw
WWyU2v98Paa5n96QJfG2Fd2jy8JjX2JEwWFGYiUwyvGbBi/4y24QoOsT0yb9S5904tp7d8EeG9Tg
CkKStCJjUzDKh5btCbDHqDp0GCdXtLxMVy+K3YvNs/BAfqze0nEiv7QV1VssFZnHr1TdR0skqr1k
nLLFSk+p+4pKmLx0qmovTa1rvemtjn2i7oV/8qbFP6TjiP96wvCPHpGh2ufxiOepdwy8AtX4iUVP
h6DETz45qVceLsOaidbCpopLZlnxEHT22iWL3RiLYlOuHX3gyZ09V6XnqHXVuOMCCHwKaMBBk6rW
VRCXdzmB4xpzg6nwPxuBpI7LTyuKIz35XGkxvAXsSBhavLQ7qCCLngQU94JFGeWDNCe4yXXO9Viv
emPCEN0ldnrXFcXwoiuZ5mGuU7wzYqlWwzhfzdkc9gQfxs9alOUvSNhts2qLtqUyczIgdFTs4XBF
yhdKxexzZ9vGE7xE8WrUNBhBPPCGw9wMI5bruAq1HWN3mAve8Nidbn94QctZzt/eg3WE08Pc2lv1
WaCJJCTsi+qDAxqHbyqkaD1IhcUfSZfISthJvctFZt5ZZYDzPvfmmTxBRlkue44Ov4+b7kjH1DDL
TX1wEroxhnY8cgImutxTCIDVJ3nsJ/LJYxYP5m3Mqc60DcLCSvtlfI+TJjuOJMkuXFB9Ft3MywYh
8MEJ48Ij3a6DzTC1WIkxOFPNqd29Z5TpC8YAgNuT0ZxMoy4eDcMr16U/NfTw+eAyy3oGVs9GKQHC
FEI/ooiEyvcTnyiV40bbUIGSi1/NsizHxImjewa17EJHVb3VANs+OrBMpOymFrqUxWRR+U9NM67H
gNa6KOuTe4YSDB9AQp6VXUfbuPed9xT/1ynlPLLGulRvXaKdtocFRgj1BguGLimPJCcf0wuV6CxN
qr5j3OcElv4op3Gvp+xeWVAC4b5R6R57C95YwFKrfgKgwhqm38OWUmotLCv3Vgrs3BPfA+/CjsB9
DHLpVntBa9GxIAvw2pIwfnJorMg3tW3aONhLjIwrIBVlTFvyzcSPhLMn5CavbKTJF0wd1aOWH6Tg
uG22VGXtOi+gc50rtQBE9XRTANIq4URE3pj+FkOhtho/HwXxUwSuvyixevaYvzBSmTg1WNzz8ROo
Z88t3fk+cdDzHADCIIAApqxYIsf3ampimti7OH2cfB9D7TgnZWgH7vCm6DO5pqlDYSF9a1dgq6jK
bF8WfhNOtWLozcfAary9v9DUcPNeDU80XlrPfemNe3ec5g+qMcunubNqvaf9w/ng+k5/J+5gw0KX
JlwCjhTJuxkVTrFuMECCPks8DwhEU0HuKVEMUOHsZpvf+popqUN4LWWU7FSfV3eAF+ynobRizF/S
+oGX0oYV1Vj8kSUMtiRltN5YboMfVXcx7ALRx3fUD5oPAw0F4L7T7twlqvzMuIT5VCPbesHu0p0B
fNlhZC7N3rfpzDKzwr9WVQnQHS4sbBoPe+LJjRCAg2akydgcsjNZDBarvpTmvNKGaT6RuxnbEBnN
CPn+elcv78oHX8fiEQuSpVizu3ZyVMvoPcdFKWxSOLP+HJd6ocMD96OHFgYGWXJm7P1jdjP+wo+v
CeDCatchW9d8h4+wacOcOpOjLYpkPwbVVWSa04xpSGOjbKyfSdCZ+8k3S9xt3biWfHHDVpTpjlE8
BQqzVD9g81NX06YtCafgDgdAfEHH9j9zO0gvYxzlW5PAybHBqHeK3dJiDyLFR740+WUYgEBmVUR9
HD1DtzIEPkMrpv87aHLOjigP3IuqUzVzssUX0Y8h/eIfnE7qEMCv3ttO5f40kmZLeeBPoshqx1cf
1yXuxqSxko2R5cOXU6ffWau80G2NmZ2iiQBVU7rISQryitPsZC+dAxLKnWU43kZGrvFAmMHbY82s
DhR+HEWsJe5SGudItxrz66wq9AnqFPQDWW+bNRmcn1A71gbJ7Qkj57QtCcxv60S9FoKWy4LA88bV
6UdmDGNxtByLxZsK+nyDjjEGK9Ev07YjsvNoDk52mQZDbf1cdVdtWSfAqb/6Se0JAlF2xGIUw0Pb
r8t5Mq9+bZ1Np8PbWxOhRtPQHPawu9WsvL0+I8+FsxK6xoIeM8mbKTARN2mG3usdUtIRz3RPz4tE
O9tAPwFmavrdXK7SelT7QRfv5VxQCVG4/ZsN5ydYY91PL7Dohl2VmA2hZNtoHpuu0LulGX1alh2f
OWGY+lOZxHm5tUoNvXrGp7r0hv1dciJNQx7xMg8d1SUMM0ZMVn7s02FNfobnQGq19MvMFomN9VJk
7mdVt/3draCSUG9C4XXF4s8jAUiUt5/XFLNeAIzf8bLYQMZyzp7sVsAEjQKECKo3x+kFkNZXwOX+
tkhigyP13Infb/MW4Cc3xOYxdVkQ1J0s7bWe2okXdcvzZrH1ACx5eQOaiqEFvMcRenMwrkTBLoYI
DS26gR4vnp/Lj9bKo18x//AqRkYJ/YDKlrI0vK22lX6uPRpNiV+EBVGwo0vn6b3Kovgll6XaleyW
f9vCK17HwVFbuggkvnYwVin+uFjvx4oAM1sprZATKuzZ0nGqe54B464v8uHqS6IotJI7L+ni5Ufi
AfQOWZB/KAsSB1VK0njKk+dlqGpr7Vupf0ioH1/JoFs+4X6LvR937caWCzGZshkoYjLlDn7pbuny
Z0pJl1WHqcqT7HwV+GqrvSnleNp9eEY9jZ094RD9bYNiZjrhUswnN7QE5h5uxBvkoHLjuPTDWvOD
YTfEd+rROYAAlPu0jOp3yf0MSy8jhWxLjR+rElvVpTVPGOvWHeH7Dy5W+3McsTArVRtdKvj0K/aN
7JOKigUE/gCZ2tY1HvqTZc2/TZONAKjBSEys6FzJqrEFAirJTiCuDFdMHs62isfm1JFY3BlLTdZj
5KlCAH946mjdep6pb4ShOQEzMKeruPm+vQByKkbIbENfE0iLMbZD+l5c+l5UAEZdTsnatqc3fmg4
owssH1iDiHRmIttSDVSdhWIzxPuNTOS4fYVHU6XelgW2E8oYPnqVOsnRo37jQQ08y6MeezZsr/zO
kl5xAx1FD8I0/XMpqvw8JEZOz6jK5T3fUBKgSiX6zDmkfKBxSH4vAmKP00XVnT1Z5lX2lnvEOSu/
We4HF7dH6EjHJP1hsyA7SeHidCatl74ZZtlduG0WhwaVetM23ichnWBPVxGQBbTga+eY/pvjdEiv
WVVhlONBz1xkZ+oC+AnkmsbxD2ckbqmWkmrm7gG/imKWaouBq98HGiSbIb35EZNGu2xysB516kWb
ygiqoz2R/h/pfL6byuS1dr3oXkQqJ+HmN3vbUymee3uHbJBT9pw1Wy+9EXs0iPw5McGd0i5VrFQU
h4q5CScCN+c+cFOiLbn8KTjK8Db7YP97bnjMj/UrVEtJYXCRH/GncAHr1jn7JvjT1RL3vQJdEicP
sVUY67J3+9BSy/QZzZQRuCnPvYit9YYNFNXA1JWdJw9UZO01z243xD99I2LKhDBBXGF405qurph2
kKBTBxOS7YQX5p4nKuFkm5F3I2RPP4swNkLgReKY1a18NX6m6dg/5YEqj3BSYCFlw3CwMWYevamn
f6xl00wbXLQfE38dCMUNEnTUwSu+RjJhX7Gv7EOGYdpnhKWYjSLSz9lI5hM8rhjLQ1rkW2usDZDP
IzSy+gZBpGo6JHXo3BnSpzooyfU9lIVqnbi1otepaXAfmsMhs4BXprdyVY4+jBNNYOw7b+4uZSBY
d8fp/COKwJyAmCjeczNYeCksCMtqST45jNH9LLW5gdvv4IrrmmeMFeNjPizUaDaVbb6RrzR+4dzs
tw0gjT2xj4Ce14CuFLpuSg49VHXda7/sYH0QAvXzGltIEORbX83kq6lddRdOckO6ppA6X0svyF/n
ahq5skYXJn+FVBD1F9tI1m7DI6WWWJN7t17TOfg7YOCn3O88UZ29RsJgfU+Ve5Baa8ZTcSSoJ+j1
LMGfTXu8NE9+7/NrzCG9x5NGu29RzfvW9+Itmb/mMNh1d8h5lW+NqIf3ZTB1GJBMeDFYbJ/ruY4+
4QXy+Jz7ql8PWgY7Ph5YjeXgXeylUGcX4fjN86Oe2UjKQy0YaXsblviKpL0RmgXun31ANkavKtOY
zk1FVT1ZezoaLATUVTLWTcqoT79vpDP/U+C1c6BaYFSai8j7RTzO9VaGIOSqGJFC0BXBtQMD90qd
YbqjYDDdu5Y9vbtVUvLsyCvS81SDcy+rlofYMIZjLpfpwWjxjaOZ5AjAAJBCDK3LYWFT8RiUgX6H
6ondQY/qVfF84xbfYq2dHepg81Ff/M4SeFE7ArB9h/EW+kj90IFiZnlcD/pbAGN+Mip39Fbkslv6
AWo3HPvZrlc5xro3xOlm57XW75Qk9ZG2jwhlck5teMKmAFJqp+iGebfWghKsjYInepm8xTrqyLK2
xjyXrz0Nk5853Yv3FV93IiJFfb05EK+gR25URPDXmzqpxpL+RKu9zwkk3DFco2eTuJz3OsNGS+lD
MzzGdYN2nSayOCi39He5uegfmWKGxamWl/uSvegm4BRztmL69Rp6gJ5d6lEQHYgxwPOJX5zMpxxZ
R+BHUHizw1hh7pTtuBzJn6ljgyjwSgJoeAqYQh96PGRbtWT2S2lN6TEYzOwj9nqeRdG4XOUiFdBM
JeIzxl7zUrV4SBIawhA8C3kQapgaQkwLPrma/fz74GAFwBtni3fqjHKW6t4y/XRywu7YaQKCKV7n
iCaMg7o/GQulmHbNxn3VRMaynb1cXXiOqzeQSeplwP5zc5ZxMPC7djVjoruzfcd/hmnpHX0tUbr6
QYKEtMqrbGZGrKxr82ZFt+jwanpgaaXIkjs8kdZOt+biEeHP3beFkDBDg4CHSycLBH5oVGWaQYMm
+deEHuzQ+6x1Yz5a/12NbEBuNR4LS6utmDmD8zqgMUKoGSx77UY+d9cc9hSG59vuAXdkuTdJ7my0
UUBxLgQox7zFmlst2IQM/DebiUhXDKucvu0VykMJgdtUEaSnmAy11zDeGi42AgTqS+pI/lgLF+yt
nzX9HxYjbj3D/8vYbRg1bxUN/3+8y3PXvet/u9fvX9/tf9IZ/vzJP9e6gNpQLASrWZfdJ3CWv4sM
HogXG8wJVqk/2C9QTv5c6yIlOLdFr8/hzbI8vDZ/X+ta9t8QHQQ/yWb3Vgr8L7VS/KWgybk1PRFa
EK4rgJ6a9l9AKx02J5d077BToDt+EH6c72BNuFScBan+MIIlP40iaNT6n96o+39XMf6NyNp9nVbd
DQXnOn9dJ5uBQy7D9CWRDnZ88i//ct/e6pwkFATX6aNtqm2p3mEXMiOkg+mUq16BfV6neuxfC5Xh
WcU4zfbV9wr64tANhbsThTKtdavt4i1qIrhqswlizTHnuFujiHBGarEA0QEftf1+tAgkrJseqgZ7
g45vgAIK82GPzcruZl3xmLK9t/LWJT7XVvBCwSsF4xhghweKjnDZ5LcG8vSPMnJfRcjtNM32t7Bh
upWAqDZ+WZ6ctE7Z9GznEUtVu1QfGRSppLOHzYLFbtNGNf5AbZ5bPWYPHL+9nwFmgJ1NluOsS2Vy
h+DAgAU8dqNn6gtvwIXYQO71LU6F0fzNkECVFev0aMisQ2dNGfDn5N5Pem87TIAsGVqwkZnVS5qy
xx4Vz2NYLj8Gn3r1NLAg02Br4ZYLeqWs0egD27mrFG3JU02hIITQTTz2/KBu5LZSLkzrDn4eaL6M
o6n1DpmzoqjOOQnJyJMUGANtvatwKRH/GLj70mPHOm2HLQUAjSRf3kL7Jx/cjgREevrvetUdsGCS
Yy3aHnY7wdRaUznCYb5aUwYERWdMvRD0u71p6fvZYaLrD5ZoTZLDtjw4AjupMVhNaOq+h53cYj2F
mL9eiIqte1lZ+5wd6zZScXlkVHB3ATD2jYZyuVtGjWJvEQpdtWZMaTXwhS9lDjFxWuZez3CNK3dU
8NQMK4803rX5pnJItMbQq7MV9UM35Y0UAnQWPynjDcsGJ9jkPlG+cLSd9n32XBz8arH53FO8U29x
7/gXb07NDzzg5RfzKWt1VivSBqtOEUlc52eByA0QQov0mlkBSewZ4K9wjGNpK3VMlrIG2IBzEHuA
ZrMqcOQsuABGyqXwSnECBAjiutz03fq+LOjSgm0mzRtKIq82FntI0MM3VMFk2sW5aEtzN5l0WexQ
vf0fpTR0gyXOEZsGNIMVSsPEQwbywL8ITWofwOA8PFjI8lsnTub4GMeKUYT1r/fWdj6H2siCb4iV
C0d24xnR4zz64nCTMyoGW0wRC1+oQ07rJD4w4cd7Jyicp5rgTnTzK8LGln6flSuw4pj3TSz1d3ZZ
Dy9B3JC8QEgYf1AbZ8FENhw9hr5klXqcR1p764auGNcuzZfcTpp+15Wm85vxLAqAbFgz4Viqv3F1
LLM0Hn02ODg1muWUw03jKC4tKKdVI3IW7QV5ot5KyWamjXHSSphbxf9sKr5T77FnIwLSndKYbbEY
zAHzlxvnH22ZnNme7pQwnG0/W/aqHKxiTxTTvnOp59o0Tn8mh0Wkhi3GOegwMCwmmz+LY9KmXIxu
n6nmWrlLe99k4ivJTdp7al1SEl3Ee5F56lJ5HgekmFfkzSVr/dJL75PI6HbEhHw8lZMVdhAdPxZX
k0MuDfcKuJJGmXKOxnPU5tPvsozwbKWjlZ4C4hMJFzASMuyXeahXepbmh8cy+VhYfXEKWF9PHi45
xjyzs+HmVK373dCwBXLbq6ne9gli8700XklFh9z7GVZcUz7nyezBOBn6h8A2WUIRD/I3bG2GI5y7
b5yX3D/a2nG2yc0+RT+OdxkII0iHGktWwkZMtD/m1N4l5b0h4I+vpd3DoK3H6JFEcs6q3Fg0DME5
5yATA7rqjLK/tmjeeZjU9IBPaTff+Rrn6dzV2Edpt/W4siJtcLeIP/whI4ZeSX9v+xMvTFIrX7CB
gNRsWc9+UScnyecIYH7kN0xcwCTFrkPktODPoz1oIIL9pTx2RQKP2nKTI+11v3k6pVfYV2pXaDJp
HN8W2R4yO5/WKmryONTLIpDz2tisNsbc6C/gBzgKseiLs+dWQJetiFkzTLSRTSzgh/gyJcMjoIgc
i7zOwwL43ze4iX7HOWLCxcsXZiebgRoKpRAlwmEY/GvT5eWLx+eEPd7Ue05UFZZl17lvpyb6mOEF
Oz/apuQ22y3UxgP9sAXsMA0LeQNRjFWZwTIZzJheLjHJk3XWiw9FYoBK+nbZFZY5nDz6VCddvRoT
fWy3bguyyDmufsDWuPpM1vk9qiM8Sh9xhh7BpzG3iHtEVMyBOPNGAhCutmgMHBviBdVDBF1hBYVZ
b+DZGPdFR5XQZIwU6rWoe76zFS1Ni0QszI3VxHMYxwe48Vk4+o4+ZQ1PJqmpQMzTmJeQXIJBfDXe
9Dlzf0eehW6E9WM+pAs+S/j91t7ANrtK4xvcySqooiimkLCK3PkDw3IUw+ZcbgXadTJRTSLjl9im
lK/pRi6AaOT2HNv0S3dOO6xLY0keISrON0b+lj7KMOWMsu3m3jonU1ptCoPCDGF46dcUWxzf+6G7
FK0PRscgKFRPEzzttoEQ1dI0ojy2LXxCY8gsaK9bE6DTMC3PUYHgCenjVizFG1s0VXQBiV7volY9
jzKhp7Ku9L4LwDkxapAHc/HM15D1dtyBfKqBFP2WuXZD0Vv5hmYVd+9m8LuSLLhHieDrW1rOHaFK
rGAE7taWHiZnR0cWldeTF+OZvHUv2hpbZsvp4cS40L7dYjZEI9gB4JGmx91NVRBmZtf6YV1F41vg
ieLR6xZxEvTd/m4nybKNR84Bwub4E4OWiz4/1ew1paiJkE09/jFPRL8FSNs9MRMf6a+w6I7IRESh
sS/ZjKdmch8bAU/OPB7Ekc3EtJuszH4PkBXPRNCnO7ZaZP1vPuuU95tlYxyU5AspRC6PsdVTGxCY
8iT8wXyCDh99F5BZKVaq/HKHrJXm3JjM6JB1Qh5j3mrBiicLwtg2UsSpqQW6Fc8D0jALil0pLPPF
dvxg5UgHXABKSLBOLLjCCHtiWBe0SNV8CBXeMd83nizPzfYpcZBTNmXLrhLz8OpQT3JiCVjhc2N8
oG2rop+opcbz2AmRB6FM7OUpz+b5u8/ckq8pEt2jxj/4GNBqxXk4JfLCaNuvR0b7bUYy4gXIobhG
SVUdk8gUu9kaAIsvyOOYOLULlsYB6FeWoMbkZExPw1g6+4EYyIMBQ5Vp0qWHrq39S2H65qkDjPdq
FCOY/Li51ctHB+rU4FF18RWzvXtmxY9zrzHkgM05JyzCtgHpjzueSaBsSc+OsBcMDlqz7MJDQ9lL
OhHF4WSxoqJZFPhAXC6mHKvgNQq8hKwEPeTWUN22ljMmEwKSB0/xF1R+ZT7b7jDQa6k7+ymKRjy3
i0FO5Z5HBM83IpcDVdHokpuy9dN1gfsBwb+i4cuuli3o/dvWkOiwVwTvGZ1ooQGWmftMNe+sgXKF
htDAF0MLDkL8rumaghwMwf1Ee30pR31QAHne+NIuj0bQMm3Kqdrlmn/EN4QVZogwoSzrGIivHd/X
MKWuY4vR8722ral5mKe0KX4Y7hh7m44lScRJhAPeGg0vAz5d3WhhjjUInrJQk3x8DIOxk1B9Hktn
jJ8mZaa/FzbuJCLduA4JdMS7njXSA4FO862vA+epn0aLBZ62gtdb8mkJszSFiEtJ7tc0Ur1quI79
3jgWwSqvSVM+Dihuj4IB9VvbCKTxWLPoAbvTPM7a5F6xECVnYGtN7mqya2LKYnJu2Rrc3U+Xj/s9
JyP4LF3h6icfFHUH4blxbFiEo4UBG8hDGJf0kaPPZkQVZDz3hOdiTwMTBL1zUCYX4aZH4MyY21sd
duXsYs/N+faSRfPNTc3z8FSbWQAJ227UNdZegpvFQHIDdkfvPP8heESaOT40dW+/FcuY7CozUC8K
Bty7xZGInkTVPGrpPKQGXXGYkjaq9f1TN8foplyHqyJwxXvmEa2IqyA73BL8L0QmjFdT1dIn0j07
bzTtTcehG+ftEFCzYQHGeIgxXtEcFk/R3rm1m9Ize2CiTs6T5Yz7Bk73vuctfB+8eDh3teHeO4nS
W0S5ndnV3t2tzP4IdcncgHbOHitSORfgwP0fyhjhDvzD+IP8hh2nV8zRqdbgAxy6ii9x4v/q4+TL
GMrpAZkmqlZTo0vu1hZNba07BL97XxHc6Mt061huvBlGK3nRftD/hJgdh4VRdT+zIiawN7n2paKx
8UigpnxAmfodOwmIM9qyHhvG2Xu4QoSZWZ1/0y7OQhv6zr5qc/cJu3F3XGLC9nRAjS+5SWa2pULp
ivc9u68XbRN5JO8TlqbqzlPkUAxLPfsBn3TyMLAA2NgqrRXNdqO67zmTfjSz5TwkeEKgjBKphP2o
7wZ2uQckjZ+9mNJ6M/kkUKCM2X040Yi8RpKwtnnfLe8J7vSVOfVinRdY62dqHV8Hmv1Q+dliEA8J
XlNWcr8i9JedhDV04LE6PM7sTX+lzGJXkAeANNuou/Renv8A58AGe8Ravl0MZRxtx6Gfr+WSH1ru
956q+18poC+gqV36Prs+fg94kewSK5bmrN5JIw4z366Up8qGYjVwmUTAQx+G7a1NDdUFb8KikuxC
ZC56KXzZHqWKshciaRxQE7fkJDhUEBXpRylhaN57BF2PkUfToTH0xRMZMuuSGGX1m1QT9PpUVNaT
zzx5FSXPPFjekf3lxzknrF6X+iTiliwK2eR4b3ChsTItIAauui7vf/ZN3sWb2nDUz25SDVmDYDJ/
5HJWT5622vfMILZCxKdHUiUnW7221KS9j/DQiALG3F9Oba3d+4W738uiidyfMyAHyF5AzfU2A0/3
Hncj5yvZp/bH4FbuS22V/4+981iSHEmT9KvsC2AEMMBgwNUJnER4cJZ5gUSSAGdm4E+/n/es7NTk
9Fbv7HkPndJVJVUe4e4wor/qpyuyrmo+58lpEdtt9d74iDRUhDS3CSc1gImsHfxAOfSqOiijbFTe
E/AcZ+/4Wh55J829dgjBEjfqP4dqGG+ckTmDgYm4N01WHolZUMpIUPKWaYgDDC1rP7SySbgXlfUk
y0JuCdPGmKu2PUt8s60bgvANpr75LrQAER8tHyeVBBO1XGM8zlvNbYMUPDH1r9H2gijU9rKnexPU
cMzkClYAdpH3gjskGJpMHo3KAGLyyyecCbyYC7VIjVchAY/Ae6AOfxMhkU6V13yBMmflZ7Co7L6m
g2eEoKR+86ruyxTUwew7tdSfq46Xr4YzKMVxFssQijetBl2zkyTODv6c/SgShC0H2gM5oE9igAvQ
IJ7pqYe6OaW5fT2MvTF+b86U0zzb8SQOmOitG/i9SP0JOfohLOUO7txtMbREdIfgqc+Mdx+7cXUL
tkJYG9fDMA9KsTjJvq5viJP6Jwom+TpYiH7ntdIDpTupe92mKixQPZ2aqmSOEhqeNGu9mSGnXLJk
SXeIHvrghLH9I+Xr86Ola33Fu9YQB0rL7sZPbXkZuUFFPsjNJ/L0D8uaOgf2ZuZ1scUMuHfoNBks
OR1KK/QweLr6Xgr7/qoJfbNp96N3qJ0cF6Rond9zssPFZrNeXVJSF6hdRqbJJsTKt6WiECo/vlEP
/W3td+6clm+0sJX+Jpy0/8jRoPS2RVrE9yLPUP4nZY69R/N6znhnh/WD6HO88FyWcUirBHTDqMfH
ULPpNfrG02iJW28Q8XuXQHcyujXfcrB8l7wZsGD5sFWg54/y0c2G7tLxatuGfs0HAnTuxW6tGuEs
bNTNwHTr6Da0h4lsMTdknNqbzMsCnLkY6+oJuMhO1DynzIb7e8Q10++lazjSBORC9t1oLdNm9dp8
n3gL0Dyq9XqRuCCUhf3LYk58Ghn4P/usTASVB+GxHa3MJ9egiJJ8SCIt7fUeS0J2SIXCruLkVXCZ
i759BFxCZc1Alu+QUhh/9OlnZNhcqnMr2/yVthtWwbkxHXojWKcW8crZ8FCbe+4E4u2KKWUYbY+c
uXDeuobNrG8oLgUgxnXPoa1MWK9BP5pNvmCQpfg34dMEKAmqppwfVSyw4y2BdepLvz1bjd3AQ6y7
79RdQNJLmmxnqpzKCRAAXNcZjFXdPWjlPtJFgKrIbHfZ8Jfy1HtBdQvLbYrcku10V6c5QbcloOvE
c1Oe8QYqwZZEV3wYik47bDxipNIpNG+Qf523YKKVjyElaAyUqys91M+zvSprRkvelLUvheEwHmXS
QBRcmd/XkUWFWXODh18gybYNTrsK8WPYpEVivZMaNeeAVBXaM4foYpum+fiEtUpnDP0h+qVqhYhK
hzliL1YjOe3yLhu+clWth3WY/O+FWP2nYA4bJ1J1aXX7PMdnGkkaBVFCOhhidAv5Aqg2FvAnAwqP
bgqGzvCIg7B9Hzw3/zFa9rJuw2CyvdNsNFyWFan/heaG+qNz4+lg5XV3D2viWkANz/RxXBI8Y4IB
6UM7IcS5o4cBoui/gZuAeRIY+Jkg7b9bjZtG7TIDm3aVezaBqN5yk5MerbHmRoOfghWvnRIhpT/x
LqxM9tuZ1jmjwFLiHHju+3HeATFdX5Av5TnohHpwFx+JIZ9op0yG1TKbnlTzL1QDgNBJLRjp25rR
gQXOzNtZatJHNGSoFOBk5o8s8NkgkFCXS195aj+kjxlks2FHtDN8KbC33CaaNFDh64K8nZovsWAn
OGKubTGxrWn/g2Yb09CjN2OumJsKqgKqs3zEFuFimqEsItxRh3llELsotbuxgSe6c2GNR2wj4qH0
wv7RXcT6jnA+PVoYd2BEOBjpas8cetO6ry5u4nu37b19FliA+Ro6LykxlZCQhnLhXj4F/ve+LVKs
QX5501vgu7UloNBUQBe8my4g98lHUPJnCmeYMlhOWdsenO3HwqgR+Z/DdZSC4jzYaTbf43TH6K2A
bODp5o14bHK9WtsE+t6v2EkhC2ee4zyD3QAckBFieYaOIEh2xVygQ3+VbKcGHHeYcpGaK1fe6cYx
T13S2E9icuv7xZI12M84676tc5DdQRSntGXsAv9iA05BxqlNXh+zvnNe/TQUN3g/fFqk8WmAngYV
kWE2rdQZQk78Myuq9bMNeXj2GI64e452N0FvXwGT+4vLNW6FWvnOt20ct3WZsROges73xI/jn5PV
Xxc4HiJ8suW7Uq44uU6/XmwBgYIBP4WDXWVuWNvZgExo/zIeQetd2LDzAY+3Xn1aRh5nX6vzjF/o
1pv68bS66fBlBg8rAl9b0tJB2Cl8B/P828/jaqfLYccdosy3vd/XR0oL1Vmybu9G1ZTP3jxKakpq
LI00HPyqc9AE29Wn660t7fqYe2rmjJZU3afTkpDbJ4NqnrgioX4TkngtRjd4DDid/VxbpZ5XoflD
sw6ZZOw+EhKgXPHihXFHpoxFhtUGvsx7+FyDtvrJDlQFm2uJ+ItFlV28rSstsn1j0geM0+apaQrJ
9IC1BczA4Hk3od33D5WrypvW4V9y4uZqxvLVgz/XqAn2Ug3fV2S164Y8igtIExPFilvJJqmn8gkY
dUEtcZgLkrxxsz7C2uIT4XBzC27ff2S4VZ9K26FWQMDFFMUst0T1uGp4pJ+0Jsq4plN8X42Lf+Zf
S+hY66wfs0O7AH/5kcZjsXeyZv7kyhzcDWpdH5a5+tU5EjTQgDEibYItk/rl4mNMfc4Ikx50o4h2
pOHzklF1UPjl1bmDdHnqjX0tVZjmbJ/jQHxxoRtuQl/x8CxtD4Pt2iGgqQqORq6vTGgGFA4LG+Kp
59j+XaWN/xDbtoO9AyrIk8eBnptAKUmqBAO7HPVU7Tkb5RWxGSbmW1LMmtKn4GejC1Fs2t7I+zQR
6jL5jfc4I2d8r1XgyU3hxEnPdZfxTTrwbZrs5MiqSnIhq4NtYqMp4IMTX+BmR9pU7Y56KacxNGUj
u+OSKuS0VFvJEeFmsFT97iZsWTC/OLKkKJyFIyai+ExbCKw47Rvz1P5U8f5ig+6b4wydYWcr290H
MDaag+1Kj900mRla9X313XdjwjvxOuxLfwm+Rqy31xIubPps999slcI5JeFPQJiO+vBMPzIHWZUz
t3LXgRuMgEN3Y4RByqk6Gr2Y5iD3tvKzlV7tYbnuYTpZ0Jo9NBIC/+gYFwgXLHKh6kAw9SZ9lnAL
IsrYppdMzd6vZlrmHxnH1pcOUoTeQOi5rv/QO2/9MCekvrrgEDrAbzjqwee+IZFyNFkr7nh45FiM
xyFQzGGK3mWjKfr0AunO/lG6lFXupzYmDKAXNq6lDv1TDHCVGmQX3gl7MIX0rUsiR+K+3eV10py0
kWBjgNDRE5/H5fLeQVxhbpOGkRAte35NS9oeThyZ6SYWVrzrVbZe4HSyeveTKM4qhOSZzIZSL1ks
6mdo54TvfZuJH37Zht1KZG18hYssFALT+ADjuXfxKsEUZ+hJJCEHE+UPbncbAlECKF14sBxM01Aw
5XvOazlq5iiiLm7mUc3Npo8t64TIXuFo1+b6NyYeOlylmXhlZuuWm4mBqNpWtZS/MMnVdy0T1Ec2
L84uJdvlJiYeZE69XTnFTol1/kBvpkaR9u+X5Hq7qoIe5EgSzv3WYz64nwAL7mbYQ5cgHMWvwsNt
3CP3RcSMdbr18PjEkcRFsA0Rh2/WynbOOIjnO0qSINY7V5EcSh0RGy32QeA7PFkjvZv59OhZKKOp
mbhdm4+BQ/h5ievyRNjL2veFY3bT0o2/nVbml4HjxB29oqxfKyW0Cj75rTW2ApMg/48qWzJTzmDs
D9vqMkrb0+JCzkvsm97GQInZjeo6V/Yf6dCuj3oc61t4cVdohWPtPRFXp9JR9s+yHdU+aQN9W4Gc
u6eENNfbNpuy3VBO60+TuOkxoQHwpNdmOnJeRyZuhkT+/+qn3/83sU8X5wqGlv+zN+j9t+n/x+Y3
qc/yrwnk//Xv/bszKLT/DV9zYONYIFOJ1ed/x48D+W9kPV1cMaHj2vz5H+VP4poFZan8RzJYsLL8
R/mToPzJw2oUKFsF+Gq8/5Yz6Mot/Wv82OeEHwrqLMAbKOXTJPWf4sfKI3VQMp6HwjQUUQeQGSCe
n+1IHwIQrZfTX96ef+YIIjH75+txKBSeUrwjxFmvVZN/KZvKxRy7oR2ijRYmAbJT5Fe9sXscnbrd
zwuaVxXTwQhFJwQuui4j45c8lQNqU1xuWUuI+o9xMO7+xc91jVn/8T54gmCtB/pVhFL94VO63nC9
fMFAibr+va/5OZwJgZ6QxFH03jkM1+bQIDhGcVbSgbBcJMnT89//EP+lDoucuUvPp20LH4/Wn14p
rqV+fIXPHVrU+QOTnvgccGZ5+ftX+SefODFz0hrKDeHRhtd//pdPQPEms9jnwcFt5FEWoAfxNh2n
DKgjlObpX7yx/+R3ki4aC5+4FB5fpP/8alpoxwa4Gh7CWvnRHJB9zYdW/ItX+dNlxreYrlOC9Gj4
fIfFH98quvycbpKxOsiU8FJHz9SmLoenscp+/rffPDDavnNtXZVY/f54IWnBmfzH1zfOUIDgvX9h
z2FK59YPbl7c/T+8mO9e0QSetKX9x4vNA3R6ZTx1aFwPG0PgMNQd2b6qFcPWnPvHv385cf0s/ngG
MC7iuPJYEVin/visMijKq1YJnHTLKzZQq8LbScX2U+mkPkmLtNi1CKZRyknjuDZ5EzlwXX+g1tUb
Sk+7J+RffXDraty5hR870FtwFPpuUO6k5LzdixZUS5DWeJ+GvGb/q9jbN7pdKUJqJpKzAIuYksjc
p3g79x91VenHv/8dnX/ynIcy9EUInw3v75/fRzB4YpJgVQ9JnYpTDq33tAB1JUsmXy1gH+SloPLq
5Eu5actOXIgXsnPBv3ir/9n3NWTl9kJ2cckM+Y+nIodeQkwuPJSwgE+zh7sEMjbIWQTGv/+F/+sr
heC0ua8GbiB5r/94pbTlOMM4IjioOKu287XNixj+d0LcYv/3r0T0878uLUwmbMemqdhz1b//878s
LV3luJYSRh08Tmb7YoTYh1V9fuCOND/5Fl8E0fUv3GaqfT70jDv6wO62HF5bQswN6ebQtOVhUYQx
uN9L/5m4nvyUKAJHRg99uXW7YXkOTe/dogE1N0VKRLTWKUnC1hnyOSqDUDJyBcxkV2o4kT4Ijm3q
+aj3DICtzoDg1Z3Yu1Ljye6o+nQ2EshtfJh60W2TyokvQ5rLexipM1am1Pj7ZJwFN/Igu4/hdHxi
K6ioeg2nvV2G63EJpcVkslOnouvVR+au3v0k+MVXg6fIApxIAE776Hkivjj0w4bcFPZl3FbI+pne
4pnAi4/X5sUTuv0QcFA/g8SmRCWlwG2TLh137+Ya0q3HJaI2vTxmdp8/W3bb3dN9GzC0Y3ZOvGlm
bDhPbge0bowvOKTitzQEgzNWXfCTmC9n89h2vxVW/g50MsQrYDX+Td5TZR5q905V6Q4t9+h6VnWs
R5hQrACJeMLbC13fTf3gxvZcc7+O6EdJ3/kH0+niwK9Dv9HIbSiGEbczazOU57HJSBuxSi23IQr2
tSWZoQ2OkHhQ6Pdddii7afzNkYn3BCXoNk258TTl4GBximkNlK4YGPV65t3BbfYmKTZAxpKtYfii
7fCNY9vSX6c1PZ6uyjsN1Dpupw43pvalR3uSX+2bzo6pBSCZxBQeuBeBwQSZfpOX3hXjPQbgDJNQ
R3XA5y3MyNs3WkZ+xmREYB0RhdjYI60WXivlt7QVIMJC4X3DgWhzTad95X4ksCk3wVjwOsFgU0bM
4gECSXuLZpRdTeEbI4e+fHNd7LSjbeeQh0gKbFQs+caHeNWeS7RXTILp1MKT0vG5MnqLjUt9rQkz
MRK7lHDvgCjF+SEA/rVu8mJYbgX1hOfV7/1ml5XTwiOUIOox5D2IlQPOhvWg+uG7cgw3SYMVKrym
g3QItdFNiuE4Elm8+KuFgJZ7SXhoGDOB4AZ2tgvq+K4YZmpM3AYWL+INP286YR1ANMQavYWSl4Yb
y8ro0500TUtOd8YnpG+Svq6e3XpCJsiWaMas9SLscN4zUu4jw892nKwmicKuD4+BtCs+35mCTnC8
wKgZ7AEFLwc/AtfpvKFdqRt36X7jROn22UAFiaau7HsYhwwRxsTtTpaDuZj2J7GFbEy1tLMyFrLw
z+66suDdx8GDylTj2JkXRmi1Rs7yqNtyTVZ92jrJ73Jq8QjP6/hX4a4ypkRjAo2R29i0+IifY+Xa
MG6tcj8tI/HNmV2YoyjoVwaXjyI0yxE0ZkVSZGBiR7omCmwiWQRuonnkgDivjncTiynfz4o0jh5y
AmjtOZFZwBA16PotiVw4RSYJoEXErxiPEGk1ZZ4WKaMbfLPhJ8K0+ypW2e8Z4ru008R6uNpI4qOw
ZXNMqx4klUTXloGVnLMC+oXfcjhGYk5vknb8AFHMLKGx0fclk81pGIajjtf60pe4cbetN627hkQo
CAadl4RLECNBAzOArzh4k9W9I+uU7ulDW5+hKJhLu9KIPGesuDa2HOIsIIG7rpgfzNhMZPWASrTo
TBuKA8JXv/Mw9OvF2tVUIV4SAJcD7MZDY6jBpkaKLiCEsLJ6wgpVIiRV/mkaXJzG4PmSldBAOQRW
1Lj+9BtMfY+E0aJQ8qxZzgfTaffileYywUhjiJIn23myl63wFue27F1okUBSy0iXigt/2UxR44Xk
LJ2eCwXu4w2C1/iEya7OIu0psyl7NJK8tr5m32yqSckXDknrYegYuTN2eJt8vFaO48v9BGL3AsT3
sc30rZuj1CvHQptlBT/Ecf3pNFje8G7PriZJmND/13mgachk79Js9fazmBAihsm966YhfqrtuNqD
xME3FngXr8ELEAYWlirXpxpgGrrvlNgEW7XQu+Yv6wOTNYpoSWlR0I7l5wPS7UwyL1kifA+FiyGS
gfTWqy2C0s1St6+cy+ZHUWfuEaBwfNDZVG4dFps7RPt243RW+Jzy+34jdD7qXTGXmneDjsiZ5bzD
r+rAu1c7fKexvZeLLsa93/COAC9d1UMpaxAmCYvX+5hq80PQrE37pgo1gH+GJEHk1xVMfrN+LTiv
N0l2tVuo4ZO5MkUJiyb2HQDJyz2QKIRoOmL85RNr/85m8bnjIewOa45XVLhh8Q2eUnfGJ414P6wr
Q8GrkbRM0ijLcDFSb8xjPOkbvcYzRQ7e2ygy5vOhRa5qIu3CJv/g47uIDPaIgvmug6Ey9ie+uYUp
t6vyumfh288qM92xaXOg63gcj6TE8vO8GO9YdQMVfXEO/UAPNa50yZdi7AST9aYE10Eoch9rQzlT
i/t06SvxQINPtqvttP7WBJ7Zd56Ei7HkN+BsAfqZsPliQ0JIRgY/rr49vhIiJCGSzXL6rctVepuG
tqRdrs26WdfQ5swol8iiZuKIn7k60X/21QjRnOcpdp5dJ+wirAoPmR6L87JKScOXi8zmONb4NhZF
8iXXQu9TPpv7Dp32pGQXR1Yd6qcVYhjRfAjKYTfcObWVRGWGU9EPciztRT4Ux3m058OU40Ae4o4S
9sp+7FYv2NIUIaI1GOdojSWY/sRL6nMu+SYEs7Ajxx36DVbONWrmrLjxFvK1m74asmnLLHnCF0Zk
RsyivAGnXvRR3fOOhH5eHuI6dE4e4vymTf2bwhs+Fj03l7mZ7+ayMb8gGwy3XevSZ+yUM1NaOkvc
xuzD2JhP1/gSG2c3niq5HIrGeiNcg09/WPHMYrStz01cAXJsyXUng1+9zmbu70gioF2zCR6BX57r
pdKvXpuCgcFWv+vCUf/q6mll5+ZQgJxK7SWSG6xJwdp8hYTeKaqUHmk4rbdMLqn1rYRVUIZaNjuE
jPEBmfy9XSDiNNZwm4qxhLEx7QFrEB/q6aAth5lSLgZim7FZD7ivsJoymjXMcS5iZWggsix75GAP
NTTJ4x2lXQDGazcQ2NrrNwMoO2oVfcOF/bP2s+MwOf2J+TSzPCZxuAkUhmGsIex9s3fsM4nz26rx
gmDtb6SKFp8wK0F/KziHDckjQRnnkRa2cSYT0JHJ3nGF2tU04x44yhf7IMFB7ad5fEiZVx9cXn+j
K/kT5H78oSoqclqAH/YE9XHN1yP+m9elN+BCRnxx1vAW5GJ8SEdiz6P+FvYWe3Rq/Qyy5k24xaXO
/GdgHkQbKueeKf3vpPitp2A8YG4EvJ8lL7CXAUB3Lb4DdZtJulHFCkteDea21Nat5huERzUsDvHk
MkKZVR4l2PzZpTCctuPB9bvqfXV/2UqWUSA6Z+tMeQXlu8XHIheLD9BkL0MDeoYCu1e9Bm9+l/O/
7rNo4+9zI29Tp/zmCdnfGGxQ26HUjHWr9DUV4VFW1csU5N9q0Z0Y3pYkSes71y/42QXJDL8dmbsx
O99AYcIzZA35jio4auM6QXBp6qLJL59ynqoT4w5aJO2TPy07K+jkBmsrY+6RapQ8jY++I8Z7mGSS
JmFlfkMRCxHNoOPGVnUOM+lHIwndQzXFP3DzczHnuv/SX6sarpd8HllgQD/T1WmjiiLaJK5kRK93
eV6KEp8gxQLXo5Tf4YnA2pKWwUA+pM53gYObIKzri/CYaJh65qzSxvRJUvxysBKuCGbKCm71FmcY
fuFcEMqZxUAoCL4IgTk+b+6tzWay1HPgJ/eeO2VbX+jvY7VGpuecX/ucPqsCq5uMWfPpwNl2bviU
ru7FzeP3fqnvKsw/m3rmcweRYzO4LPUpTdeWTb9+tXtv3uqRKNactx85lMQdCQM6TJofyvLe/dLu
t6tmz15aw4emi7dWuAPAi7F6mxFDN4uU5VHjCjtSj9HsSRsum5bGlM9sHIAKeSk5RgSRs6qvEyzV
WbuuAkeCB/Z7zTjiAMCc39TGAlzl4710umWDBQp/r1sOX2pJ3Xsmk5zufBcOLM6QyGLaAYHCvtTc
WaKc+895qmMOR4QGpdAPuueCIdug+0iJl8PIiYcDEstzN4BOjltiNWMC27bq701nYaFk7dh70Kov
DSU6HPpn7s0Zpvq7VRD709lcRIDRaXWu9btbYLmgncKORAZ9IIl7XJCTP78IIvEbVZPOnDT+g4Tp
6M+ZX+qstCp3/sxHKpyhPYrUGg7st/Zd26UEbIinnavuSNVRvvdrnJr20pV0AQ75pSCf/Wacxn8L
Zvmb0itBaqOmMhuy7zsRt/5YO7n13Laj/gGfJnnoNeYAIjKQw6DbHUD7jIe5AokyYccBP2KqvYeM
s8NArDZ2R5MP1k4ih5z7jHqlWJ221qSnXgOcCIAjND7IPgZP+5C2w8lUNFrgWP+2dBwV8a8WP+Mk
pSC9cyA6aY5C/dXuFGIeQ6vOOSvlNmmGrpbM73z/3Op++TaQ3efC5O9LHt8IX/VA0Uzu7qcco46u
kvkhY3rMabFoz0ql447s1WOKELUdIfle1gWyohilE81oKcUmp/apofb24s1an3K73NfhNEchDzp3
KeyehFNGTOCacyUD40s4QTxn7J9uZeFA/l3j9NRSXYiPjv7jquzlDa+z7AcoR4dV0mVGyjY4x0FI
OcvQMGvNOM1zAXuejHC/F9Qmbf25/zWH7vThFAmT5rW8dHMav1Ne84vruH4Kp67E+6gtLCEUZUdO
occbyzavQsh3Xtacax2eUn+gVj3lOGy8ZdnqGMlNkLkwfFA6vRO2hTZU4zvfV4ONFlRZDqpj5lNg
XfP1aZo2kmkTk7PPhfc+JMyr+Qq2VO+wTcfMcDdBPRBOJSdGNW7u149oFfVra03hVodp+0nfr/uU
QS58EF3n7tOFqyFWt0w/FCL8QaVZ+IQe52/pKGYU6rUNkaAVc0aoGMS3g7otTK1vMYYWez+csc7N
eHjaLvZJRzTVwcI7u8V0Xm9c5WTnJcVVA+ilUTSKEI7N6/X7ZDx6aigt/EgbjSU9zzUKh/+DSSqd
mzJctgwIkj3j2/a+dKkZLsYlo7aEm1ZAf8SJr98jYNHWoe0t6Y4z87/bZKyJDzdNdkOIOSs3NIO3
600JtUVhPHDHxwVm068xnzpxtrCSHMaJsNnW9Vf1QZDahpA1qVnu9ZBmXyQatNq67ZK3t2nSL1DG
CAtuS9vS8T6gOtGjakiDkPLlAIMZf8Fm7dcXW4Cua8eS3XEpvB1Tk+fcH1gzQ138pIggjfD5zzvK
uUGo11QwFKaVr3FR09wDWapy9LlU+Beagr2DZ7VcL7WuSBypwOW3UKvBG8fwe8Ogt3njhfQrFRXN
R3FdO+kjuWtA+kd53apbmYZORMwKNFMe9PW3tmndcy8rsV89oo07r+nioyPj8XXqlvW5iMfuJStc
70I/hL2fLA96TW2BK7FyVHZTtuXRacNZ89LZAMsnXv1Nvzisidd80IZIL9zFFYIKFPPJ2meYJL2N
l1r5tqS4IOpUgpa+dEW8o9nLwXM6DFaL1cqUDKyn9hPDupDXz6R4Uaw/d0MVDL+hf1oUxXKZPAy8
1cEt+zcNBJnQTzGlqrZTPPlBWB2o7oI9hX65aUM7gY5J80WCpQUlZ4RNP1LUNFp3CO6kwoEEmTFm
4WWOEOGhZfJfkKtVkCWuEMXt4FO+YVnEJ+fiCgKDjXeReJk2RWfeVJfl6S4tXIsLAjXjPlepYzhi
rdAan+QEbIhZWT88caWMef6r/EANKpjvruWn6tMPoPGcbuQw7y3nyitfp1+rIcJXz+NKU9H0RjPJ
sZt6XDc1Bb5hENsPRtRmD5zZBoJpFeQ48YnWtBtsaXDtzm6QER2qhz32zHPska7e8m2Bf4cqvEfV
GS7K5OLH3Kgs3lV5VdGYYC/q0Gt7lEihbX/jKT0clJLgUBJNxTDmh/BAwrd9R/5oHykk7J+SKeg/
gjDI73nnuRcj3UXOqNU9ZznKhLokiCqevp09it+UBmnoOM58L9eEKl2ycfEPNFhO+Ojl7U3tJoSh
PdY8ezMapVREkswq9iSdAQ0UTdj3X4VnOzM1PvFqw5CbGTtWssauYNw2fGUvHYDsuCVqllwGrsFF
E+v11IdLS8qXIp9DEvSEwRpVXXpZ5K8FXV57Jw26W8rbJqrnrhOXmIayBUbojA1uX6YN//VhMk9y
ar0DeAL7HllE8Z82kGUSg6InFVatKOQsS0Xk3InyHsjYvkqFTW1ADLNA1zusK+N9XJa7nnoWHP35
nhtQvG11+zWs+rXu5/AVLBJUf5OQjsf3ZaqdctaPqp7fVwPp0OsLEZGg2Fnm2sze9sm2WSD2Jw2a
EAMdCgMz681MVgYhCe0S2Z1oV7rC9KeXvqpSD9AAt64ukfkxsEMus/BlEF5S7Z44wUJ9zDTVXZHd
sytS0h2AsZINQMqtDnqa1ckZY5y2sE5tmKpYd5RILE1kWxU6DopG+oxhVd5w6GtOIvepH8rS9tkf
wZ2CqfEdmFiVYUqN4EEvyAqg+MG4BFtZwFz/xU7a7qiLhEuk5rbS7NzY02dCTjZEC3uZoyIwetMl
yJr2pPwPfq+VsGkFKqEbZPPmriN2KG4sJd6xhEAN7E/31yI6Dr0EV8Id5kc4GSiL7WuwXBdLLIBI
yIUbu1+eX2Axm4gpHnJmCGxv6CXvOKTUR7+k6lbnS3Mh/6ueGHyqky9c99WWIAB2vvxHgbnlwVvq
SxN+G5eguUZ8qvqEQ7i3+W7bGXKaj2g3SJCLm3wkWLGzHM/5jS/LfcVlbIMkztuvQtGavelDU92T
yMf2rAnEr1QjeMUvEob2KZ6x1dpMRp4zGKrJjhJSw77T+N8X5al7jOXlj1KtMYppktwPc+Ph03Fx
25ohqT5zGa7ntvKu7tspRIYoLS5MeE81mChSXs8hSa+WgLfnfBpsVsdJ97ROmiD1Hwo7Ro0IOpM8
WKuHtptakQBH9WabsP9qarrIGSLF71VSNd8snv29ZXjnc97OgoiRkselztZ3qj3SD9B4VyQUaLVv
Qlv+Jyqw9700C9VD7YqF4OqZ9gxHeKhKal/zFTm3luexpVD7R4/x/AX2ltYndJstLXfexuDRrrYL
vLI3C/PSyZ3t5aKnKfyW42fa2srAFlyC7OwjMwMasvo2ahsdf66ILDwATdl9C+o+Pq+ctTlUr4A0
Cw6AWOIqk9JcKl/YvOrfYz00D2Rz6KIRnII2UmpSZBmHIKewvlOIZ2PEx0aBdmPjrQWucRiTIr/D
x4HRjWW/27uYzB4Yl/Xc8hL0LpmVHEpqUbXPi5lgVdGjRe5poe+EKKTJL6KfypM3LcHpyt2gU7Jp
f8HDZDDYwCbotrmjyIkIiPYvJpxse0cIvrmwYNDqCCzYfxAwaZsD1+RZbEfRcYsmwZ9fiyhLPKV4
UMVPJ9fTI4L19GDbcfcsMdj+pvK+vNRADmEXxP5X6MngEkNOvk08ZdFR4ozul/yf7J1Zc+NIlqX/
Slm/owybOwCz7jIbEtxJkVpDES8whaTAvsOx/fr5kJU1ExlVk9X9Ppb1kFmiJIp0ul+/95zvYEn4
RHI52NAFSvW1QHrymjRN64B1dRrpuyRfkR802DYJEYUl9yxVz48YkD61ooYf6ZYCVoodtPqD1nT2
S+jk+UcRNi8EL4EQb6lI+gmnKN6/0MD4IOr0hoZ/esthfjikeeSFop7Cuu/Qep/3bUdbT3h9Sy7N
MPIiq6qnwNBkNevHJKrt3I9gmjFvGIP4bho7gWGIqSt7RFi4WyuMuhN2gsbxU/oV22GuWTp50efZ
2nQ5bAD9MYiucLte+tqGEMGSMO905dCwczpYpEI64ZsC75D6YdO+guEhDjMHQnXo86Z8iHij3K3t
tvZzy4Bw2uh57XxQGtn9Cjbq9J6g96W5klVOsq+c3KKQQtE5bVnNSbvDz7x0BlESyrXjFfIbRiKJ
DYuS/xQG1gDxcDnZPDnswlmja69hAyURb/reNABEmRwP44qrNZ8TaiT+AoYJhikx13Dk0scemeNA
a8nm7KMJh4CWZScADk5IRQzjLCDc9pwFdiN3FtyoCAj1NJorEm0YeFh84cno+l6tqsk2ik0VLphs
ZTglTpEopnXWGsl70NrZwbFjQbZl2OkGEFM9JkErqN9RggKvHm2Q9j2jm+mUplq2IF7l61wzdWCI
weUtb4I83TdZan0kWaefJkKJuOAuKcpTnxc7K+3lOksAtaBILhnmucVhCBWDModh2k16tDOZQSpO
kzZo3+ekMijxTK35gvs1B+NANQEy+IfVG95JaLZ3TFBb3YbZAvPHn90udrHmMk1K85nVcsef0q0t
oWZoTPt23G1KUhittvpRu70VrTxSNW+RK66kN8U7M6zDp4io0nhtgojdJ7kR9Vvm9tG2aO03UerT
gwbR4l2TtHagIBBqRCyhElbybDlRpu/nofRo/tr1K+QDVJVhadxlVak9hJr574QYi/zhj5IXT7dR
QXFwm7j47UU+8ZNiIUp1B6Jp7S53eoan3JhvDgGRV8LMYs5tStVrb2jJs973HKV/Lpiw/5VcAgkK
U1CgXAhvftH3zKYG5cMb3d0kw+7qyarZ903LFEFnbI+6XAdxEHG0QmHsP4aZI6VRKt9WfWqsFO9s
WmGvcAHjrrOKQJ+sYMBUIKnfDpTxzJtN4wZ+1qItk0tA0Jyo876RdnkkkhlldIsuFS/6ahD0Bi2U
WtlaDSkmery2FWc9LFLMauYuH1ON3FPD9eXCfVKNIrF4EE+EpjEZGybjVsfyPSkgS2lOT1STxoaf
lCCqVlzGnB2xvNa/eenMf5YRgkXTPbhplkl38Nc49pylxMtnU62joeTeoN9se5xKfH3ToTCQLA0T
2gwL0gAzIgVwv1XT1iMmsmIxQfsw/SAOPWTJUV+4K5XLTeKhxdYxOKzLUSNzQXHfzVIKYCtJ9kVC
YPqfv/uLkPTXpecJBlo2EHn0DO6inPtp6cWcJVXvNd5Ob6qEKw6x8dkalG90mrXuwRh76fcczusl
eOho6Lr6ZOKlDo2+qPVouAkDtq/ZDhgRC3Qbf/7s/lm2t2SNkHMDls5DmfqLSDCkhycNCdUTniR7
6GiF3hn/efNvfs1CxfunF8GzUTzyEWBrN375PRUDY7sNKm/H+HNKOb4dbT9AEPNHkje/m1zg2SNT
0jeMoPABrMiHmCJ09GmMg6zrTO+K9SlFNsOHpRJFfsVYD4knDWZk1LH+VHVp+/LnL43x62vDfq0b
QuhIJ4F/sHH88Y0jkJrE8pa117cmm8JsEnXp6DQHgXNgYuMa8uKl11KPS0AFCxIhN0k67bPoOJF8
5SNmmD5E4o3n357XgkwMP8vb33et9m//+QtC8ef//NtTmfO///wDZvGP3/G3S/zelG35o/vTR+0+
y7u3/LP99UF/+Mk8md+fnf/Wvf3hP2BCAWK6p1MxPXziP+t+exb8Hcsj/7tf/Mt/S6TN539R+f2/
Rdo39aHeo8+mmX7WaP/+bb/TG82/wkFFjbzIfxFb/1+NtiNQW6PEZg9Emfv3r/wjlIf0KJCOC+xR
IEA1EWL/pS1VFwFC1FF246HjYOEDJPCT/I9CeX79kJDM4nLAItiFpUIT448LTgDJ1Qn2qDeaK74G
3AlaLKdE9SKmypZLbVqrcctudq4K6/2nV+r3NfUzwfGfjqhffvUvmxTgFRgJeltvuKEppvyYOHFk
7qs0+D7UGGH+/Lf907bumLpjIFK0FhS4bf6mUP1pT0zAHUIgLsBvJKl9DOugW4MDqhYcRLollPBV
J2Bzxztdb+jUusCNe2BBlY6hUqrX5dq5sufwJcnT29Q5F5GM6Cwysep0jNh1gIAEqzVzn+RkWPSW
/vzZG//i6Xue4S6afNYKC2rZ7X56+maTt46k6NwIYkb3jmXRCCk7jVt9b08brZsFqEbcInNqjTdP
JfGjHaA9G4n47E2XPriqX9MZi2Pi6twx0cVZ9s4sUwC7XKsRO9IApk8xDjzWzIcExywiCDpUGAxp
j67dqT6EtakDL9axbgYZET5a5kM0ojl3DzUIm0+86UX0YNMhCafhe5tiGhsQ+MBnHIOesJ44vXei
9KEi+8WuP6g9FabZ1Tcg9fPOYTTsd+TbXsrGw+JmgELxXBQRZiSLXdtKTiVAJj7xnC92Y1g7E7jO
k0z1+0KDLJd5/Gar7jNYxOP0luQd0mYvAfIUdc3JJFRwQfnrzkoyU/Qx8sTXqXGGFZftek8+YbiF
ijL6gtCoow2P6+y61Py2l7S3AYTbfs5bsEpoq75ZukmqURGXV2gby2i7ChVjRPltTAOYS0Nkfq/E
3H9WqtOPvXECmzLcDXCfSVV2cSaCdoOJBt3oCDNlXulyJue3MJBJONVHHCeE0pVolVClr02TvAAU
4yCpKxLkJ9J30wx+VnSsbRp2PSxlh7dGtFOzX2A5axTGHOB5kPhZ3tYX8uk2oyqfUKsUfz8R/nAg
/PzhNZeT6OfqFhmdzWwRfTGGBu65v1S3IB6MuqJZvVFZhoyQSX/JhKLuogW1xPhesnU9xbE5nudI
ad+igNEkd7+6X+HJLc84CJ5Hs1+TKwz5QRE0Pxbu9GilerZrBeot6XGtjcATfGnRxVycMdB//PaZ
+v+H2tNUff7Xf7x95HDi4rZr4vfu59NpOVF+2n2WU/P303A5lv/rP/5X8RE1b3/5F1Tiv3/n/4ES
O1J4jvBw9/zBeuRwdhEPbvFJYsTKg9j4/3GseX81JJWfbhiO4TqsmX8cauZf6fvhseDHSWo2739y
phnL5ebntbn8CkMSKk+QokCa/svalER/9mi2wTEgnmkfYY+42Pk1gjaQlsmr7UQuowgIrdtCH8ut
jeh5Q06J8H962f7FAcdx/OtdgqexZDDSuuVya7m/PdOfdm1d9BJco4c3z2jbl9QFHxFILzj0YW4+
qTT2zqOkVYfFkhwRiI+ES7jAFzZGMoo9/xdsQCPFHcTc4ZuIUB8UZCBA8iNJy8/DQNz0bgoOM8wm
n9muuouSGMFAUi/ZNLVm3kct8MoYhNSBiX2z1sifIwcgzIKN1iBFtsiw2BQhTepIV4xgTdsxt50k
/DhxJ+9EljFwfc8kPDfh8YvGczQO8BpgkmmFyY3IvstjS9u7MiGzYm47600XenYRVhYw1aozut2j
Xp9G2a1jiR3Wsrr5gxGuAPiuIw6erB57+NDe6Kex6aN9IzUFjNj3znHbg5J9c43szjjqJeN7uUTe
SM/ubiFaQ98uTFpAiXXMympPwBukICVDck88CDIJkcFrKPHy1VAoRkqpm8/R4GlbxXThkBTcXGcS
6M91FGpbHqLvRsIM/HKImj2DVO8catZwgB0IO33KACmEhG3YtTpNnRbfqdgmX2Koq42japqkII0s
kPED8ruO05i0se5JQN1illBavhPW0WNWDOKVIOhgQ0p9wxBJJ1S3tWb+tPrG6HRa5fi/L2GeJk9q
GLUvw1D3yDMWPS4wb5wVeORrdINra276jzpP4IrlaXFPgDMkahKf1GWo8uYYhxYRSBIwzDhc7Kje
w1s9uXUkt+GoIdTRnatjJahMdPQf6xnNgZnjBtBEIzYOoQO71KJ5woFLCzSasj08Gb8I5nTd0vds
ZUtmQixXWRQAt1dt4Q8k3uwBcpBG0KH6qNK0e42TsNsVbVcCg4GkDaJQ++7MNaFCfTHd5fQYfW9Y
QgpZVlu6SemmQimx/Jv8CBEn7wbkcV+4hYOPgzUxXUKbqpRpknGvj1CsVN6PV73C61xD/feHmZzk
3CuucZY11DJq3lVh192jZpRIGu35nhiZZFPPmNFzC51Lz2T+lk4x0TKGGW4IVxabgu72IarB1Iio
Dv2m0Gn5Ol21L4eqeskKYNJe7NSYv9IInUT+A2R0uAFIkD8FNpWEQz3h8zNoFES13PejN59HSKCH
UnTurqBvT7D95NEfyx1AE5rnbQhDc9cj+QJ+Q7bcvuk0dwN4CRmkQy+LJBWCBbbKoqXMFiH5rNFA
9bVqpOFS5FOOKTez0AI4wUpZo7zGrWY99OOw1ov2bqxmou77Ulzc0p524Lp73+6lcQnd6OqxyWxo
G1x1Rb80GkYUa4U64cyI36eyiX4gJVFrL+uw8HtzcJ6MARKSYwF3YNffU/fKI8Zi2MKDDYu76MVW
cxx5bXnay0QpeAgZzryZ1TI2SDqx7zji3xs7qx/Ymd1D5pTNN7MmtwuxVICZWuYR3mOloAbboUwP
AAdwoYmmJupPqQkBEqonH2EpYJ22qmFzR+mwFa3nVnfkSQ0FV98Q5/RAQG0ECHdL1qO1RtpJhRag
s1lDbnc636x1i0aI6hFhGNZAFyQOwHBqwdXOY4LnTOGVJmrQjPcZZk0nvuaGq+41s0SHDEC8eWlh
GMEqCMKr7BpixYTsLwEkny172rRrCT85gjmIvgJihwXihkRw0wcCGD8iMQbVBs+H9r83Wucl+Ojo
0Ny3N4xfP6dUpuGhKop6MxDLeHSzVrzasdft54Sh0ooBHcZDulU7ePEjQ0RoOj/iMp0q6HFN98Np
KdwDeFOvueGpfSXLaxFpX+pxaPcFPGSILxJDSREjcq8yJgSrSZILM+uz/RUZO415iXzm1c6b7OAl
0zKlHJxDMMTuesqZx0UMOeHmmMGIVLEOshvABDq2eTDY40EmU++dqzww0k+piVY9wHKyH0MSjAiF
q7TqreWj8BYEZvFSkg55qUNCWFZByQG9MRp+W+7Nw3OFUFvjkAqYZfT9a5p72mlyxRhgD5qatZQL
E190jN302BoIvFjWf1g11kMxurmLUIrANQwE8ocxmeKBo7B1D4OTZMl917bloaO//KiampLAUCPw
QKOGbN7nXv0jzFtL30RQ/L7g57feAZBPByY2AmhyL08Ss/AnHhdskoGpJ3uNC/o5SGxIQ1o9IOyO
hLwUI69qmmbODuMKQo1WqyV0MVmTCSDrB5vd+hF4fr3HCdBvwzY0BaGokQsXzHZHQnICa2+LONwg
LmB8YgfOqkO88YKhLnOvrRE4ybFPgYf27gmpI9FHNnxonTE9kjVPr/UvpdfEXweRKHPVVPGM14Ax
gbWJSyW+SR3X1zVBdb8MlwvGQm3mEk1KCCFmaNMz7g1C49hutfA+GsTwmjUVxFRtsB7LzkDmabRi
S3xOySBeC5+B9kQHqhraUrLnR1BrDYlvFU3vZ2M87OrS7E6Gg36bKk27F5NZ7oxaAfsm4vHTiUdz
C6CUNEMU9/1zMxroPdOkJr9KFsT4Tmludpt5XpDoeDhzABh5ScffGJQ/wHEGGzF+jxxt8Mtmir4g
um0vMDTytRZFBkQZ21r3vMDL/WJv5gRJInskNC4f56sC6uU3NX7ANVljGrWYuxvHBJVZQV4KOPI0
KLvxVAWg/fMVEezkPbbjPBzbMomOlDOlz1gB2jtlg3yyyeEZ10zOi4FGv2Pc0pqR4jBJlsJcIkdK
Gqt54Lu2IiE/oIGxOq2RXfhIQ53TELYT8PEpzJHqMfKqAgKfgkRMB4Nsqi3UiZDjyPK2Rb14ARlX
7iDYhNceHv22s1mjNmCUs9QYycdhQ//BXlX2J9LIhbMtdfUWCLDOVno0ndemHywGR32g0Ilo7Xfq
SwKSDVHR88S5/YVMrfqWNSRGWGmQkV5JE/eu1DgsdzSJSI1rU2/naouBJvWyXYIaf8+oXO6EHrtg
tmlP3JVkjQFqVcbKUDmu+0A3JhDiOh6CspzFRaJmukWgp3HEgcw/xamXPvUKyYQJt2wn+jY7JC3w
TwBmVrtJqnL67M0848pdDskXt/OWlDUBGZ+ruQNlXLeIGhkMq8SVl5NxsRkL0rqClegbjtpeONEB
CmK8BtgLhzsIcuxnI+l9c9lUW1k3xblwlH6XDE5tUt+mLyPcJfPYh70G8stwgr0XBDWxz/COzjTm
1CKOwNyuM9GXzG/2PbOu7wpcxs0ezJa6up30R3YbEqu4+arKj0ZEQiQVbPI+IGKKbjeUuK3lpNmG
ogehe1CEZwYl9F1Upr3NQ9C1ux5y8dFNkrfa0rxrzfRKW02zmX2qwgmvKbsipz8A/VUz2twe1BRM
PvKe4uJkWLZarddfmNt4Nw64+lTqAxQlT+u2um2qrT0CSEkgsPwQGYGOqWE5V5xeJgW0o3AcDI7B
LlppL5qc2UMI10WG41WFvksRoUCfE/XDPEjG0mNnWndNoHvr2JvHNwCswT0zWxpLoYaFHXr/KjcQ
VZFe+NnYMN/xEtbEMBoVJ2cYUHRiyhbGQEAVRQFgpJPFO7RJiDba9KBonivTsTeSg2aVVXhC8jhw
LlOURS+Gau5qU+L+Q0q0y1CxIkXgcnNuRJieZNo4bCRmpvYldwzfCzFk62jf7+1RoA3IilNWZs/S
zD+1wL12PRrx1KB1AZ8Ymh7pWCCVXE6mpCW+lVGwBNh1zeo6f++nRl0JJ88hRgbhOZrTaC/dEKWy
8T0dUlConb1NLYQT9KH2lmZH3KXmwUeymW8NDiQQTBArE7I2wr2Mif9EwcHM9DDG4hhNEk9BeErn
WF5CJzROhQtujJxfCNZzJbAPGr1GyZh/uEMdGvgchqeKD9PWhvGDQ4URsF6nsY/hI71HCgUXqAnt
k9sp+942cvfY61W/6eAh+472WzRXnJzUBO5rZZWNQQla6MsyZOowsTS0sclAKI/7IJMSVnV8dNMO
ghsECzfa6U7Pmp7WQyEyn6ojPga5QciLmYynxhS6T2QFYc0o2NTBcHLE5loC08YWgM7ytLH9eR73
dlzva50aYrZ7FwE6o+oQc84hIHGNiJqetzpgQLuO8klbGGHaKQpr71VHEraDMWZ8aeier706zI4V
Gn3fIIbgkmmCRung9fuZkJtv+NetL9KZqwcqYJSuQdy/pEVQHqyi0h6MXomHJcyXvZJMFtLgmujc
dEl0AYk6b3SKtneDGIuDa1Twie2u/MCoi0XCBklcQ63NA+FPevBdHzn7rGkNZVusgaE+1YnSTuaE
VLIaQEVqU+YcsCd4sLUG73HB7PpIbRPEKBSwvVNYm9ZiFCqc6oynC68ItGIJWZZWLbdIPX9I+jGl
TiiaN0MWcNg16GmIfbRDa5l7kFTaUbdi1CnG0N11XtfCbEofBKEqwkVfb9rNXWl+qTHoKkLJZ8vd
mp38mkbDtRh0Y59G46Pr4WDRckJ+GsTb5EejIA/ROZT9mtLwSxN6rwj1fLOP3xoaG+usAQKIiDp6
SEaV770OHCfHTHG208FkHTflwXPTkws8A3aUPZ9kE2kbR7jZPk/dnT2RdZMmUbYP9CI+DISW7Kxe
PepWAYBvKvq1mXHBQ2mKHE9Qhh8AP8j9TCrPu2UmC1zWIVc5xrHok4quUaRr+6hMLB9vNGA9D3Zq
mTrBacxEvtEAnu09g5s+tKsEQw9aKiJ5HH9u3f6AKgImonMwVHQyCHmeLSRHUNPFc1U53ZlZv/Uc
JzZ+qIZYxY0wJw5G1LA5juBgctXaTZTYIh6qXpCFZ75rcUWZJeNyiF7VKSox/qJKuS10u2QicsGF
eh+ZybHL689iFM0F7TzS3NDVCf8GgKtXrl83Rr6lxVQdEjddvCkjlMi0mS4zIiKfvqz+bvH3YcVW
kLacYlxEay5xjYnr3kZViG2A09wvHCyVYVZt+nrUt5JmvCLDmz0PKr/U9Ic+SFpuOKM33ec6DV+U
irLZdvDNdkNcYKAhLOugp0RigI72kDJDFV5VjTjnhW3jC5bD2ZkC90xKJOkfGB1m9HkW/p8WUpzn
PSIF9+PIuk0xXtwu/o6m5HMKGxB9elVSiJs18BYh0Z23Bsn1HJsarmJoOAxx9U2p5QPo/d7glg3+
gJNrnxpib6BJQPvjD/ixCYzO965b8oFy8g2n7acczDvSWrxd68x7oRkn4SIHptba1n3/lahBwuJH
y0oPNcfBY2Po050VRF+VZULuxM5nxZ645snYvWnCqvZ8fVWklC0OF4iDVXMbo0TRHvEuXEqr9quE
MTGWAXkmgB0SgDBf2cDxH+m1wKSfG76GFsh3J+Mld9BxJdJtcAZFW2rodYPxZSq7T4z+Jui3sVx5
DvaSVLl4fnKJttE8yCg+5KTCREP+VMuY8lIM67hm/lJzgG/zgKih3NqR2vmqVa7Npwf1bzws9ivS
5btHLtlkD9lEXwekYXpGdxuajFLPiqNb1FrPSYlFwBkJGjMynXoRMMvWMTBG4Wrfjjji1naMiXKU
hn034mOGkYebOG1wCWLT3ZitvpHN4k4Gc3m007Pm6adqiGM+jsWjSrAx9cUx8Fpvj2ACHqc3Etui
lOer0sifyIcYX72iOyYzc8CMC8cqr0b8L9m4Qy9DGkCGBuMQdyR+kS9i4NGPiOlqjf5Wz334LUwN
okAc640r/5OF3GRAu4d+qv5w6HM9YWQtDwal7yGiM7RBGX7WJFmPzG2Q7I6Ou7dN7OnFoK4hgaUr
pcrqxTIYR5KfgXA31lxrY1QVY7EOH3NdTdXZdOiYcW0Itj0iukcYkeSG6PN4KWeb3PnElPVBykSh
Zx1x6TKU15y8gAHN5DAnJm1XmQEsX9OZvFVdWfFzL0b7jnW2McEwTDJoz0kALr9MdLpehzkxXYw+
Yws33dYOSI5gZqI6R3c9O+/VHLR7yCGPXpA85mYZ7ZwyqXaNV6Uv4K0rvxbNTVkwUUFOk84CDsrX
AvxbIec8dTLIxiRCDWpm1QNG4X41UydMmJaBagLiPMwVSol6GL6KsifanF38IOPQvmQ60KCwJ8oZ
enVaMSMNec/2w2i5ZyesBNpCRwI+FgmPCyyaUFER0aGqxQdDN5o58AhukAHH+6QNayiRSz8cctlA
JxXZsmmGX9JZpKDXy+KICHKsNm3MlGulBS1y72CCKDvA0v5GBABBb6kltmTBoWuKUuXncE79eNYb
iJkOKjX2hSkzLp7AmHDu5XQqRKK9BAQir5KKq8em1QzjyRMCgKlJWAqS/DJPzmNLSeYElbHvB0M/
EWxTsDqLfIZhMUkHHzmxfkGIrZtvsTa6GXdn7vLmC05kcTA6CXs9qigdA7s9Dw0XpkKzdFzzAh6D
LK1djf9rR8wBBZAha2MTkm4BqbXKxVnvO7+h+LOIYWxWCV2Ks9cI81HlZnjMJtN8YuMvrkpaEXLZ
GqWs3tT1zkxyq96OOrAGYn+qcc3lv+Loc+b1ZNfM9VGo0gkrJzN6cyX7BTrEIX1GSHZRHtntzjQU
t6Qu5doY7c/A063vOjj4yIcFFHwEWZw/UYZ8TTyBej1t7k3VPgFC7v1+aXipedh381RtQfO3p3HU
Wa6Cxpcri34/anPxVgl8v25FmAqOS33Tlx2riPagH07pfAOmiPVEz3AbTKSibOd0iUDSbRp0EhxH
XjoQipPqzoVrzcxxxHgRdc/9hDlDN5svsVHX6yZGzogOVd7NXUgSn9bW3+wQAT7Jds6ws4Sy67Wy
0RhWgotNGDxFkecdXG8pdxTmWVedxjhJ2PDG5DiZzo+Y8n9lMVkmxzHW2QlGaLG9ciHSZjmHCZm4
ZJF0RnGWc3ADA3uTIWTjyHHHNeRf/KKd+Y7Rm8VI1vtlzKmNm2S2Ti2Q4TfCksNNUHrfvM5w97KC
W0WVZK+nPqMI8yxS+/KAVOyxN409py5XY/MYUzU9JxnAZdNg+RUOpA41utqei90AHSO772IJCYDB
FACH7mxQqLduhy95pitJjuHcHjCeaXf9kj/E+/EUVZJfRyiQbzdpskKq1cPWSWjhN/zxWbWGk3/V
5lo/Q58Cl0FOx9Fg3otAO/XoDMmU1J/xwTCxNQQNBARnGIyjGQC6xeB1IljoUedDtNLFsG16B4p7
lz2VWXI3AUNALVvZi5cffeScwhRcCwUiAdF4tzWpcNgLaY3am87r2ZOxNZUnr7S6iC4AgIdyGojh
MiQbMjP+6nnyNPmB6ZyuZYnBmMJi5u0ltIOEiN6fYKNHXKlT1Oxsi5cuaoMbWWvzceqkC/8TJFQK
a16E8l62ibdVtvcmEwP3W3h26XbvbAGZt5mse4+6iFhPtW6gFMV58zKp5FVgsF9VbUWgIS49Lb0P
2j5CnVF4jw1eyrWJu+vB0gH6o5LufMCI0YvA+bEH5UlJM7aljyEVVInh+HVU2RvHrbRdDmEkVPcj
s6ZLSA4D8tp5eMvRYwe40ivK7q6h94JgF+JUIc6GMpmLodwmGL3qjmFvuz7xbgdoFiUsW/TjOxej
BbcVqgWszRPHCXLiYq0jaKLliPTCqrHprRyUZi96HS3UblWJA7C94juRfqBIK2WWZ35ocmSC/9y5
tKgyzdyW7G8Xb8qI3NKw97/PKYUZ5+FwHw9zfwirAo+A13T6q4gbjTym3DrPLOWXsch60A1GQDiV
itor+wLQRkKGsm9okPv3yOm419E08HqGQimZ3ae2gClJ99ZWLwLt6bXXRj7GU8qbwIxpiO6I1Ugm
7IQxZWZWWd4TuVHtIRrLme0K09bXAZnWs4qMqNjhARGXIhQlKWyjbZdUg5iSQgGqdW1lkMtXc5gP
CMLd2K7wGTjxM8TU5sA4ijIOSXu85UZt7x2ic+YVgfMmjwUNvvbSoX9NnOIdg7a2xn3+zrUcLnON
aMjXa/M9o+Bj4DbTsFppCS2RVunuqTe7mJ2i5B9fgd++TChyKCl18Yp2lM8SX9bbi2bJ9rtFiLqz
bs2g3FaqF5gdrHI797Y8uEEoL0xZxzsFpI32GDPhRg7dtoozca+kzY4WOSELpXZ491QkrSXvDgoT
0w1EQ4x96HSR5tRaPdBSoQBpYIpwjCTe62PzIEebMWQWgBeBhaSBq0qyS7dkR9NZi7Y1yfYzcT9A
O34LmQ7SJXAa2zYWQUeOqOGNQHwvsdf2G3vJqW6XxGpzya42lxRrZ8ysa/ZbtLXzW8z1QNCdRfC1
6m1jrVshluyGVGwmijvY7AXhW+5bEenh1l0ytFn4NWFfnjqUZmle9T5684jwxLRFTbtSQ//VrvAx
tHZYb1J7vik0lb5Z5d5K6TMc4cic1rLLZ7+eXquYfEGdzF+zvGMiWPL9tfGMAwu3RdrsvNidX4o+
QqoUwg9XiRpQnBqwYLLmaBWCW4czN3tugWRrW2Sdqkpnr1cIiIIumoC1ECGhw6u4JC7Nr5EW2IOd
IvzBeS3sJ4ZN85bUhuB+KIZ42xGA9TUgyBTMlVinXkAWb9PkLwXxh+syxU7jeF58rwbP2vVCZvka
AAv+VaYoCI9gP3h4zoKeW0eaJE+R0rsHx2TgszHzOCSn0NTjE95hSoLQJUYxtDiTBYLlYLbGx3FK
jX0sFBSC0eOChk2aCeKB8A1Gp4v9aDmpHS4eG2dxpFQIAlaVUesvMOkAyql2opvSk3s1a4afxEO/
KUX1xM2MKqWzm52Lv/aSDEm/zSdAN1NqfmP+FpwoRJJzRjUJr58LzUR24kmgtV/3CSlahJf2F4AW
4otDuFwe6sM2ia0Je0vn7NOqak7VbMTbVLUIjAaz3zFkoM3ZVejn1lQt9a4rhuAx6kd5R7uSPyVh
KOjUhX1iNG3ceFVt6gN7qi5GoMSa6Rq5RuXsmMgoKnc+F/Po/JimIs92TF+4AzJ1G49DQ64gFExW
D73Up3C21dVS1U0LZ7+gm4fvvZMHO3PA5OpSlKewCGnG1TrwBZ+xitpitkjXwGJ/1PCi4GJKRipO
aamPDOnAttOyYG+FwLxwH1bmDhS+ccK6us8IwntLe2Q8G6/XBtyRoohfeH+/YfBLdiNNBI4u5upQ
CQyubWPgy6R91e0kgj8Rw3QYjAgejE2bjuYO8zvdt21LU1jMlNwQY89IsSHec5px1rh1ob52kzXd
konzsaqdZNVFXAzAvJ2cYvG5Vvj+UoyLA/V/PUXxQ1ej7INf0VpXqPB4dEoMuqm3jQfWL3idZyMT
6ces5TE2rcb5YALnnYUyjrFKrGrFfRsku2sODaTy2MiImdbKV42B7BWRWgPLrzBYFYbm66lVfRs8
/C3EDvWpSSiZpBVMzfBOD5Sbh1lb1xAQ1AZhECGrLqpvBv/jAQnkAvgabf0U5mCfxgS/ZK/hiyGI
6GvQjM03L6LeWMuy1090nzlt+kTg2KFZyTXB/t/cncly3Ei6pd+l1400AA44HIvexDxwCI4iuYFJ
pIh5HhzA0/cHZd4uKbNupZVZbW4vZZlUKIIB93845zsa14+2EEYGLnjEsq+/MBh6xWD6TY9+xjUu
mydhR9kxrmEorbhO4xeL/vNLN0ED5xQyJxyF1On0Gi3dFOzHVNGzAKAC0UB8R3GnJsKwgkLJ2y7P
va1dZfowF+kwr5n0dTurDUtnBw4TTYZGTw4kUHfGesrE+keDkzKW2M1ec8fGCwZAXFpMMcJ2PCjD
9lllGArI5WjflY45XAFzw/nOeXSPyMNYz0z6iaAbx0vmhg5U4y58ibpCPJHRkqJ1WKLOBckSsP2c
Yd/2y3wcloBFWLVm7mQ2uWLh1ZGT2qSbMgaJsvJCboKYAJN8NZC/QQR5uOnIPiX+m+TxrrAR+RSz
JOazVF6ykSRPb5XXfiZW3G26MqjBfCbIGZo0m7e2sB49Zvvr2LT8veQ03bLfza+MzL64A+GOLdSx
le3O3g15cyX9/jh+GzL0pBg4tbqDmo6nHY2jf2PGVn7PktZ/wF4wXlhgL16CqDgbk2SvRnjnKWk8
4m3CMOvXAvTSgzOxZZxE99Iyh17gXkTkioWLgpKm2XOVonchWOi2t/N7JHjp1UjNdUj8VmwcrZ4B
cUSblhgeSkk1Jk81ep2LHkZ3XJm9kzyPNZiJlaFmxE3xUK0rMV83fCHWBQACAqUn79hG6T7KdXRy
c5AYeaAUAC0g/UGab3qRKwgYU3FkloEgk9gZnohRn6wK4cycNMw3G88jURqi1ws+DVQfWGe+GFLc
qyZ48sdKX6ImBIwS0MURaBlucu1Gm3xM7iL2hOCBugMx5zw/vj+dwT8wec3G4obwowZ7d3qE+qPv
Ci9mbkATdeVP+ZSuaJ7EdeX5uNAs/a5aKKbmdA5DFkbKcE9FnbO0IQu8PyTBaL5ETY1HDs7G3nWc
/MkigC9edeykj0VSnKxS9mdmAmhCHHfcxJZdP2OCm68VYX0r2uQadi2LavCjEuMTeqV6XUud7XCc
JQeYq8g6IHGtAX5VO40hNef6mrCoVyF72cgxszuO6SFbVvLjlpuj3LGTNM+9jRAY7uK+akP3gAuY
0R6WtuqGc8sF6CGmE3oCzE1+OD4OXTjeAMmET9Kr+R6JZbad44CRlG8V9zXFxb3uJnsbAqJ+hSBE
KFTUj8N5zMlMBU2hPuUoguehTccVsCXuepUEdcqTP5OmFLv+F2yrE0SGkqlBVBoE4tlEjhZudEy0
Wx7zyLPvrFjGNwjYGZTPEQknvhbdhdlA9J6RCAZutSIOQzCIRO5gyfMkWwd0ix45z+aWqeHoEik+
+QCPgP2h24rZJ7iO/14HvnOiUAnfGRJSQyTLKErUyV1ME57TCPSkLXUvyyjoi4mvktCT0uxe50Da
z0w34lf0afMtsw2xDf3A2M6Nn3yPDMe6JzaPzUFQZo+gLqMtawHa+wWzIfzKe3BNKHpRX5PBREju
/RCyPodNCUm2i5L0s7TE8FBwvbKYmYLb2q9dYElE2x/yLnFIbgiCU58Lsatb7hqa58K8ZNmkXxmz
yGtWVtlWlaoHnK2d9paNgfOQ9zTgRjmlD1DhviVtA6aw4f7ss+BEYAlxJ8JtbsN6tL66xcBYMeWZ
WRWkN3AnxgbCIOLbu3q2j6ABIYRJg4SumXXxytZ9s8GKV+3mhkFGlfhwrX3b+rQTFZxR6FQFdlbC
gwg+6qOLpDjYsYyD/FryHOqmzvna0urTOjMtYBtl3+uyDe4T3y+3sD2qxyKIH7hdqXlcemmuX3Fo
cs9bZO3puU2z8UnqCPdbB/jWMbKOnTVl7YYaOf3iJxWosdoIopcB+kWymDc1Ywfm2zO6Go6o2Eh3
nimcc2vL+WtRxXKvIrZ3bZeLtU/LiSOD3Cy2O9MD07Du4Lreou5bZu+V2befiGumtSpD92GurflI
NiawcntqVzRd/qlKtWSmwSaGR7VedU6uGZ+0xLSzVyXjBVlezNeSDXY+3gxxd0d4VYcyrht2PRTM
HWoyas4wNvYFq5uHdiApJxxa92A6xIDhjLG0S1NJvMxsSDKumrl4SiM+A+m0YhdnsjyWgw5umqRv
brFlp6QF8e8PSZRllu9B+mb6+J0Dx7gegok0PZkZyli5WcYZ9L/RiiVJYmcTmArtWjDZFx95GYBe
CrLXjLBZVihIhp9kxv7DRX11GYogeUv9drhxBUsX5rSIYUFjZ5xISfE73vw/LZf/n+TugnX8k6L7
r0J4MI75z8p5hO78wB/RG/I30xI2VwLKbkn2DZp6/b3t/s//Uv5vqOL5X7EZoaf48V/+0L8TvUFU
k0tqiuSHweEjjf9DAW87v1mEQ/iEwmAIg+L0b9m6pPWrP0M5QEQQ55N6Z/uew2v9SQNfRp42AVyI
QxCR37ICYRPh1bACQQJbidCSx2jOLioOogiFllDFGllCR5faJeg0os4bWuaUpteA0essSNYmoWsi
d3uymIw+iNFuOwi//WbY2pblfJ+sRaCIiSU+OW7Wg21llrEG1h4fZRFuE/LaLk5c2Hc+UyWgDpOk
uTQKko79+NiGATtp23lQToX1w0NKaVZWsykRkV2j89m1ABkSB94xHPoTmIO1VxGhNzd6BlvLVMJe
DqS5UeXOY4AMR6pfQOyIK8ravw5Cw7qBvx3unTmCmhfH58nOkAsibUIA2fq70hUfHKRYqIb2HRWY
QulC2G7XuvOqH4PpiA6pu5t9X59SAuI+/JrIz2yygI9Z3VdvNNTB9ExCansylrTPa6pYfg8Gz7rp
6vFj7lkMmySbrpzEuJG1x05n/kYffjRIkO7y4MtYizPd8ZVDKdtN/Sl3rH0cmWgkvdp4d0qld8Eo
PkAb7FsHoXwqp0OfYUq2tXgM/SXkIAat56YLjygEugMf4ksWueO287wXmZhXSYOlTnkbYjiaddyP
2O5CQoFUbxB4q/HzA6c85Xk5IXh09ijFaTqy7pI2FYvImdSnrYNn4aAr59ukMX7ljTTvyLC2b6d+
wRFg5nrLW0LXV6Ucwnc7AFMTsT29pD0wPRQJznvT9MY+62t1m5PhfUayPH02fjesiLETNV3rOJ9R
GOmrJkpvTauKP51GIw+YKkFGNizHvC05LuOs+6jSng5CId6o/VOKEGpthRY35Gw04pZiPeCoVZe0
9PyNlvO9isq71DNhRmrvMuexPrpDFpP5B+UcHXxgX1BK15iYpndCD8edMrI38qGHazx3R8POZqAK
0CvuPa9HJI8SCRO3YnAn0XEllWafKOY1OMjp3KXerWU47n0Xtq115XlB4rN8KawaTrURs6J10rzf
dTm1/9rIdIgYws8khoWBN7vJAB0RSip7bnZWHXm2deYgZz8RJ5I3DKrivlEKjEUi8pZtSyzAxGVy
Ns11P5CwwzU5glVpPTWFyGsiCHeeVQbeJsgCzbIvsWjhSZ+KxhWgELZghhPn3aEn77xbRzZpokDg
nbj6gsqvidmyFSRkgfxSS0dmLjF2gyq4biJaaIwFCBHOENgyvYOxSN4BiL1GsX6sqSZTNzPKzyqN
Z0LcQdnwBLRR5q9DJtKSAiUoHEgDvgq35NAxHQwHsOP7SMjJXpUuI45tx/Ap2gW5odqP0h6iHKGM
wjpglYBwUHD47htwuOlLoXli/C5hfh82atokgMPrFXaTqDwgroK7aA8ghdaUlkStuWWG04dyig/L
Sw3EHM4WilD4BHCRJ6Rj5W4Tu4noCuZ8i5Hhuw4WZHQc4chAqxJb6UWWSZ7s5t4p1DYnRja8idKC
3z4zoWi/hDp0W3Jj2EKbUs1iM4V0wPu8jzzriOSwy95reIbxzvdSZC12TiTYyhksSiLfi9Gg9dG9
X8wAsTPJC/YVYRYWQqsvRRWRPDEFY+Ni+4TxV84nadj2Wyrj6LrAGfNVFyUIhSwa6+u+bNHTR2pO
jvlIvaWYyrpRC2BBto9J5z1G3fiiimTctEU9vSoXICxqtuxOJBbHXhziGCmK7gFoU7kbhla9hnZN
bSk6Z36zzPlDyx5ho9kXz4HRLIgo4FpEvEFE6s6SvxeGPowSV3CE6iG/6pohFXvfCPhEUdEtYkCo
/Ssy+Wq8mJm1NaIR1mioq87elB57kK1dFJk+c2o/D50zejsZ1d1DknuZuCcSgiy2jCyoDYNESUlZ
OAR+sk8YyeRGjnjIHGwcg4ld4yHzLKLuJduFlY4BH2xU48SPDWS/4Y2GoGuAFzGVXQBhRBLUWDUt
GFYH2ppvI6NWtaJSK62VYp+HXrmad1bQInQb2+HSdVN86xhsNwcxjtdK9HdTSvBKEMnkTtEx0ZRS
Jxqz6TFby8bXlrXhXWWYPgxmPFuPLVF1d1PQ5Nll8MvyWyFc94AzVB+DIfcMNKkq/yqDeHGBsnvw
mInfjl0+UOBaifoWUu9Cy0Q6jWXFxZnTiD5I10En1KfK5vqqmnr9GVBTAtAk9hnSkVFTzHoGinpb
yCjaekBAss9YScTGhLSbN+kADKEsLfkl10ayB2tpezsfwEB2ZaGO51SYou2C9X4socuF6zbVxXfb
U+XngCL7Rdc2slfovz6EL8A9K0Y7NOO4fOtbo2T1GWatkV8jF3AeUQTW+VVRjSpF01M6ZKLExpBs
fTNSL+Q1QJNMWn/cJ1VQ2idppeQqGs1wB3NMPZplkV0VMTM/JrOB95Q1lvs299wg8fQDKpRP4Ysc
DHbtoxViIJoy1Bl4zjbK9uQhYCi+tULXQlJod8eBRB4yoqGLb9xemwZnBJmYO8U4vUbTNzmYpPy5
fRrJ0bthDsLUcwwxpzKpyGbEWwYy+2U1VGhOyTojA9XEWMf+YMq25EeWp7Ybe0jmQrTuXZMM2Uve
hnzpyjAUi5ByCAQJ9j4ifx9+O7vKoO8CdKjQdehATO4/gICyuGOSa0y3rmQpcWeYE0N0CJ/0MAYD
cQXLDw7QpqKFCjdaZ2G6yo1UQ2hRdOn7sPHd8CouAOSsh0IPdxYalPDkVLNrXukkmdmgk6OtGE2U
9xC6QfXNiTH190Edu9Uz4Ob1iHgdrUfC3NXHMlGkPPI+u3NE2HhhUnyfBN7U/mMw5vIuoXJhakIc
0VqiIToYziwOvqtGoEGxfeA+y2/FTLfN6E7tMZGxEpwYMW+MpJ2v2sABKViwJTnHSKXrdYWWAdpp
OzTvo5Lkw6IJonwQ5k07EVwYN8G9yQO/bto42HaSIWlLzOGLsvr6TGB3+JS08FtTMH9soCsZPpLa
gYmL6qbgN1wisplA3F0xoVDpniCixD+wclT8WqvOFYDhMCNebJTqtwrxOTLTSDw5uhvrPfRATXCm
TDmW805K4K0JYT6GCsTTZA3g9sppAo7uT33/MIpEV0cLusgpsufwg2uOwzJoNCO9QUciPGSxCVqR
/uNrZeX+eWLAdJmd8lJ71rhvkYdgeAch3hSze4WQXW2K3j3XM+zgwoZ0K4nrIOE4IALVnb9yYSQP
oWdnHxVEr32d1hbob2GkaFOaAIqN49UfYQjgoAT3CQkRQi58ai6oaow81sRxk1hbsxXOrhbeMgNC
r9fs2VGHwbUbYddrS82MWI+4K1L0qOu6m8r3qp3eu9pg5tZZMXDH0rRdMrhFhoSf4VTyt8yjX1y/
f+14Ft7ET15bgHaFWeLcODog6TpwZ21zIqE8efypB/wnrt4FS/EPc/HvL6OcBdCC7d1Dxvzrywxz
XpRBYOijNzbsnzFAJGTF1473N8CKX/FRy+ssv18LDJFJR8gff30dyzfsDrlCf5z7ov+aLDe87GY6
gnBSEJhHI42/Z0RQE/RLFMTf4jKWT+vXt4lHG3aV4yuP7vbPbzPWYWrgrOqOThNXO3Qb3YOtcrnD
UzvzJW2zO1UjMUoxF76mU8mYg2piMP3HmerC+VFmgAbLlsKjkNT983gZvbI8SlEzVjHNEKprMndM
hQ3yAW/bpuGoKsEvMtYCYLxy/b8hFvz1DdEJwzmx+WCVjS/8189zRo0K4LevjnPctmgiyG+HRFvG
2tziM/a548NMieO//rL89UWFKU2HICsqU+mZf/pONngPnYEJDS8azlfCE9TSHbNDAnW8qf76r19s
ael//ZXxYpCOeIP8TTBOfn2HoS/sAmJwd9RzbGzdxv6ArrXLzbH7m3f110cAwTllCOgHhhwkLf/6
QnitrArqXXGMkaF1t45VBVycZHH3f8dw+iefHxQrukjKRBvh8Z9+aWFKcqZLdsixcxg2Rz0lRdCP
UUhyty9I2rKF3e6h4NLnVZFub1PdC+eCOW/NRRR9EMJG9VdZiAzQxQTzYfxRHzY/asV//eH/5TMh
eZSvFiGRFh+Lu1B+fj59QsMJu6ZU8TGNItM7VqrvLmM50iz9268jeOxdlzxKXmbJdf35dWQdtTV4
nuhYBDQDm4atc7wJYeP+Hhj6nx73/X+HfLLAIHHU/vfIpwMZXu/R1+yfAjJ+/+HfJ4Se/5tJ8q7w
CIRcMnr/MSFcwE9YOmExMjy0fp8d/jEhFOI3G30pVCjAEbZtS56IPyaEwvxN8LwBY5eW6/34T/9F
vvrj2vqd4AUJ648//wJwWWaNPx0XnmN6GI0tpurMCLG5O0uc5U/3pQ36tNL0u/uCXnwTey1gidan
I6uMqX53OtFsEzPyn3Xtqr00NJpXJ+g2nk6CI9pm+8NkAH5IIZVtGNPd9jnQcIetyRueEASasyTC
Bopo/V53ZrXy27oFKTWFNyh3x3u1MHDLvvjRanXNB4ldE6ye1rsndCLW28isnPcA+S3RG46MdjTw
u8nvrzFgZKgakAX1WnbHeg7RWGN6nKA97uLKx9GOoajyw/4FN4H/kRqyF6somsimMoJ+JwqLliKD
B/QRxk7whle9P83AvDcuSQT7Gd/egcuYKRjpFft2rPtNaGfo2GJ1C9RCbydcJ4cygr1ZT71c6Rrq
fty380UDB99CHIosIKFyQgRXEKk3B3H1NGCB+h5DMrzuTEOcatU/zq3pf0F2oi7Cqx3y510GpbYs
A7EinaatkMA3jbclfwxz9ES0Bzq9aVx3pZ2+wBs0T0KN3alI7XeInljQ0zi+iiMU/rGnSP5DDMNW
tUV6B+vbXYWpF+OWhSoBPFid67h1rkJWn9/Ic8TPMrau8TlMsrvOJzW8lFTl1/zCeZ8u07mgRk3l
ms4NKbjwHjzllpgVsmwbmOpzdFKsrDJClpsNQ36q06UszcS7zjXuxJkslx3lYrDmC+/wQRnFg5Pb
yS5DeYRLrTdfUC1zG8uspi8gPaXqU+taRFF7oEOoN1r4vPVwMSyGnbsaBncgPQMCOHTR4Fk1OOtc
NvLshgFPDy3Q7W6OxOs4VemhtxWoB8fLFy4EMsRGRcSasWVdNTYRKl7QIl7xiAXRstnmbvQdTlYQ
UDdX7o1lDcmRUSWa18C8qoiQv9Ll7H+4lRM+jdCJ+5UW+TME1+ykInzAGuc+vhei467UQFiFrkz7
rq2FWbDcNfDIlA4KWqfpq4+WTSGpicba6sNq11eJfTML3IGJluNNNGZEDkmbb20Mr/Yp83y73gBQ
mXdGzmfmJ5a5MZqif5tJrDgbSlX3OG29M4t7tZs0KTFiTD5qZzEtts2+IvL0Oa3YO6e5O6waIzy7
zZRstEtGB7rR4skC9XIT8e5gsRsDhrcAvQ9RF0l4gxAnvIjZcjZdJJBKT9aMeqXQQJxbQQQcIVyk
dSGtAS/tFu9qTlt/TWppfQAn4uzQ4ShUyAt1uHxvrRH3YJCsDVNvAJMbu6bU1/mAt0bVTB58Uz5G
xNuEVmHDQVjmnaC/jM1PZ/U/OfbEcqr9o0j6ceqxUOectljDcAiztvn51MNDTwRXy3FAfosdrQa3
ZLhbwV0ggkAV1RXJX/ZaE+kg2uIlQ3UYkfbZNDcOmjEUUgGYjG4emKjkUb8poiI7+8PiO6dNT6+Y
VxQvZZ01u9bTsdiiynfybdc1mPg6tMb3/o/nOf3xbAuklIQU8FzIY7ucCxrsPm7KQTjFFmFo+vav
3zrsiD+992Vf5Sz1FBQ5CkXzTyf+ZHQOVqmQqEE3fPCzfOXlqXgw1PjGfAHkGgkAaxdazZXX9DBK
2B4x2GULyrehqdByG6HbWFt3jljgkwzGVMZecmeSbPiOEj98xF4/Hb1aH5wxO9Zirse13Tdvqu12
JfqMPTugE9g2tU7T+L2uxxKWjZVfRmxOR+raesOAhkmuBZTUZlfNYjgd0GM2EHuKoRGSGFGzw5WS
2utAY0MfJE4m1x9z1Pbaf6NpL96mwRx2ALuLbzYT/Bs3nOqbLMRnFWkr35ed9l4YIAVHmYvgMuXx
cM8fvV0z9zHxTQKD/0Bupe93ajvnRLzpvpr3pdTiylZ6OoYklTKTgyezCzs7fJhoMIeVnsN2zT9b
r0nqjnYp2cx7unmJAQL1USbYUHAH9fG2aYPmubOhCoWoE54TgRG3zgrnUxIpsIm7ND0jWWlXY+Um
54rMPLnuW9t9NjrXvvVnZTyIVtuoyPyQu0WZ5XdwDuMzuYPy2fXK4gKWp7kohM8nc86tg7Cc6Cqo
zeZgD84xR1DeDZHagF/pEBORSIfw1CLAUWt9N+o8vUFS3dekpRK9GYGl4zdCYlwy1c1DbzPEMW04
3mB47G9OJYLHMnBKfx1kT1GXwOMAQogumjjG/C03K309CxsnTNNhFY7a8VwwvrrKMW3slMziK7Z8
rJ0amJS7hvRiPIy5itZmM1RXXqWD29bQ1Z30tFfvmd5NpJ0tDEBHFNumYZcB0za99Doqr+U4d5sI
wcAqD0V1QtCI62I5RbI6oFzxjkx+EXEXt7hdHjIiYWudEakTTtdjKwktUB4zJa6JNfmTsAo4s0LJ
6RUs55gIrQidgGF8quWEg9TMZr5hmKEbm5k9Xvuizdz9/ONg7H8ckpwUDqY2Ts5mOUNVE3HOZLE9
cxBEZocOhfN2Wk7ecTmDG9sZT4UuOXMrG3lxEQz4cvXEiQ6h7H4gG/M8m1b/5qK/2ZRMvDep0di7
/MfFkCx3BAJONmSZhRgfCcR4U9M3GQfPnglC735cQaZfoUHwjakjztmqvcfJLN1bErGdYIMI3v+I
mwgmjiqt1N23pmpOxlBVu3a5J3tMKpvkxw1aVKH6pqvE5argOy24p+LqjFoG1HOFjfVQEvi0D/C4
xJvmx5XOepVfLO6baMN0esABX3sI6Ft+Rd6PqmFaCgiDSmJeSgoAmBQXqdR48XrPJbeIusOkfAz8
qF5DCcLgFGRKEXPZj+c8s3DE+8Z4DFwUWaiy8n1F6bMZVJ4ck763u1WvInBYg++si7Ekr8DP0vTa
JRzgKLqS5TJLzS9RCVyJZa+6Jx8myFdNG7UENDT+93qu7MuYafd9yPrhErdT/ESMXvdAzsLYbkKz
945dCCELpbxBTojpxLcQkjR+KuyuN9IQ/aHBu3xNTUfwoWamtIzwbfeSsyoiW6TKb7p+YBdQaa/5
NjbDiykruGHKmKJ1isYfY6ey9orY30cv5I0ndA3HxqjQcEaE2bP8VUyAoXULqB2OcYHDKI4eavyH
PCnlhemlu449ri4LwtFjhTKGcBMTyI8wYvznObADlkSDAuphVdC+/TFpryUpk1uJ0xcPeGx+A2XV
v4uyqPiMyejFWcGDttOaofFKytDDnYFh+svkxe6efRVPMXOf+OTJCpByo4yTXw/6gJd2PCWeAa6C
iSINey3DuxhQxKs1qsvM/OiR8BmC5OGK7hlexidEbDghtKPkXTTZ6VsicC2y63TFSjR59y0kiu4N
zma7NT0HAHeZBnv+l28mg+At/yJ32+WFPNuVz5ff8LpsCe6O7wwwy2RaEvHJopEqcKG1OJeF7UU4
cEEKAYlYGHmXJf130zZAlBIZyqKKAsDYVGZS7lTc1dtlYvFStsBkh6ntYd7Fms/B67dkEib8sDcf
PTtCi6cXRb+iYN9iEAKd5suTbzqfufa/TSQ/77nAMhqkoCyOWEoVTzsYq1WR1OE9TpFpz8lDYR2k
5nOCkRSmQv5sOZX94tQWedt9Vn2BHpJ8IQei+Z7yvG98pueHoZvfCt98FhLIxypJXHl0nfLalvo2
AVhI0Q/iq8fJu8UlMJMIlUVtuTUHDM3r3geYd24qpzoq2XHvBrCqfJGJw9xVydZCWv0aG3xPTYKJ
z6M2esYvMni3G7QDoVSJxgq9lPVzQTysHvt5PUbOR99Hwd4HTLiTAJquCMyJz9XECvfcF0Z5j9DN
fsQu147ruBy77wMRmODu0lZdFXXBaTOEInlAwSwBFi26YVi8mOOx5O+bUriUxhXbYSNwZbwhI1jy
t4IpyOIBaJNXNSc7LmCLqJb3PmRL4qEiKRdUwmJ8q37A6Fi3047cprKNDkXjzVt8/O2+CuaRxkkI
xG3pdByhNiNq5fWJ8/NecirBGAbX5F+DoJt2boXlRli99xbVsbWHlEB+PdScHhjTxFPbTCZI/IIN
+qoqW0S37asf9NezZ34u4OvtYAXW124wvFu/xvbjVY8t2rFwZaM0u7cBiuWohUnHS8TMYxCp57wr
KKp77nZw4dZGD43eK7MG3BKJcW8u4B5sT+Yz6lKoFQjPIqgC2EviEm9p6NhsI70gtzHR+Xy/Mzb+
j4wn5kfJtqBaE3beQ2nDiZpGFTIT3vOFeDT7mnAaAC6Lq4g8bBuHSdzJjYNnrdj7nm88uFzVF2EV
+tNJvwUtHgZdjSjswzmS2F4n59DEKWWRUVzneCIds4bK1GZAr4os2UNGqTlFyKZ1x9bY5O4HRKUs
2RHb0CEzmtCAa9+zNtUQXHU6mW8oCM+djTTB7F9U+lbO91MEag145Kou7OQzccObNM0L9nmVeee5
Qf3K94vLi6iIWz174TmLCiDQw6CRf2dMIVCoG9h5eKJfZ7fVTyDrxWtgpu4Xmch63Zmtc2wNMzlx
E0RXMguMtYqSJT4hA8FhtBQVSXjsmiTGzR/jKWevfxcnlbwHFjK9gfOcUW2H+bGZHcRLCRlpXoFq
AowBUlfuU298QXNKZmCBSnVZn0QH4Ck5oBwY1Q7mAHZW/vhg90G1J2cMShNBdzum7MnBWXLbUCzM
mykLpu0QW+OBGtLEdlEq6bAkNoOLmxXV0fkB+M6IT0yx/D81MZUfjjMXn1APO9Jp/EOYZSReljHZ
aTjN4Ae5OWHFYT5vh6pLXuphcomYHUMyb+Mc8h+HKLFAxrwj1mZEvxrVe8tKnzJjqk6sh/p9GlQU
ZClGJugd9PzEoTwSgNRu574qTwlnBrr7CVqFG5eeve4yQ6MWa1OewJREc55+PJKLPiZZ8U8p152f
8xNDl4OaDOBDk5bUrlk1YosPC3GIUk6IAMHMpu3Ye6K8yA+FjcK4Q/i7slQKLiopOc0QeOh1mEJz
6dPgbFtBcF1gtCn86JvLYCZJl8RRfiIKzk0epCs7HcW2J5Spy3FbLYq7bebO04kJXwGG0L+nL1/b
PnlOqU3SxUoaQX4dLWbmXA/ehjnBvCWLG34Yrj16c5Vm54jpMh9BYB11U1pIxwbye+y2+IwC4mek
ZsKsxGSs0dla1UoE7JULbIAfdlamr0XsNBmrDTu4x1joX2MGyS70KsTRYdMiU0syWXJlK54TjBhr
jNHVay4XN2qVlWd2/wn9X5UcKpAaB1Ay2d4ZmvqqQA9+aGPExrgKMMZ4SJEdf8Ytklh7njDx1NGu
XToDRXoxeM02zpl9RD6xOGYoVl2SnkvbPY3tYVJ8nn3hv7I3Xyd1pO6JZPX30LeSZ9a1zrFOs+zK
i1t2rjyC8Afx7gmp+79Zrtn/rBXGCKCIHSMfwvT/NK7XSWEHgSPwtEwTQVJOIt+bcED0VruF8pGj
0/9i9gzZpRZwBprU10RsR5WBPSadvi0woWabOW60nRDeoXxa5pXMdNBA9r7Zw+6JZscgXHCZcJqS
kDVAMwwIp1KqU+yWIApaOkTj9+SP//TU/n+QSJdA+oWrzPD6vx/J33wNv2Zfi4+ftbr/+Lk/9Lru
b5TV7EyWuTfrP8l27He9ri9+E8KWDlNwE/QDk6H/x6u25W+oPlmB+tJ2TCIa+Br9l17X/c1iJIVe
F5HMMo73/h1kNXOYX2czynSVEIrpPpJiheXuT7MZPL+2SXeZHye8itvC+xp6sU8X0eQ3kTMFOGZ6
gtGN/KmsgMDSfeFzNcfs6+i4Hk7R1qKgU3uqPKp5DDmFoBlEnvYUOuCa6Fi9EUkX6rIpJe8pdYa7
oXHzFS7aZqOrPnvAIoRp12+aAw3TazK0a7uV11NLzqyCNBJ5XGPdENz1lMOyyMFcpCCeychGD4N2
vhkoMhkCXlGwyq8eLrw9e89tW9rQkZQ/X2f5jKtBdxAVM5JNBipUQEV6p1sGuvgXdrOjrHCVYbbY
1HlFEgHGd4J4jU3p6zuM5wd+gx+aQbCu8qu8x9HX2kSCumf0D1z0yCn70v50LayWRhQwem9SNe/p
4h5iPtvbMs5Rsc1GBeg5fhpNZqyGvupdPky/q8RVglNgHYv0xim6/XK4roqqvkZD3K4Zs+T7eOze
K3ui0HhufZzObZ35u6juT44VZTeM1p6lO22yuudU2Ex1Dl3CUsVn5yzh8zLZWcSHollZFVPyWPsh
HBou0QYPJJyPasUKOdwYM2DRqb8zWAaQYd2O/5e7M+mtHEm781/5Vt6xQAYZHGDAiztPupqllDaE
hszgTAZn8tf7YVaX0WXY/tCA0YC9qUYjJ0n33mC87znnOc9dPMujTW6ejD2ppbTcTlXHj8bT6pCX
Knos8vohsvvPUE7kOmkH243jhGUK3eRW2mQweB6xqwu5yGFCTPZ+y1UjQ9g9imCenuy8fLBT7eB3
s51uk+TR9GhmIe7HpmmrPQe6uh3dmyCXz7aZII8kLtGzmgq7tu9vlOncYvGlfNZ9Vdl0xRM0rdtu
dDjP64uqm6Mxg4+Z1eughhqaxnaSE9VdXXOtIdZCQzV1VgE+C+wDjx26V/Mp2bbWFmzL2sRCtdLc
SNfhuGxohb6y2rsAPeqBghQr3/d3peY23pjPYf4Ct2YE3JsbrMqXfzs5akrFasqrnqkaJ3g70XIB
rVU0O5a2zTr3B2uvQWAV0vpwQiNm2xL8ypLgxl56H8z85IX6zm5pzgZMWqb4bufIeuvZ5JqUfMRb
B8/oY+AWO9Qz4Jti8iSxqNq4RX6Qd9Ywt7s4sCKiJL78qrhlnds6jdt1M0n3LtPsqeywmc6JU/sf
staY8HlUnA0r8CmZqrtjloTZa0I3EhThrokvLJHMI/uk+jCBhnpqvBE+d9E2R5vWszdSLexN9FDe
kdvvj55XZO/pFHqPsxPPa3hO6ZqZHgXdLYNzFcTuznKHYddaljp2BsyivHfyp4WP8ORXeXdKzCp/
ziGVA8sSGMDrKqg/WgztG03l2tUZAtgO0qkuae8P91ZX2Fdpzd2pNWvrzUqybuupctyN4PbPGijI
sY6gaUGDi37azohDtcmn+rtifhuAD/FTn5kfbpjfhgtpl/acsfSw1mCJzDvfH82Hwe711QqFdcnT
MnqeeLFu8P/WF94q3gVIrXnJnZIoTsUFdr3oIXsrE9k14BvcRHg07wk3msV/Yk/AifO3U9tHPkDb
tamxcmkaYN74n+pzYJ2TsWoQIX3intfKqcv+iD2tuWq7gEkdmhjdrGFYTcICTUgDGuOZn2/laKit
03bPbt8YO5iBsAO8pOGEpbB+IyGoYXUNCPU5sXprwy4cec8pSX2mmZzRoq6w6h24/sF8Vy1RcCf0
s5tJZbxQOnqWIWpP7QTy0Ix9vu6thoKXST7VNfa6rhvyW7dTLHywTYdP1TAIYx/IieAVpDTNxbXg
LyZrFgUVUYxq2hdzFMJGiMOecTJXEe277H3fIHDBOwFAViIJWMUzjFL/rQFL1GSLWCX8h87D+R8D
EZ9sd1MVk8QY5iE1m5m7B89zMWzCwlNusaXr7IdqbJfs22PISpgmBKprybieKHcZ1zPboG2KJ3dF
7HxeI0FPXLDycwM08hzWJTdGPv5xDBQXM/ZuKGLG2Y6GSDYnZCEGV31FvRxORT/QT61I1SG7yGs5
JeCLAivbUUuTPFTU46A/qvwKVMXbB9As193s8a6aMflchkp6F9AuzSWWRnDTAXB4BjAhLip29TWV
gfmAZda8I2UqrDWx7PbMaz1ibnXjm8FsgxuLq/aw8oeo+YYhxVoCG0/0M89oThnrcNzVyydlWj4z
/vLpobWm23bLJyrjPnyKSIBcU6MY7ysd64tD2TksVMJf1cCjsnDr5kNPWEq5gDrNLl0+wcHyWTaX
T3UI2v+JeWO8QRaDM94j7ejlHIiXE2EC53qunJKWNF0s7wPtP/rLGRIvp8m8nCtIe+XaWc4auZw6
DKfVhrS4eoL1TzG1UZnH1LfiS4FHGnxLW+evtT93xwSK97FqB+brtoPQAFznI8nEdK5CAx+Ym3p3
UR5wMAb87jMXEPcLZwTSJG1Nu56I4B2/27jtIIavMf472zjGZ7VGKSPDZMKNhfs6B9xQUiJZzc4P
UnIIQnpL9DDG+AirbXSXeIhdT4fcifL+WniJv4YjuVRWeAGbCRGMMjiA8g9h2MyNql6xkqHWCpkS
i0hIA7aH8ndcAuungvXQMGetutbvu60NcI+ljo4D0FsEjQDv4TZQm2AatdrmswS0PUoJ3Kh26Gvg
Y5CUe1+39q3NuuvGV6O8Hw2PXvkA3nGdEGht5lpC/Pod/NBuxFrcILwzYD8tA2rsq/DT7l09bMiB
uHAVPLL52+53oKRPZhKRHsfmjznLSJvMv5Mn3CtJoYy1pa0Llj7xwJaQn0uh772QpPqcJAP2Ttix
rSgOrMHNXeK1z20PyMrWWwBdNwuB8oZGXKIUrRGuuaMiNdRAh0woNysrBGGH54IFeFkNK9vxCJz1
yXvF1LSbEvCpBWW7fm2v/QDcW2jq4Vq2fEbdpv6Mvc9MGwGIrTDmvJnEBrrmcLFLEOoJmR2P7A56
2kOyhHlGUj3WEu+JoBWABK8x72G9PLfu6B7IRaLDxvaJddsDWibPvNiyLwbP/4Xi+pUt8SFeIwV+
k0hRHQ13PM6f5yVpJJ0hOjbdjJZHquKcpGyZxqFsX6jWJFFi6elXUFqLHEc9tr1u8JElLMtjT/05
mf7fnuD+//Nd4WXj6fm/H/JOH3ne/cd/+cir//of54+GRrL6b/Pen3/+H9YrKoiWYCZ7bIviVdxN
fw17HsPekiT28WLyP67P4P+X9YqJzqY20/ewWTGGLX6tv6xXdPh5mBCxbFHYR9XGvxTOdNy/OzUN
XL00ipu4ev9uPihEp6wOsxC1CTV5XQOnxSqCa0eOP+Ycd1KK3xfceLyyDHLWq65x0q1paH2eRtiV
JAX0boo8eXULkEkUu3ubDATAIVvw50Yb4kOoDGUBUAXCuUEQgIsa2s1Kl+10zBmzV1kTTa/jstX2
ECO3jTajQ5nX+hZSWPqq6hDTlwc9Ml/24kOXpedAgcUrZiIE9rI/z4uoPiGbg4q0gviDAKh79siH
xJvw9/q9WTbx/rKTT5ftfA+/bsWhwMp+WLb35e9Fvodd9jJ3TCR0dLDpV7+X/rhPxFO7KAHtpGkw
1ronqQnf+VKJ0diFfhnuJ2QEGmaJffou0oJR0FnH7TzldBQQoctFhQAW0xN+Q5nQSU/BX1PMb0ZK
qASd2D5Yi5aRetFE/xKG4XOjmpD0+Z/qR5ebHGduDgCMQOMqElm3KnH2n2XiVZ9OyvnQNpWx8Tnp
18lvrWVRXcqkSF/Rs6tXFVO+YS7qDFeK0eMxExWneFFxZpTnFgZSXH91RHROdkdJzx65IzXJTzTy
OABtLxmFAUcbRu6NN7PD8bznRA9+Ybwh0DTOLC3jzKjPrqmqD6OKqdgTTh+sjbxtt9yrzE04J/wt
cQXndN3ZdbttcOHQym6LbTS71mbOoNBSKGFucN2C2YA1KR6wG+W/9MCrsBG1Xb1gu2Vd6QeEe54x
gfiAoHqhcRy4DWz4zMxzcECpr26X8t9jkOvoTgokBKuqIfmXFXEAfmx1Oa11F013IfFe1l2wmRz+
SnFX8yV+dKTxMJMYrUkyEjopaN92ZG8+lLtw9jJBG0NeHyPHmHZ5ZIW/psrla2ryQGZoJMB21hZv
lWgbEjd68Nwm/GDvlvp4kgz+M1oC/0Ysk00UTAGCi4bLGMZtszExP9yXhDiQoYMKEFQ3g6cRYo4f
YidTv6QGJDWGZYXVL+aZKEsLhTRjYmUlOcyoR7TndFBH6DH/xiMwfczolM82/6zclIZl/zLRf/lI
Q5DjWj/nDdRi22cateOmwt7eAxxg3ip8e5OxmSZzmImy3Iw9dQqBpCRgJww6O++imFqjDQtYBQ46
Gakq1xigo22GPPBox17Kk7YyQDq0sinElmeUvyCcO/PnMOnyaBCLgg2XzwperSoYmQ0zlCeLFEqD
WSAIHrJx/GLp5Bwnq5RfTjFnB9Iz7cOoJD6oDt7ATI/JHT8U1HPLr8aXkYXAB1vT+Ji7cFuqKWzx
L0CQoZGMWJqXBgLvYZPzvc4U1S9rbl6ncZnokCvYoMqpjpnf3aCrtgOemwM2UKxIouo2oqcFpxY4
EDZjyzoFzST6jOdk+FQhBDBXh9N1Rva+i4vGOLWTzO8Ilcp2xY6IgLtjTc67AY4Rtdaz4ezms1le
CBeaNFSVAILDBKZOZEKWIgS7HpzgPS3SaosG4l4gtxCI7+D5xhA9LuCr5LvvKNBVxaKX08eCB5I5
LN5WHmdPTHdPv7YYSEhRsew/5r5dnqglr6B+sxmON60nwkuSeONhcikSiOrcpAyj8sOLbCzKLGqD
1QeuKq+hvoci9g98hcGza3fkr5omeCCbfz8VJMnUOJJScPxiJw146Fwlu+rJlX1wzquM2ibHib9K
ETmnDuEB9bYzyS3hvuphH21lQ3uPPZfpQcSG3GRAI7aQIYcNH/V6Wy5nekHVwka3jnFywbO/Zaoh
uBaDedxLrJdkr7P4anDu3eRED26DhqBnJMN+A7iyeZCc83da9VRyYH0fgaGmeg8gxLlzOyd9shoj
+ml5yCerKU77beeL4DyDBTqYAa3SwMkHyoyUcUKflwdnEEWJ5IfndlMNeXKjZD6kW2qa5k9lgM9n
kogfcjSK4zC293DQYKxzWjrZKkgC8cZzO2AXmKLLSjm597OJGZRpkNCuDtjn+G0zFWA52hEZvYx+
JUmqHtDXwidRjUTHDRM9Xg3kOo2mhsOsRP0xAHd/RWaqN6M502QTU7rlOO3srYLCMnYF22Y0MTp6
7vPR9i5ZPbs0AMzDpa8Nh6A/QB0i/1Z4IiRUMkWq4RiION6paLaPrdHDapNW2+48I8kepEfIPgbI
APy0iuqf2Bzi6Cq8fv4wfNvC2ZrOpiCuXsp1Qtb0EjF6rdUU0gxi+s5l9vP+TTQq2ZmO2a1nnmL7
PsjL5Yz3owrtjlwoqIYCk65dXWe20BVHoBY/bdptrxjbxm3aMH6uzaX6VXd+8xXOPvHNuRC7ftDG
aWZG+5njTVmo5f0j/WVkaDxHEpbDnEKprko/ILEwHBWBULcqjUxcVVTK7MDq2OsF+H7sOsfhaVB5
3dkbLOvc5/hBA8Ps9rQrxHvggZx0Bn/mGFsKS6UOx7vEj9w9gNjk1Li+5qfZ6udwKKiR4HEC6HQC
CD+WzcMgazYPfug9NUlAz0w/4FigOGLjI62fYdpfMW4Xx6Y3ACvODaZlL3G9S8Bz9fP33fTfdo1f
/qGvsuI4VOj6f+u//tv/2S6egOnfUoZtBdRq/p9u6Dcf39H0vy4O/fOP/nk598UfPuRi17NMIj0m
d73/cTl3FqaKaZqO71NxvXTK/gVOcf/g7cjyM8C6i+Qe8IX8JcRYf+AdF8RhuGsgoiDl/QuxCJgr
/FV/cwjjjHVd7l5CLmKRvdSX/rNDOLYQ1ed0bnaLE9vZENaK9jipo1vwC+ZLJFvr1SeJi4LNNeWC
WgPgGOdwe/SHGHuKI2IwVdhI2DtNzjdgWjJxRRsgQZdKuBccxF30olQZTkwApf9C94JYiUqIzWjY
5qoxswft2OOzJ/mgt1HX31K98zIn3ONWVTE8EcSFlz8XxXcnPfu2NnMIZdwjTrT1RMda5d0deK6s
YbsksdiyjctBt0eUJbZiavcRtktzXbTFfPZNa2Av0fnTfdCF/bRKYuBCJ1FrCtWgOj70Add5mgfm
/LHiUOiBdNb9Y26VeXCanQFMeoBo6658R0T9Uais1yu7D6tvw/C7aTXpIsyAxhD2u3RjEQSnPhTQ
pCZ8cPX9NKXVt1M7ZUxPx5j2LzS3BN8lpTCf0H1L6yBAleKe9oAFqmSguzIOAvpoDLLf+a1kPzWc
ZkP2v4h+t+V1jHL9nonOeipdAau6Dv174Uw4eJPkyFbc5jljRJW5LzPf/eSD5/RHuqMmGrTDWqM8
RS5A62iE4ELtaLmzEuBl69ByFkzxZFL0VcZvXeao704b5I/NxrvmHkHzbcM6h6TGoKiOzKvh7FmC
9ksV4gJMZZ3v+anAqG0lDWOQjHto/3FFJUXP0KKsVl3szMjT95k3xwOZYSomWrMwTwZ2AC7RGf6H
WUH8qMIJmQbSbbyuOu7feIMj4H30ukgHTv4+KQbvBGdCXZwi/epy3i1joVNcxXnJ0yBWySNGbIWx
Ar6kmfF9d37oEvifrYh7xFh+mOUYrggX279Ulvuv5BV4k1smvov3qPJchgrAzF5Hi6tVMrPQkHVI
RsmqC6TO3iTMGW1aVnlnt80flrMcxghNOjyM5b0HMemtrrMYajWIhW02zdGeZbD/VecCv11qGtmP
vh47RjohsSVTLjCqteeAKQV+WVDNtGR2WNtFqEynpoAp4/kYzFcTV5bLQKXF0v73gPPMpO7OcvTe
SVqqHBfUs+P0b7XjsS6set7v3M4li0gwef6OkdK3D2aYzx8SQ3/02pllFK9jcs8ZXbuAc9AhjWE4
mozL7IY6UJrrMjfJPlrCxwmJ4yz60QzxqGm6Um25K22vHy8atY18S7oYSkxf2NGO2V7odWQMFlnX
2PKgoNbum80KFUHVV54R7sO8c15pTdHGVTpNVO9iCVV8xyhjSeaABgYxzlgaDoZpnMxNMvJCr4gp
SYoKbKGK8epoT3U3GIjxz1o6MfPHOOB3PUT+ANpg8kJreG15d/kr0wMFvYOMREQmHkhbrekmRSqs
uKUf2ihun2BCgPmGVqofWf1O/jY2WpB7Q0/1RY93kg+2rFCb0WKyl5ovVLAeTtKf2dAG9ZYer7pa
Vanm/q1gsGOPN+cCJqdvgEUpAFH1m3zO4P/QzYcFZQB+n1Rpc+SdyVxP44e3guLu3Nd9XFyLQspv
1xgLcWDnQ9FUR4nUpx1ktBvnEQ1EIaijfhXzSxwSo6Cd0LGetcMMwH3JcnYMWorOtkqrdeRjyvFk
rOM1KpIUm1ASr1rhRopaZLzWa+g17nS55lvMN1bMnppfZMGyysYUv1BS1MNbz/h206eyeC1BvaKj
y2G6doNIT6AbghG9rBq3nEMKPbIJhgP9YcNNH+jgjjExQ45MomCXQMe+l3Ak105UiAdGwojBpJXc
6lLqvI6hFgGKVkbnMvvH+Ny2FLVKo9ZPmNvtVzADw86qbbjmReAeOyLb7SrnEZlvR8PEtav6bG0b
YkwWpoaat4rb296cOpo6S8ivWNSgkeImZc/hFNWt0Zbdh8nF8j0eLOeliaz06GI/2mHJDx94Wsb+
Xlte81TSTv2p29j5pjVyeBrqfNj1sngMOJZwu2p26tuoLx+TbulBaeaoOmlyYebetzx1wAFub4AX
cTnFuBSvJQhoey2TANYPlTJzDbPBfVNY4fSma4rmDOvK/wWfqVsVcemw8w/MQ9K2+bvn5YainswU
w8FkCt1mPVQvZL/ykOd9SUwgGa6SDBYSEAyzZDdZfMOtqayfVQlosQsTO1qLAuPzZcrtudo09Vw+
62zI4KCNUCtwM1XOEVpkf07TSLVgaXwHBiCSyruEZXvfdxOEak31ARxTkbI68r94NNcXclINLgrJ
aAwWoToxYqhzbuHJXmkGuwdpw0zP6dwrV1gEglu+lvYdR7D5klqNi4mIPNaDgJx+jFkrtbSGA0Hz
kp+uL7Jn3EfJdgjzuL3y6hVvJi2um1G2ZBnqVu5L4WD5LKvvnmH1LiI2cuXmAlc5KPIfkwXUUwdG
TIK4RPgvaNJDOykpvQFWaG8sM3bvga9hkMi7YELbBWv/SMjBOAmnpLXXKniDKaebKZ0ugbBu8Kn1
qFpu0366unfeYbX19yMuZ/vI8iv9UdLXqW4npwXEZCZO8VkOTfsV2tQHrZqxrI1TQ5Eb7B6ozsmO
4kXvEdYMxb22zLxT5begLkNZ8t8pYggGrKs4zEwqGPpNXcYYtoXmF9OwlfdOgh1QDg0nMy+uxcKi
KVpyF/6MPB7JHL+o0npVyZFJYx7aXxTCl3oFtYMnmB11v+TQ9kf8/tVlcGvvJI24uk/LkuaohsB+
tJFgV58z7Mj7SOcNrQ+huTfdEEd3jeN5BbYZ1d7CMLkO3IaHzcQPp1l7QBnJmkX84mJgDQ51kjfJ
rprs+UMHBaBROmenD0oYwq+2GcG+N02PBR/m+uItGKcovbOI1J154bFVC/54scYlA0M195riVmN1
eeBiGm1GOs3AzMVUcmzKLpt5s+LR3YsgKd+DlEaCtbSLYUcJCx0bYYr3pmXh9QZ91FXreKqLj3SS
8uyEYfhhs6pG6q27mgueEZ5VqQEoVZZMYV9AAGK8m5dqALN8bX2lv1i4aKirJfvpOJI0CgVd6T7Q
uDVe6qYqnsqADNGqrkuUVx+oEBnJuDkWZHjtrXBUecepP23q2gPexGWnxBZjhuo5xEvEuUNtqtMI
tEV8uLRD1SGXps3E5jVf2+Ok3/044VHjg+i5rXMtHZTcsfto2xJiW5QgXuY6TW/tWNTOyhtyUOoR
WBUsihmr1ra2OuJmGOGf1dwGT6wpU8p4+Muu8RSZ8JFJ8m9Gb3R+4CHro8d07II7jDMgejlg/O+W
uyUlz6M5hbuGJ/NdoSb6HJGksIvkrX+wS9sAPUOP57RS/MwOtHP2e0lbZMMOoPbuWXUZHsTxQTy6
PHU24Gm6lwhLxqM9Cf+O5DT3tkjq5j4Trex3ZoArmSsJCCBu9rQZQTJT7mPvBvFt0s8ulzw/hRNk
6/SLOm/7QcOV5Ulk4xuiz0q6W9lL45sTL9nxfHZ3YvKTn96ErstVSD4HI4LXjmCi+2CStcZRnWAf
CyIblU4v9S7D1AYnDCXeW8qO4i43a+OzJHjzaE5RHZ8FVNdz0U/eLxiacXUhIreUQTYy/2ZD1b7M
A/2Y2Zz1Z6+CW7hxvAhJjU7JpMD8UNNEEhecQgetc/cw6cR4dhXQ421GyHdvtrI951hs6amMgd9p
XPdba+rqbg0ZPDuZGEsiej6Bps1+2G4pDMCb5E2e9jYoSzRLWWV1aakGTDeGiuvtUKj4DM7JPFp5
92M08amFqow3M2BuvhCh38PSXIYpl4BZZPvHmEQkzy7lUGfitVtJjIHd/DTAE+TwwqcQvYgU5KJT
CzaSLZgi0QS/Ss85NK5dH0cVqq3222zngD3b4wko92E8hT9RxZtbR5ScfxTY0BU0Mh0S3NyXOTm6
gSuCsxFjD0ITWNjduMCbdVI1O2syioPV4ILXyuu+YFRX9zC+Qn+NbaPn7uKVTw7Pvp3r0wg+ZIF6
5zpDvWkQPcQFR3ODxYzLHF2Cgya/4vVlSAKRgCXWn4V01TWXTiie1GSEN0MMkjskgG8RusT4R5B0
C0+q/U51YQ7bZMjoc00i/z3RAgdOod32NPAGAWE41edaY4HGbQDpioTnx+zr77kyuFsRR1sep0xj
VVSQ0Zzq+jQZYmb3o9SOvj2m2niyzZsglgWeRHZKmi7tFdZdsUPtd+/b3MT/pscRjQT4/MVECDlO
BsjGjS9r8xaYiFqT2XQRmMMn3vb3rqPO/di9sLZj1+2hIPgym9nuplh08QSseDmX7hZFL4Oel1ZQ
oy1oO4M9/EK9efRq4ngg3pKDfw8K/eya7fgRV+l4586CXgLTbZObaXa9gyvoHS4pALD35tjgADaT
cX5zhXmbVk19m+aLTb1ZaIx2zQ2wQ3YwM7tjT12HwNyl/MF2rv+s5uYmjzJ9brIkx49l0jeNwqQ+
RRCabDBH6qi7sdxhkfBvuOjN574Mmisp3e4xj/i3bV/LjWJU3ulMEYXCtswKe87FtSRu+dR63M2n
JiVwQx9x+6ZDuihbS/TbAoThiuV480mjhcKx4I2Ug4TDY6ho1TX91twR1uLphoK6sw34cT6UxhQn
pVJLNVgP05DbCABtHIxbEHbEnkqqzrba0GTTkewL4pHCI104WFjiSGESFmwNShvanMvTJjK6/pcH
LtkjDDeycbYgBDKZtCLCW1rF37Wgr3ydZvl4SOa4eB8VrotVZ4ssRF9KKnWXJ5X5QgFsyfU7ze/K
xBbvgpqrW9w21neTLJy/1AFPtap4HY4d083OJcVLkco8xi+pHoFAGz5wgseqaoriMCrtbyvlttXW
z/T8o48qSY5L90e4hIJ5YbSLO9ikwj0sC5IPJQ1r26cAvcmPjnBkbYfgIo0GrfFoNROSzdA7a54v
1WOUee2HIDq6MhorPwgZU3NXRmcbdyaFiItCYw7sWZjrMmvjhqV80t7UHhA8bXGjRgC1axrZk5p2
RjHTkmbmtrGzUXEw9Q554b/QKiDMfcVT0141YbZcGemiHiqqN2B+rdI2oHQLHZl+lITynl+VOXZX
n7zKqznCBcdWZtMmjgsu+REXcX1ig1MQj0s0DlnW6tnJ8CCVPlFpPT8WrdWT/x3Zd4LiHylLm6OJ
jfdggOlmK7Fvbe8NLTEPtprxDR3DtD1OpNgkVm1JLMRlU7/DxpuB6w+xXKWKjA2jmfGEsOJT6DjT
th5QMRx1Zf/ORy6urxz5rnPWXZ7cwj52vjLiia9sZlDfeR5xk67kvkiz6iqDCuhJrchVx4Gyafbt
rJ0VRNl3YlRGeNBkWheSa50SAJntkd1OkMPhpK6UOh27EiSq3Wog2Q0va7hJUoB1jIWdYh+RaTot
/bFqnQ3nejfAG1ADdtGmRH9GwMeIjeDKx71J8OmtQjNHp26YxBJSvtC+9r3Xm5s6la23duqq+2GH
erkqNyXWzLjJsqeUdaDEKZt1txAz8QHGOXmadZTzxlzxnE7dk5a586EM+J91B4Z+nQ4TcoDBIwrr
qlGtsEZRUhNU7icOqurVzS3/x0z4YURgi4y70semuG6IVNDSYTfTzp9arrDY0mvspn2Gt7pKs3U4
ddRW5LAwoPUlLeqmjHz17uip2sMBc6+Ui5GVEQUqwq71OpohYwyyLvsP+tYFfgPXyVJ6mbjz/Ega
pJi95ULvS7Rr3+USHn2WtyXtWK2dPRQG1BAMDrpeRzWzB1kbRT+RVbvFxUpQcHBp53xIcpKxVN/m
JQyCUOToLquhDXM6dYM6xGJHa/U+7T1kCTC541vvMmDxnfjNSzd5XU3SaMSMOXgu1QEibWc0j2Bi
gdan3JK7LLKefCxrPY5O3+WekCr77DY9xigCqsmHwFbE3iIeDWs3Kcs0ENPJyZ0Cr5tfk6Jj6OLt
6fqbVI2etDAfj+pHjFS9zwvhnliIeDH8bbvYs63Nvim+ELBepwBzN2xlYoWNV7u3cafaFyyxyase
zD5d0QhPBdqAfgND1gDuw1uso5wLD2qBehrOdOXUPgUnXa+CJ8w2TPOj4PiZXCv5DKeBNpZOCC2o
+PVjcN6mRbtAk8rcovxN18VeweK1z0Ped/MmTkbvq5Zd/Zy5ApdpijGfhlrBSm8Vt960VpHL7pFZ
gFLalAYyXBulZasPzPjeeRQ1u9I4SPwrCVdkO4/zkwM7UYikOec/CGKEQpOiWbS3dVZYLGxIj2sT
AnJPmUaejdTZ0Djx5tIBsZk93b3xSarFpTYRllSlmu5SmQIP+GB4drAx7EZ9gwlOot0olnJaEEhU
fvBY4lwZi5HuscTundMclDOSW9dqd43vXTorww2GveOiHBuiIdXTVyZlrQWhsmWKNOiWqBfj30y/
fLIVaPj3guhutfe5GdWMTEGz0SafeTJ5TngzjHiA1nULuxt6szmshjRn/ZWaQeugY/M1rLCQ7hC4
ze4yDbLQ6yW9jKV7qtijxbXJMqnxILfS0BP4V+Ia3O4znmyMYO5UYMpJEMd9gtXuvoRfy/V0UCyL
ppIvWBljE95ACZaQdHPrV58a/kPtY0bEOEEbkmOAU9yYRFVTPsYZZB8jq+pi23Bs0mzcauNeMWr4
LwCTJ6AJPSlHH1cMDxerN3aM9Q4Mb6eY3rEaLGW5sYhxHfgOOnYh9SYavPghzfzpAAsr6neLY+al
irvqPE+9elniCBRj+FWCYT77UdF2vi1jz0uPUJbYuC/xfkVhXLiB0V58IOgY32VcTU8JVhtjg7PI
5GrKsTudF1Y7jWN+ll+ZIUf/AAKCXXbaB19c5upPM/Hz5xl2drzGrNRQrGtEJ7wcgQ9yafmOEP9t
updcwaGaOT8tQw87thb2bmShcGal46DJyu6uMSfRbYy8tFFxvWE+2LxxH1o9VA+kiPkE0NgXbyKh
xGNN4ysCz0zeNiWnNp4j3dHswX5F7fAf99E6Nxo2UVbVUFIcOp0dH3zevvT0lb3N3pJ8Z3Jl2ZBO
u3m2+vlSQY5zDwCGbeSZqPWxiBPqPLZT9Bhpx0Vct6YPEyu1bTiQlkxymr6es+ELQUYzCWjxgzvZ
KHm2JZH7CE6ApQV1Z2jHNbDUGoPcE3dR6tnMIPKMtYkUZXBt0/oVT275iywVd1G7Zg+w9hsz/yka
WsvXvp1k+JNHlv26i2HpCrrGnJyDnhtl7eb7f6/0+s/K63/7fy8p959ItEVcdX83Tv4ZsOOP/SMo
5/zhYXJkCnCohINSh0nxH0E58ccCHQykKx3skb73T/qs/MOllZl9r2MJW9oSw+Vf+qz9Bz0XCL2m
jZYa2ET5/gV9VvwGNP0TwMk3Xck/45Hlk9K0EJL/Ls+yACmgZ6fBAUB9fmA5gzpI+QuuDJvMtBJq
LelSSil3JLyaSZ488/icN9yukaleaxXoG0OzLlNhPp49MfQPTe/cW0XOGhApbEVTQXwQY2nuJGZ6
WDh1+OKAPr1pU+PY1GGwdrr/zt55LEeSpNf6Vca4vtEWWiy4uKkTiYSsgqhNGFBAeWjl4R7i6flF
dnOmujjW5Gyu3QWNuzEWGiLD4/fzn/MduoGLXD4YFS2lDPjEgw1SQ7zsq7WtC+wKWRjS81Ryj5bk
y6nOU+QOCPTNm8YD2sH0EGKL6tFDhqk54/rGzum1k7kuE8obZjOGut3kwQHItusdKE0fH0nGJS9p
03zmMy0b4FaXsYeG4m+IyO8DGddD6ro3WcURD8Qd8AYk0A2EKbmp3OmHaVTlxlVVezN6g7+SJJEf
Mi5/5yj3DqwEitVFEutSj7RFN1gEAVKTL5S+aJz4KyY5XsUXt6WUQ8tg6xxNKl+fsmAR40wldp1N
XELyEUEZYuP8YA7Zx+BJFyBDHK+dZLrsgAbidNL8VlojNywZVxrQXk0zdOSKR816gxIR41GroLjX
BWwelFjYhI0bm/ce9kSmVFpvC/IgljbXVrd8TXsgBYAZPSccfsn4pEvcJ14coz0boJ76v44OY4PB
5FBAwTHI2xfFictJn+E0tHOK7UdJ3nvOYijaCXchLsxSPff0CnZH2QKD2MP/01ctUqm9Qk+HVKCx
GLUr0qQ6hkcNR4cDzTW/+60zPjEzwyIKI4nfFrRyi0mspLh3OxlTdNcHxOVW9ETRGE1PDNdeOCqR
uQopUn3ppd+dZzTBZmvVGZteYVHomdA3bm36gQojugPQE5sOblNU6VsQC9KCN9+zxYuYlhEM3KAI
toNr4biMOqJHD1kXxMkBXU+1V3zCHOQPwkrzhpCHfWMYQ/WjbtLyFNBkJ7Y9Y0Wz134LBj+b0uCq
lzlhoAHiB4UUQ3QvNVmn3ITj4A2Afbx826OVAdzBueAEAK5d5yY03ZdCBndjhssUkrVNdqg7JD3b
BiSYc9GQCqyd+kEvwcXGfVSVv50sd7pJlyBgmZ/LQbXXmYg3Tg4wODn7JTp1FUSkJ3j3gFnlT2YP
HtvmqTwKSh3vEIWMTz7OmzqsVhGpMbtPjU01hvemSWNbTXS+5IjaRSWFgfyoP5z5nuIG+rz4N5bV
vJSGnd1L0zw2fpKy0qA2cJUEXFRk5hP/Mz5cunMfI26CK4ob70JMtJLkOB6PjgSnF4LsXpKWlOV+
KR2d7POc9/RQgPJmJUvy36cYJZrQ86yylutpRgnJ+9p4c90FkxLsxwor6+wwq+mGJRl1OxVLK2cT
uMhh3GqdekO1bn02KQL5Fk3i0S5KgOehrfYD93YemWyHbBFuLAf5RKk4+D67M4ESa9pa4SivbTsb
wQWER5B18VF7wSNH31mAxVg57WTTaxPu+tLDaVqgSU62v2+jbl/CsWXaNT+KxTU6+tOnyONbB1rg
Ws8uNGgZfjFmbX0OfZi/q1n8+MlA9E9wfba/BPH/cdwvCTvfcvHj2Fz2wyD4lQBMM4A2wFdEB0M0
5iopUUPZU8M5ETDSbpPa5ykxZuUBi2hzecbDkL5gtkN2HzV8uFWJH5Fzsvd56sBrRneZ3SgaSca8
4zqbpiFBEIsmQmx8+fRUd5UF5Cvmeba6AaI7sdSgXRFe7nyWDQro19h0+iq3MAvsE+Eb3ZHSAQ6L
il5acjZa77zLaWJcTpb2cspQ8VDQ0jcmxlH1U2ATNaLjO+m6iuSb6Rq7cImf9YD2g1XRQg/u2pZj
aomt0emGJ7wXO/g6is5buWNH6OxUirvCyfS16SbDyTOrkw147uQw7m8zWBPr3I5oYCwFfRUsh1ea
fB08uH7FPVpe+1Xs7dvWrjaRhvRh1VSK0iFOa15l40sP+k+LevCv7BPqbeskBZ9VLtLgUHNLAf1D
TlRrH2V8L4kKQyQys45PN6YuEmKNleWP6YRyekK0L7FtoJexnbe3Y+R3a7M1Suh6onpKWtKLbM7I
ghJoTOsuO3E7du8oVZlxRMSieuVQgBnb0pHg1ZiHg3qmCrX02+xWNyr8AAiqqAjN7juYjVc+poxN
LcrMOpOmzm9wohDO6btLUAcbdAp6ziYBS9jqlhUm/hGduIjY2thbNNmxmLdjAORCfCd/wdM6pq36
NrFcXutQ27exp8z7lJT7prasd5eia2qvMWxKumqA85TdXUFak45Qe18sLUpkra7MgUtHoAxNno+u
JX/s2i3hv24NMjcl0rWCkw9b1HtJxDxu+c09F0t3k7u0ONUimrYGqgI6mvWljHqKkEh6YJei/Yka
qIg6KO7kA8Zo43vrZIDhK0SzJumvHEqkEouGZAqAJeVSMSVTIZtk1rTvqeWvRB3dwLkhF770Uo2z
+iiT0brJW+ezdkV0zhUeKCugzypcmq1qKq68UMqrJLT0WoK5/aC3ZLjSfijvy9qejnLpycqWxqxy
6c7CWvOdYZEaTWq1tEtO3mDMX+NFCjfl0r7lZsYr4HqxLyfTukEiPmcdm0Qwifa2orlxQz0aDKWl
06vFArDS2DoR12j8qrA0RPyx86ULrA8Jjxf+rm5kf54b+sKmeZr2wdIhVo5csJZWscKyAOuWNmlT
i86xUC7tY2Ng3WPekHceS1YIsyluebxOgpRmsYqXDjMfZ8iwsg3ueuiidJwpq/mRa8HViJDOjvV3
jYnBs3G3IYzbKTaozMmzfTuM2DcKZU+voxdoIKzjZD8HkwJ3r3GBv+DpQafpXUIaVZplYF1SQh1l
LBISq6LHzWWPstkbi0i3hTxanugaqH50y9s6v7y4m8tLnHojXuhOUAhuhZcXvb689AmNMAA0ImYY
GC+DgXsZEvxlXiBe26/+97Z18dR+mZrPf/+3t4+SYyOVfZd+73/Om9mAVP8yr3b7kcrk7Z/8kz9c
sMFvvDch0Ya+uZhW/3HNCq3fXJP/8ywT8sjv3PD/tMHav3nB7+h3zjBuP3hT/7hmWcFvOGbJF5OF
hPDqeNG/cs0K/D8n2+HDhh4hLC5udBK7ePu50P3JBcsMSM05QW7IQK2B5w1aFMtIwzwnQZdsSS5E
oIuteBtBTqYuvijja8uvil1cjO2JMnlrSy1vGW+0k1KdHTcQk20bxZejnfTB3q687jxaKWSpCJVp
KzBpWACkBko7oql9mVOv2Ci7phHbKZIDV6nuoEoNH02qZSksqtuUlF2/akWvo40HvwI7OIoj+aPJ
RWO3Xd6vRzss3FM6pnG04lSTiEaOcR6yLm8xhmG+XpXRaHzGUhH3RbWK3tOow2VoDqzOvCy9qqH5
4ITJ5/oa1Lv/LHHzjVv20hxLeYPoserSThObgn+74f7HjagvXofZTM9pl36JO+Iinij1EUGte/P9
OTm5dps8xF3vP/qzWywTnb1nyFkghimb+alKjnoyDLZDJhmBjg7iupq3Eb86yoqyBAGwi1dYIoeH
jrKXdR6F57Aei5Mtei4MEhSUaLyV8uv0gc0d/cdWU2w5i6Zv41z71wlZZJJcXAjRD/2c10AGmeYq
XwoE19J08PVI1VAQV8MJORkLI4qx1uDdVnCW4p0ZB/RSuoLDr5aYzTt/kuNDpIsiOrIVtCVbzQWh
hycD20hpy7c6SIb2OGDgOvmCVMXKrKG74hRg01a2oV4aw0jXnYbGoouctr8ElTWgoZcYhIjuuHGQ
JPL7wA131UR6QY5kNCCIlQizcQiCQGBrSXe+y+LBBgvMZlzaN6k2sm+GpnAplkO1r1jsLT+SxlwN
MvNrA+5z6/XheE3nnb7tLbpBaIDW6OTuGJIqsodOP4YWxoFVCcD8WXFtfqp5yUDBGjrrnipP/xZq
kC43XhfXB7zYxaGM3KEhNontoDfJFLReyq0iTWBzGoloEUCnif0aPxKVs4UFOIFwBLtdEPYPSaDC
A7dD8+CzCNihn5esU3JdH9omqM/Y2vqd0I8gFoE0D3oX4DCoBxDLdT7pG9XzO7ZwiL2iYas7r+40
7oQEKbarbnve7s40WRsmiPk+b4tlyW7wKyOit+4w5J2jAqfaviBOxVNNcR5lwR04S3Rt8pVNZ3fz
VkW8pNdGM+JFJSvzGWTxK0uY7pplX3Ue2mg8igavNa0uQXtQsnSvcf5AJ5tlKFcInPFtJskP4amL
q5NKgTCDubVSwlBmGtxTTS2frLxLenbpRXCWkdW9jLaLbGF1DQI09WL+yWtiNR6H0JYK45DwCXZr
J5y+uSZ/pEeM2MNGelX9UYDrwtBktb7fXId89iO2doiP1rMhknEEpLJsWjKhIXPWjpub3+GGxtF1
VeN92HgTUitkj5ybrwrC8io1+PJr09LT1wTTPP1gffls2aNbXiV12u5TACvZemYeZSOmOKaZhh0z
3waeKp4Z1Ye9itgerDnsn1RLut1yenkDtaSis4yeFUoRffbBYTGaHwGE8r0kM3cmDJdjejDinabc
cEEHzc5tbY3TeyVjoBDdSNa/673DyFPECdsINq9982VIbRa/hTl7NAbQgld/CN3X99zX4s/MkPTa
sXn66IaRjb5t8oUt2uUEmOrZHfejcDz5JQVkEK7dQIaCCALZrodJtoHeBlCJ/F0A29s9Cgx2mx49
eNimWVXQp2aPOfWjaiiLc1UGjX0s2U9BO7HTQa2sXMxfsIQu3vyEdgmq0n2XYnsQg/7eZhADdCOj
/Dxi9eP1AmC2ATVTrWYFU8Gm/m0/sYxBeV4IfIW4LWRZXHch5HjDHUdK6VxWt4xgPK+DbK7AXrK0
VpE/7KdxLM8i74avuH4Frp+IhBHx4Oab6vhxIBHySKzkwIVyEyiaWAXxhXnXBiUJONCsQXbIRTWU
65h7wXeTG/vE6m+K3sHVI341WUoPVBOQ6SLxYFbRnvUhcVuznCY8a6nnTghpdfEgg0DaWyiWQXKK
QcNzc1JK4CrhgE9vaeHr2KZxtT5mM67TobHd4Vy49XBAV+UpkEZ5qsnjsfEkJ8MKFKNHhsePjU7S
PwSj6ney6My3tp8fXA1WG39frB7NMWffIgxQlZseMYgsL4w+irvn3H/rxGQWmxxExnOnPIW26ZMg
OLDj1AlkBX9GKiQsPHNmZ/3anAYEALBoXz38zI8929Z8U+upf/QdMzq1PMOr0bDdB0u27jN1hSXN
ZZV7JaFT0viOUjIM03mOCndcK58yhtDLccrOV3bPA4vbppg/oKHQ46gcd5r4FiWUljQpJTtT/pQ0
4LVAiXaQ8wzU3cJ1fjA4TWrXGGE53TsCIouXOHr56mZ4yq3SF/sU593XbMw47wK8OHiR66jvtngE
+1sjoJR9ZWg7em6KqDxYWDGRT2GRIkQZFtpejHo5bvyEeY3LDSv4jcwlf2h6ibLyVoJl7rehlgUu
mdy87TKjn/BgK2wdnZ4qZogIPx1me/XKBbq8VfYM0EzEM2E44clHObvGWxiip689JYN0iwjHQWOW
OMGTwkb6sQu3vOWnbq/ixDDlwW9MZNI8UfJTIneyaxcDt5IYBTU41FOPt79ToHjW1GpCwUzMhAPb
ny0Db0RfDudgNBu6aqsek7HwrOaDsixoI0GlKShM4FKt3aH9HhIEPjQtBE0FwAy/+ghTg/yQ4XG1
8iB/0v+ULVRhU7x6seiuPTPTz0ZK1eWKSsLsrK36azi0XJAKzLjWFmXHO5WdRJ4odaY2SVl9mC69
IMiI3ctc0QzWtTl/c618dTPmMKogI6Desk4HK6Iyrr2Fj6FxV+WqvctSYkLQZ3s00cLJEmw2LTtf
+tE7xaoa7NNOcIF7mZISy2meE+bhMo3Ty3BD8VURpv6k3RjwZazhfWxrVc/WOp2XCtFRlO1m7rum
5VTGwbNqJauzwHJ8uqdsFA2Nuvak2YCv0Ea6fecvOROsTITwp3k7T8megfSQmznMgy7DzUhxZgNE
bvb7VT7C63RCXILYb1yyvgFHYFrm8nlIo5yK5X5c897nPMn5VF6J0IkPvSia61qL4QtOrGFd4FzY
gL0YX2mhLoq17Mz2XZDVIc+QJM73sazX5GG2cV7PrzSTfOoUfdyAGHCQsa1pMZ3wMeBqC72LQRff
Ycw9nJV9AkF2SmxkBworXiyXt9Fz0tZGSf+z4905XPjpMZPYiZyuwHkh+gbWzoCrt+WgrfL3Rngj
6z0OiM3g1vgf/DAxMOzWUXPoeF2se94BxxG67kMdpcNT3BOb8YbCHvaSPkllJNVJ21hkEUZwwhwM
WYL36aoKF31lR8MXvIa4BL3Wrwmc5uV7YDEk2GnuepuS5fVn56I0MGv4fO0x7O45gdBvlOk0LHfy
Wt6ZzRBBTqJNegMNI7oDVds9mpZPgjX2kVUwtVbtNx9QIqiBJkNmZECjGxfzznclAp6OoEevOPHg
MRimVVK/Rb6SX8BtONfKdey7crTk19AJMQg4jSI14ggfniOQa2+tUyPa4+0cD3x6hgSugak+3H6K
0kM9p9HJdwI6c8w6wGmRYYnAbzQ5+I4ztlcEfeD/FkUJCtqQgXixA9snWztQ20jdOn/AvnZ6ALiV
Yb3BhFdXEN7EebDLpawjXEYwDQF6jZRpdwwHDkBbZkLYVtEkrzGLYPJsyfYYq9mOzWifVG75ySGR
vWXDEJyL0MwoMh7basvvDCesDuFyaSznxPWBtVPpGNdP0s/0iYfVBcMzGGvdONaVBSkfA0LuogKq
YcupCmIsgJFC5VQUo7P6SwpDzBPtnKKIPkTU8Gh3iZ+/j8rLrrvGi+xVkIZjSZy7s94dhTsagCN+
dSO3MdFzbxwIsGxrezx1MUyLds5pkEW4vHWyubqrAz9DxTOg90QSZg/cbTLkHTqcxyH5FhUmdONQ
ed9SDO3vY9GW5KDCSZwnrPnvjV1Xm3ksxCM+ofzFpo77kagN97+Ad8gN9MZ42JOKkPi/ArvP1zxY
pr3rTWpSgX104OeFtx1LFHJCC4eBHqd1VT1i/YdxgfA33cOVI1TmNvTSKpKvyKBVUYJm7wtCOE5y
GGeGi6VPYU7WuLqSD99pGBaJrm1bLyj3S1usYFtZJSeBYe/Ot+LkWPAH+IJVvXjkvGivhcOPwWRk
5YwuyYTJkBcucpn+Yg9k//mDxly/XoOM03ZclnFtPX/9ay1/yc3+Q8lHUYCmgo5ARBH4DdU7vxRa
Nh4bvKIEftOGjcO7P3A1zbW+cQLawPaUWtCF8Pp3QNA/2R78lyQvDB+IPgGraTMK/AXo87OGgeul
LZ2mn/c5BSP3wDv6GzdZGCiVFVylcwEkcOHo/PV/9M8Li99/TMdhWQEUMLAt5xckoJ1a9RwH+bgf
ElFcM9f0d0RB6w0AzeRLM3f0YU0TjT/Apj//V4r7H0lxAQzGn/5Im7f+7W+fl39581Yi4j28ZW+y
T96qP6lxv/+rP4BR4QJ4CkiXL8oZwej/9Dz40W9uSIWfj9eA+8hFpvtDjHPM3yzi4/8UDuz8hrJH
RaPnOGZIx573r4hx4cIm/tOjw1OzPDwhj03AJ8v/5dGpzWY0uIrLnVlCwd8b8eLbsgsPD5ekquGI
ZYi1P9Oo9PfRxfHV+rS/bKh+xvDURSDPSpviN5sG9t3gjM61jy87XVNCgossGDpGwvniLstUaavr
CM+ZChb3Wd4GQ7+fOgdvmtYNIUL8y8NaLeY11aESML1U/hFYJTxspcqy2ftQFV/ndBwHlpHjKLak
UbmzETQkCWVWsbgeQ+2/OwxsWxHgphtpX4UvaM3n1giNbdnMOTRUYLdNq/IHbWPM1bZpvE0XXx58
Wv+9zPvqBZoWS3T8Vose5cVJshMutj5tBixScD+QwL9Y/poBVz/rnnJ8ZMOr9mAicQaai0lwmpp4
08zT+IodBg/hUJkNiR9mKjysF5fhxXGY23bCKvviRPQvrkRd0jGCoo85i+ZTp7ktoevlFKSp6LW5
OBtJ2TKzphfH45C3issLiuSN71rea0gaEf/lkEA8dqNqScA5S3/dxUtpBIuvMqRUhI0bg7F1hEDU
rXGJq2elesZuu+8lP0BeLBmCsSt3LcLju9MrblOQt+6Kxc2ZWNb4NYJSyWB1sXsOvLyvmnwmcug0
wwh3ZmieSllhL764REtPsTCDxcTAYLJRfUoullKSUGLTzhE06pYK6gfLF1lLpE6OT3roizswyck9
ocWs28U4jQ9kh+XeWTys2e9+VmzrQUiGZjG6hovnlV2I7uhyHyxjzXCALZbJb6IN3MUt612Ms1S5
YKK1GIQY9zqaGNMJRyE7fNP8QoSeETRmBd+sLNbjGlioxErDZhUJOLrYdi8OXlUM4ysYyfAa6za2
FKRd3L764vyFCsXlQ5KnjpbQXuXsoQQt9uAhc5otOPvFW18bmhh5pK4Rs+x7JYfwa54BU43yhP+q
UcmyXEe6nO8Ib2JHJglQMwhL55AubmUI8P1p1FjG9wVOP7hiAKFfYcDlp+Bid7ZqYJdNbwYb3EfY
obm39VdpTBkNkH0M9J1XDVv89P5rJDK2hezOLGx6ik04OUYVYYtvbNIJpLHoBBixs9QdeXGzxq+6
HmYDv3Y99OLBne2l9CrJohdzSNvnzCzCd1+HLgAWTaGSuZjAs8UOTjnEs9Ipq7DaGSjV7C33jai0
b94K8nk+2sXiLY8Wmzmc0GFCUFTuVafxzVP1CMhi53TY0706ke+wikMy0xf/enfxstv5rJxDPtl4
3AUxGaqcUO/UiskbRQTWGJ54/J1o94kTsWocfVqr1uPvHvqLn75drPXTPLrWxr447qOQWWfFJISz
NzH7ifWcGeHQ5+oavdWukb7RYo17n2148TEtlv5sMfdXPOHzKjBl8r3z/fomCIgBjKY5PyWRogSA
shf3e7eEBsJLfmC8ZAnEEisw5oomiIrFtGXW0TW2HfGVT1S2xBL5VF7SCbxMKMVWU0ETV0h6gRua
G1DLIOw9wkkVLWr896xDbcNV0RJMJQZRXRIRKrOUPJWXpIQo/PmRw8Yrv6Dxx29hZoQ39iVg4Qdt
dwWnNH/B+EIAI+yxThAWKo1noPDqBl+r+YNuNBSwMGuIcLR9i5OU55viZLv+wDtG4CO/hD8IZefh
k3sJhahLQEShggd79xIcGVzPlIRTlkBJt2RLgiVlEl4CJ9aSPSmXFIp7CaTISzaFkIroSas4S26l
x2zxVixZFrWkWuwl3+KNnvHoXkIv2E7Ro7CkI37CuLC3apr1G5qJ4x/SJTcT5QYLA82cerSqnlzN
krDpi0AtBqkh3FqU7VSHLu7d9NF0y5GGUBpXn7AvEdhRSVjs0OmdYz7a2M1ylyUxwr5pfVCZEtyi
nTnfDEOXdzYENBBxpMAKYkXpHT1jJQeKLTyfFPJQfcuWRBEa50g30pIzIsmQrJMU6tXWmJG+wUkU
Q/BFLPkkLO02S4ESHIn3e4BJQo+B3irUmvtp3YOXiPF9iRqwO2wQbp2enhCivTm+U5eQFORaAlNh
j+UJE7bF2mlJVA1OHh/Ieps7u4yKtbskr0AYjifbsOkEVFSEEQenRs4K9bZh93MV5716lZNcrFrl
kqB2QSKgh/AcGqjNQXXt0at4i7v9QRGD3Th++1wLRFeyjwZeZa4sderFp9TpFOtk6X6MSUYJClbz
te2hkPS6mTbulJJR68mDt8Enyer3XriYKtKi3ixISlqmZGpR1SJG97nPU+JSNZxAqAOejNAha3dw
jjA0c2c9oa02x8EFprJCMyTt7xjAzgirTQBkBTLavBvRfEdQ7uFHXbc16Wirt56SJjSozCGX7x0G
HOXjDZJF9RGzcEMN0YvHLynwQ7K3q6/dPsMxHZmLrJsZWxurI58VgqhcuehG5IGQULzS7Fjjttsm
YNweco8YmKfjYhPriDxtmNo/wjTuX6mMl5txnuS7AWdgnc++i32MjjC1cr3Yvwn8GuE+Giprm1cF
LGCzq3L/espqw/jqEgindGzQab0OkbWqjd2mer5pl0XatuQDIzZUISR46+PeITXWifHYpIZz02L3
TvFzOzh0aks5qAFYiI7R7MjPsI1tXDL0lKzcsCmOZUlhwZoTQQdkv8zwdp6J8gCN6KLzMDfRtQkX
CHC/pZL3spHOldd1Rr6KkTa5/PYgPvqonr6Z5PKyDTF+RHGFPo51CR0zINVDs9yqN8l6HwV3VEwd
AMg3Ob/lswW8kxRh7gQYBkf/Ki/ZdnGhDqG+Y6V/Yohi3ZhHlv1dtlP3ouo+uSpKL6Qt0A4JT/JS
Gm9EFy30jagjOhNYXmytpGNlt4qG9wRPvteTlTaSeWPlfedfa5GWRw93DSoyhx1RsW55+7GUIqII
xo3THQ3kDFsAADH1eHhSvMK/HwDK0ZXmBAGqQFofQ/gCL9nQquxQATq/14QHa7ifNlRxlfIlr+km
mkA9WbE4j5kkeexgFnzDAt3e203pP8SS8q5VbPt9txJ6dhrOSpvPifaQIHKnUCYJrmzThQNLcpAr
S62V1917whtOKubXswYFRxUDx7j3lA9MxRwZCTmq1ISNsQ0TNyyfhZfVnzYQHYIUCEn8vwzLdJRR
LkWYVPXFG4NC/DDpkcVjSGLRXNUtVbQ8NpEotyD1AENi1CL7ywE9AZrIkv4pj12LjRLv6FtVT/Gp
UlpveQS6z1J51sOQ60RurCYq7jFXG1/t1oyebGjte1tH0adytPl1otzjFHqe8UrbFdGauM3m+6HO
1CvnL+OC2/a2uy5DmRFzWsT+oTTDo0ls/pmmKTYOinfMs++awC/cJZDJIWBmOQ2uKRFlN3Kw/gos
QgWTspm7RwBCTDESKYoGE6b/Kz/QbKtrnTjHVNp+sWup7mLlklx2vEnSUtHtJCK9mvEGnjzlTu1R
uUtMJM0KeojxREc/dKXL77ILQ8rIBgVlk4J08eRmU0I6NRnGztqbbACpY5o6IIxYFdi7OgRNs503
D4OmdrGqI+MNWmJwmMi3hfUG+yJb+YR2cMTeWXPd2WDAqMMXoqVW+OARCpT7iE9a46IXWx7V17F6
8wjiyUnQJDL0pPX6EZePgMhhYB2lQNjheeKDObMIuSZq1bACcVztLMRMBlaYDIhPoffF5H0zX+Xx
FN/nETPBXaGg+wneCBEge1BeYIgS7LfFtgyF2mLKNH1n7ZRac1MpsGxMKViktm3PyVwzHsFRUeTR
raZ0b/rMqeIrz5I6uQ2HQLEeBzk4HOg16Be6aXXPdrs18FEwk3yZCrpk91E7ec5OjtgIjx4OaGKk
ounKAyv1adrBYJjkt3KezLcozTBwNhN97d9yX1A9F4yULV4LVPwYqFU6sBhHHySSaBPASkkGT6AU
N2KyzW+Or1Hnur4b1LqNmyU6403RNa9vuoqh1lPiQgsBKVngnAd61vJ9jxAPWjf2x8ek6sullQcW
1C7piNjgs1MiO9duMARrTJU1gJGcXhEgJNrY9GLw99BkIgi/XT2ym8Je0a4pywviq6pVExZy8srm
hBsVHvzWoJxWvo4543bTjlN5Lhzbpre9xaeBgI5q2FxVJnCmAyueRbjzyiB54iXlyyMYhYoxxxwA
Tg4gZsn7pFKXX0l+udk7UQ1d3wscp4RvGqwlSRuzoDOlr++yNopeM4Y70qBT3wQbyY9DOrVLp/lg
CTbmp4QCNQpZYy9wVzPlmbvA7lqf0uHOOLGxeI0yMgSr1iJTneQN70Q3br4Zzgjtk9XzXSbFQ6Zb
U5GHzSklQAhD75wdTdRy9OloTWNinTYrKfLh7Lh/zCmz3tHCVmBskBjw8fRFMn2fROc4qGUA/Jnt
tQQlRI5dsdlfK1+Aobc9TODaaQ13NbjFgxKUt24qwAInMfLEMrXE9MjHIb0ra9jv+l0GIZB8yyRp
wluoK8kYcxUuDqnsUIilnsSTFDRToAHPmUdzr7BuJ98p7HNkVlps+NdmSreSNo0N7ctw/+vFP7lm
abKsz6vgo+XoT7dja8uvkjUKj1fWdG8lzadHEl3GuvCDmI7jQqo1xlQcmQXF2sVmLj3nls5n56EF
dEQAhDaojEjmDHCNX4c/+B0C79h/4TcfHdxIQPnsa6yS22GWx8asxjchTfE0TWn/POGLyvakYO0r
7VjBkdK1iTqLEJFXkHWl2JGVkbkOasssN4P2GjDMQDaoTFEKUwmcs3LxbSbjE1DP6BT6M5irERTO
QCIP5vKm4bK/IQ/jt5seThk0ZQAsekOrZsyJ3Ub+9v+tuvn/IVGTbIxl/bV0+X+rj7fyrfob7WZ/
uwHl+/7W/e0ol7Iz+bOY+fev9EeGy/ktInCFdd5Bbac6nZDU3zNcNkc2ZMsIS4l3gW/+oWdazm/8
LwtI03Wh0wOV+7u5EJy+hx0jIvrpUZbH1/1X9EzrF10e/RL3MN+ZxXdmeuHFe/j9DcyIkP/+b9b/
kZL7WZ2O3T4ZSi7TXvleNWG+ZfaSqyTuyGtAhuv9tFnPUf4OahY/DWTtdauJJ6c1E2VYyU0MiYEe
+PRJ15Ne/6QP/5PNgbUoqj8tK5ZvEVcmLB80fGTcaLFH/vQtArFEEM5Ftw9LkjQGbpGtYDsOgiq6
1m37BqDzxpdqIwWOtxxL+u+2WrKF4rP+n38DrhPZ/KrI3C2/w5++AdgxTch51u0v8HRnphJr8ccB
EY+3yUK9VcSqUJv6K0VudMVzLv+bb4E/93/5Ffjkdiyu+Nglft2eSBdUUlEW7Z5kEPZ+K/iiEtwY
bXX9179rd1nD/Pq7BtfPf2bZC9nOLz+qPwM9maa63Vc1bjdevdEu6JuXGhLEjpw7nXWgLdYEF2gA
HgaQP7GJm3u07z3aOa/pxzaw1znxm8y8YduNtvng5MhHy3NBsdHYcfZhyO9KuhSMhpB/nrvB1vOb
BqcEhlKyzMRrlX3HC5zQT8wvcmr9VxkDI+xkuHHTFoBzBVXesGlDwuuenCdqQwbITUk5g8MLvR3i
8XhD8OOH5cz5Vurina4+YHRdDGg5+tRJ+QDr8fmvf3O/rJr4kPJI8J5iQY3/xA2Xv+BPn5Fgrkzs
3y3trwR7aBKdXjMWsRiqetoQ7OXOi7soaHW0++v/7qWM8M9/Mdcj7Ewgh2FkOUb+/B8umyhoZBTS
JycTZoS+yI7QOPuDbTNcCfAk7HZnva47G9PHxANdsd9fB2HFH5RS322RiB146WjtYSVbOZadb6KY
EZV5bNrTfEYlM71byOkGI/d/873/skvhl+b6FpsUtrA+aVbzl6WgSTsSUKqk2HPrrDatAe1MMMCs
HR09MOPX25yi8D2dqeVNM4ZMFjSx5uKKFga5ikv/P6g70922sbVL38p3Azzg3pyBRgMtipJsy1Pi
JK76Q8RJxGFznsmr74dKna9jOYj7/GmggXMKVYhjUeTmHt53rWexE1wnIHPaldbRdmx62y3WcE/j
S0OIMzY2pQN/MpZvf77ut8/aJGmSPhR9fZLVVu35r8+6g+AOh5HLHrVm1c4xK7mUOn/e6MauPKwS
HUEQZibfez/fvJ588mr4xXlLK+vMS/5llPUyD0fki9k+HNoK9Yvnbjxq/O+0TVmRLiYB0yYXi/M2
CnZOFRctriKrcgO0QbaPSffbO4iBrsmSeHnnJp6bzBcjl5xIR7KHFqjr5cXTJ+rEgQY3ZEASsxNb
cuJy7ZYtHD0csBMmL7mnjawtA3kahVjUNcWBk4jM5bGCuWgVfcy6M3u+MEndyDtLI1Uj0g9ZyyBX
6Sip9WoJ0B1scTaYdN127iRK6KuEfdEWqA/Jl2Qv7MiJJa+DI1DglhY0KOY3S0zSJ3lNg3HAj7Wx
JehRcWkp+01eD/6+WbvQWhaAsXLh36BcQeCFJL2pZOLtih7LB6Ft5k5SWqGURW0NQe4m7NIX7E8v
Vmo8ctgMr8MKlJVppCeiG8oDcnpvo3vFQZs8nT217u2yMjlhnnE3fcmcWxuUCKgoM+AE45tFHDFF
ldFBYAyaKvpULxVZz5n3FDM4fK1TXLeBoNdD7RAPMjBk94w+wvPHdfYG+9x+QUXcUtkks3wC6uor
Auw4IaTmV6HT1Wmko7bZmLy0VGO3NAphvNtZ7SfS+rtoZOqj+JYfhnJk85AsLMSLrQVOlp5EzJce
Iqp4Obr+DZ6CD41UP2zF6jka2THiSI5yhYl77Ks2wAIkwOgu5DE32rNDYMDWDGHKAblztxbaK7+H
w7tjLiv21A5eDHp1q/oIx2HLCpzNqFhzMz9aGDBT4T3Va0Oo7ptuq0I33rP5MVhYqHtnBo+maJsP
dkJdOq/6ezYY+9ApXhq9xWPcc9TXnKwNvImnSQpm5Td1ilsJd1NdZ6fCw3ho18NN3Q0kKKgTpVtv
P1HZJcCdL9qOOWQT4zY0GIFuMbhbqTt3KiyJZEHuTrXJVFvZw0sJK8Y5/RKNJGL2VwjjKn8e1EmL
SJ2xebLEg5ws4HggmWvr86DQfxcRplppkp89hdEJlhiDAPn/Rk9Gd6vF5XEiIGMTK1bqbMlfQOVm
970ndN8eNPdjS4sKbNoLEtHyEM+IXG34/Bit+I5sT492iuvr/GDYGdxhgO4CWsGwfNaxO48MG71C
AIQLq4MKl7y4IXtGKzIeDTfz9t2cvbhkjVHBSF5Ex6txHrjNwnWHxbSD2FgE6ECxmbtPRJTNnIJ1
9fMVyBlhQhiPbde0W2vVxJpmtdwW9NrJyl13Gxq/r8wrg0w3RpAhePytzuuCsIskNLwmx1HXtECM
RJdVLoOW6tTL+cK5XHYxfbGAGWNN8zy+t0Ti+YW2HRL7Tme+riZeNSeubkvPq0ke4dk5lPCCpXau
hD1xTbnUKBZ4qZ9OwxELZOSniibb1IVoeZjAEPUyYTm4sBe+B0NX/XzAeJ0fZVY/l3QBcKClJ2Lk
PMrz6ct5uugddeomljGX6M1NkUZ8QItasctYQSr695tGdIinR24ihwH2Q+BFfHbJDlY8cXAtibkQ
8N+WtrZLHohQgb1Uz5Ysj+fVydMZxTpirp0lzPAawPeJImD4AO12l7NJwneymEHTFhVmWbD3s/cd
UzKGVsnILdh0bdo2+URPiSlP4/cOzLW47rghlBgbJ3vp2F+t09lccCPizL47T0q9xfQCXew5nbi2
BNiULO3lUGdwYZ21hyx4VWw3fZm1JIVKssbjIlH7eZqI1w2LnRhoz1l2oFrenb8hBejT+krABXpc
lwKSCB67igs7P4NKendJrpF2V2A4VuPRxVC95hIxbPCYUvy1curzzTPcW3G0mvSkqigLCA5Q20Zn
MJ5nOtdkMgGT9VTOFjOqvWiE+XjjfQtiC5Qz72/KmxmM2sLfgsR6gD0RXnfr0wEfBNEVc9ISFeCR
Ut7DCfnc9XkmTqZ1I2ZHGbhGdJSs8QBTF/fJyWiPbvgbNlfiTpTf+FO35QH0sHd2SUmXBeFIcld6
ugKbSGmAHIDKZwzz69d1xVBcVLtunpVtPYomDCDUznsjXM2ptPD8dYRNCz8ZV2zTmWnAg/GoxpJB
13hMPFnFsEIJjDB24NEYHhuK9ekiI4AkxxvuxMz6nIKKfR3xC2tCAXfn+Zf06IpqcoynRwljo4HB
PNQoJMlaTF7oFBibiE73xup5gZxFHW2bq5arPjetyBY6b4eJdMmCfmzUrRZm8ycdlevByXm7EfQa
SCrUy3msUPl7IXrkhCH5KdTTmQWjqZHBcKvX1QYZPgtjxyuAmwvjgmOrrY3QFucWpS4QX1CTZNJj
PCvqHYhUit52k9yNuEW2llj355azQ7eMrLMqWfDmrr5jlqxvEjPursyRRjO0VHszGfG0pU7r7VRP
z7MsvXCbYiHdlO04jxvY5/oBBU/0EmMCIJNbmMluEBVRZW5CJdlBoo4D7kS37DnEck4qb51/0zy1
fDSA6d/QTZi2UdV9THHU7DnnJFsZCvGMAzHZkJ6C4tMxYBbBbN8axqIf4CxQ3eaYNJRgurHBDYi3
rdh5EH2+Cg9mSPDjSk1fY6jc9QCnYvbJ9dLcGSI2d4DW8EZ70QtQjmmbOnQ6IKkZvqSMtVOjvtws
Da9TVTDZr8c89LAKQ3PCP9y23aEjjAkcRXuJRRD16QoRH8sMBquZ6z5OvnKDWtNkjwLdLM6ByVE9
pcUimx/pwoato9i1EXWRwf2vukA65lXn1c/o/7Ei9tWyGQx7vB0MmACK7t4ez1fqJ6kZ8vGodsA3
h1tT9PzuFWifCNGj3LCuM8QBURaNP+hC4Ves3XA7TiF8cYnIw4GJGs3fevpNG3JzmbTQ8vulC6hN
qzuqkTJBwq6KZEM6CZ0Xs5Q6Z7iEtlliHLQ0TqEFjnowRCZCQvtBG5WvgQ1jOep3EWEWgRvxTKP4
ViNpm6xgXOTD+Eno4zW6UXfjJnnFVK79qGwGnwOoPpATEWnEyH+1OmbdtAZ22S3mY6QgLKSNfmw0
Q20Lkjkw9PUtVVyhHeoEGVQ7kSfiriefRZHTri9MS0mfnARpz7t4ZfIS1MxSWMTzJ6Mz6/UJL/6Y
sQKZhR2eRqx4Piip7DPlcPPGXPTnQTJVaKJ9Ji+ELZWqGyjqnsn0VvQB6NRur0o2wfFUL7tRsWPS
OcOpTQrcHmkx77epqSMCy1MdMTnowuoCbSi9fV8h5Dqf6ME7Mh0YvKZuxUam0MWjgUKcnkai/AY8
i1+uQ5QD894cxxdv6N29KobH2GXEhJAegd8AAV9YCtbrHFwdZBCTU2sLjoWs1huPbXYv4hdllc86
TnZ/sPTHdplSeqOAk8e4na6FiMnm051+C+TjAVLjsZrF3xwg650+gPduddl86jX1V8qaFnXOvpaz
dw1g3UC2kKpbWAoadhMW/dbr2F2v0+lCCRnLPive4HbVbrTcJyNBiz/nRzYY08PiTJBmauO2atjX
aMIDjZjYnBsxDHRyxNY55SSwjcEg42XX0RylA9bYZHyn8YOOwO2vZE0LLNgmB0I5V5nJCEP4rx3o
ApdssLin6IK4z6bjQsQtKFJryfiU1xqa9IbhJtfiVRLNCD1UjDyaeS3E6RWoOp4g0Biy39jeOknn
7PgQGbL3bruFL8seUy4D4MgERkrZlIcsEvtQ79sr4aWnQotPEat907AOIbC6i4yVN7Ou6N3EIWzd
7tTrWI0YJnehaXHKY0/A4ZqwPGPWAo0LJp6LNbOYywyKEacWtEXThmxote2j5rnMWXqGsR/vQQjC
4UALw66yK/YdkrrrmcrkGoAz3Su7Ux9qlFN+rotAi3TESw4JDxkneji3jMmmK4tjAvHG98zZhVPu
iWME93qbScbwFBvL3zmune9NMnnoyPkFLto9WAc9MY4ao8mbYU1mY8tvafLTqgJ5ycOhOGaseufR
z3mTrBwsyxxWTxQh+FaZ/cEFbG978pE8CY56IStXWmk/1kKVZS7YNMmXv7Vqnsis1jUwYnz2pQTz
wB6KSSGqHhtSA1jMvMqPBXmdUo/v5oRpjGKkCvLVhKCs7ppY7oQZt7qZ5bIEJkAKklkwD6YmjyPR
5D2N0ZyyCcnAWjyKrRdTlWK0s8SR1u4Phfl4XnuxS7WMpPDpzwf/c7Lq5bmfGqMEduZguz9jZn4p
YgwpCNUondUezDQHcYOCrdV1zzWZq0Gq58tu0YTiW/CUuyVbdrHMe6aa6rNVf3Hr6kl3yZUf6arv
1m1G7+haYDvOE0SIB11OCy1SRzuQKYmzCVenX43Dgw2+byvdjg1wF306FzLPZyTigb4nXR6f7KnD
pNvZjwIm53bUOnGUYB2u7WrKj8gi2dAN66YUq70PGzfhvKQk52uLvZemi5+HMCDFBK273+kJNTdF
W2Phi9ZdYJyUdIyMjDR5N7xSiEH/8xI5HQGDRoFDKVD3LoXuaYYxLzo7Z1rOlK4zhtdtT0XClmy6
cmV9TtZSKt+P9b/ndRMjm8Y/P9bfFMVcj2YGolkUgdRzXxfFDPryViJVv08duLYwjuMDwj5WIZvw
aKWlcGFtQGFDlhjvlKvO/IOLAcXxHW4DgnFTUkt6/dG82aIn2qvfu/U0bCwmdcKxNPEhGfFqIjTD
XKqnYRDqS7mBJPBQIu6FHyX3JFSK5z/fhrXcenEtPAFHOMZKSIK19/paetmDOS9HtTfXSWAtGKCu
YwvdTl3QWBDqI2bXP3/k+vUuPpL6KL1f2hO6YOP9+iONooO6RlEKBJDhBllNPlAd8W8iK5+mthk2
+JbHbTE29FWjIT/8+dN/UyykT8AFeC5Pn1bW60/PuakGQcEdVhI2Y4qCjk+MZ/vOCP/NbaXKLMEd
rhL+N20qVlMJIdHq9otITL9fMLs26fS3Nrd3rZf9NXewV//8vcTvvthqQHCpb69GmYsvBiI2YluS
d/soSdubEK3oLunM5oopgVLO6D7FLJ/o3KieSTt6yads3g+TqHAt1r2fDcn3Jfv852u6sO2s9fK1
j4hmlcFOEfhicFVrFKOnV7xjKv27rKz5x8/Nr0rZ48H6uPvzx61dxouRheHdAUFJgBZ+DOeiENxL
R7PDQrV7N3HuGim9baEB+y9hyfo6u+aNGOyvZpZ+qvT8CuvWpyaxtc2QjLckWH/v3BFuhJUst3++
rLUr++ay4JdaDHVebbLAXw85AwfgHCHX3efeQJ0mY/NsIzLeEU7GkinlVV/Wx5gi2RdESdUOLBQ7
WtynmNTKZ9FgUMctUW6ySqL/KAug7bZxNwq0YV2afrPbg9XpENFNtiCdc2W0xiOZLac+ipGNRX2K
JzMi8IBKjbOACsLmu83WrqPC14k1MEt9UIep35JB62e6ju02BCqP8grT3FrKWtt254UtXfTm6s/3
Rr69N2sn2aKAb2OHAdb2+t6g1Z46DobVPgo5LswAsbBJRoROjOTNVE6NK5HYEEoHOVDjAZT5+jUp
rRLQQc7W7DqUakNWOjIO1XWl91pg6XSJhnXfvODJ27V5tNxSklAbxJ8SLeu785m44N0wzB3L1aVt
rpBS3dLX7/jLBoFaBvN8w2aTTSmwe8/VttTUEDs4yBIloOfYzo+uZzWBSCHCaVmya0a8FX++lW8H
v4NriOGFcUzXHXLmX11FniITBMFf78klvJYjN0YyEpJisN/5IPl2pqF1KFwPDgDcVudypqELEtbg
1hEJYh1JU/Y9YlYr9KArTtnSUuFwqEola3UZXTSwKoXqVpII5Yc5IpixismbiF4SVD1HJ+e8pzgC
cn9VALls2hQc3qlvHxuD3ryBkv2gkZUd/Plu/e6h0cCjAWo5umW96RwXnFwlEslqH7cQMrHKY5oo
psrPW3adAPfqwBj77+t5aVaUn/o6Ps25+86M9XaCdJBF0E80pGG+XSbI0WidSohqr5vlDwN2kc9t
4MOyRvrj/N6nybfKBMdBsOPR9zWEjs3w9RAxStGhXJIQ4NhQ7VRVztu1Lbm0kG89EVkUcNlQLx1N
Donj/T5fyudyKhUUTTb3ph69VK6YAUvUy2Hg4I0sHs6JiRcZUms73KbGeP/nx/R2HeWKrbVRjBNz
lZG8vuLGmpwcb1q1J48m2Zctik6Muyrodc5PlLKhuOvZO03L32z4+TRGBMZPnWn78k3K2DqMZS1x
t6cUNkFpmhzEJ3lMS3M6xHlHPRWsKifa/qqlPHXjGRQq15oh9XY8aLLUsSxRQghpFG07BeKJASCu
Ka2IXc1utjI4YsYQCbaG1T1jtqOavtZECsHBSdJ+3nXOOpslFvXatf1iyj6BvRMxOktMvebimPtI
tbGfhManrJbLRmg09Sphuxu0ldUudtbNfDh6e3TyuI05xU0jdZJzb6PMTH1Dz+3behK2k46Pm3Q6
FOHfhgYXBKHvCBScYfjnR/nbacMGCCa4uahSzcvdgLsg9TKZNqK5ix9IWaIowPFlJy1QXBSWS9ZA
DrmJJ18om1PNtnjQxQj9cCT8KyjsZrx2ZmpE57k+h7J0lcwJZE+zhb7SdfKvc2sTjKSH5idvrnPa
3XekN73Xb14H3esNrMv8yuYVxYlODvHFfN9EJi1YKGb7wmEx7qcRt6SzvhJmPNygOMfZ5S75XyZh
0uAIB/XOmrni3S4/X5qOZaB5QWuEivf1S+G5k/JGqK97PaOLViJafRCKer+bUQnHnmN+Lior9xMj
VlfkNugI6lkhJwD8TMr8m6UK8hF1B130wjBl7aKjtCJy0X7+rSNpVXP5DIIFoP3af6C0ITTqfCFp
kHEYN89WtXYDABrTW/LcvZ6vNb5pLecuVfLY1KP5Wc+sbaV7x2ZAiW/Zi7WbV80LUNET/6fpkWn6
D7NNsz1Wx3mvHNqN7wy3tzsL6CNw6AR+cVZle72Lv6zK6EdVka7ZWDVNinODIAfPtUUPSaOKuLxg
6TI4JgqqhK50JIjsGPD/0DyoMAzRhln0HuFUgwGC1foxW+e32n4yCQeiL179VdDRRyNML8IB17P/
89W/nfcgTbCj4L3XOaZenpF6dNptTuFlD3lkL0L6i+tUoWZOxedqVBbm78x6bzbPeJqZBwwOZZiV
WdgvRlUsyCRoFCdBStvVhuBIB64ty/G5F9OeH29PU2hgfkHJgWiEoCj6nF3tohGf+qCpGxVYiFlW
f8B7k8flQnm+ONz4Bu/bqhpa//yXh0mMZ5pqqlD7JEZH0DVcA7A3ugA8p2y9K3++/b/5uPUVR6lk
CA4Tb5YdVVmoYUu1H6111Dr5cdbYUJktY4ez43snYvdyrDrMccwoKDoRsglOjq+/XtwMdBsJwt3H
cWwdvWQwmQsbZzuZ3o5WE7roUbEjQQXJmsE29JDAvjkIoRV3JurrL6OZQyce+oNt9Pfk3E9BbcMD
NccBaizv6JbqSnuTuVWx98YZMXxXJMfCSMHSDMB5k6UrdrB2KMYPDcRfTXuEdpVepX0hdmXa1lut
xJcGmb46cIYxAQmWybg1cZD40EyIqwrHHRXJOmii2tzjFzeu0XJodFTUPb49wq2Rg+0daXAPscxi
IddS7CIqui84J+8WOM3brHDdbR/zB7HUXkRFMVXgoXmc2ajt8ixMtw5Gl9uwHAbKhtCBevbcJC7R
p94WKjeuEaha6MCUl27tvC52RWWS9ps2w4jSolBUyUID9kvtHjz4iketCiPqux+rzryP4kRuNarD
iJUxgyltEX/3I2Fr2A6sd14043Kj7kiXTZhERMuspHNef/2wvajGVZ+xyqOgcA/nc4+RoRopWp3O
NnspKMz6fVUTFBpWIz62ZTYDErF4gKUyt26D6QRlD/t6pwHXm2Txt0ymBqlKtY0haoQDywACGe8S
XMcEucWOWexoIpj4p7jbrrFoT3M5mkdv/fVp2d13sXyyHNQm42SjJLEIxO2bvDjItHXfKThdLl7I
/niheIPZxzDR6BdDnZlTrLmSLoaIZd/gSqBE9M7bezl5nj/CQWFoeVBDLP3iBnMKsygERC6CgZQo
UxDgPgFyHDOqBTEIBlbujfbeqehyU8CHMneabG44TzBtXMxQpGHbqR03zq4uCaij+dX41aLXtN2U
QDBAS0+DjndVNnqIH1+175S1xOXe3jFY51DbsYGnnkrF5fWomiHPDGleOrversjPwVbG0yb9CM4W
Hxha3lXlde6e2e6JsoPaY9gZPv151jwr4H7dGJ2vgRI5gFsX0a97cQTltWkc2Wj2LrWVth3muj3k
ptFwENfbZUMct+cnud5+xUoXYm90zDti48Nt0Un3o6acZRsPDoTr0Ux3fb64z3oruZV1y+4urna5
ipsPI9whLHoOX6eLnWNNNg12iLH+LCNUCWQDkSc/et2D4UTVBlNN9s7my5Lcx1ffkQ0sUHkbTguF
a9bmi/ucdLZZs4Tuet6q42g0006vIoGZvxyuz1/CwxD6QFSSc2xj/oDGY+h7CzHLGaFR/sIWbGtQ
iyDXIowOXhTjGy1Tjfdab6+mRZ4qtBgHbbCRkLnkZSaR8ahkbgRVQ5DEssTtIavBoZvW4u7tyYEa
b7WBZqUpag67DjK7W1D4lGuPvdB2eSWXbRNimwfMulNN3RLjsbi7CmPTJo6jD7Nmab4djtnDvFSf
lyY1mIT6a2vsuViTGKSojodbmTjds1a+h9khweXt7aQIj6bSoRRsXJ61Ks8Lk4Vz0w7IIrWTXmt8
BzZ9Eo0fc2xBvtGbYrcAE9gk9hz6koqXn1qVi/cKVzrUuBQ3Ci945vGapcUADEBFgAznFFM7fMAb
fgvGzjUCfNJMIhc7Msu56fYeR9C3Ja28G055uq/jBaOh0pq7WtYFoj7Z+JpdfgaP1e8I53rKKUhv
1QK67c8vjflmtjIFZ27eWINAGpNy6esBlSYdcSAAWXZwwPp7/KPG33IaaYJx4WAmehdre+l2+47A
L5Ixcw0hTh3fCBzWh9mEZ5XGGKJhH+afkmiVdyS8dmppLThPVqrt5FgxMG2wZQ3iuK1O2l0wk0zl
i8RNAZy5Ipibfk8qs0BLYH4cB+MZ4zjkL8/5GMbJd846PVHyTQ9cQHMOEaKN26hI3Ac85jKIM+zn
MHw5jhdxtc3Hqdvb1Ab2Ji2/HY1JBjpA6GDyMuOdGs7vxg6dC5OiN3Pfm03hPCUxPUrGDlk9J9wG
7sP6rjR9lfp4voZ3yrjOm5WL0EjLQKFGJVd60LReP6i8p1al9x0zLHKqbUof+hlhWXxTwYTy9QXu
jUH4zh0WyvhGug0TXsP2C1QJAetDzQ4et65PN/HL4IVHktRuw8UifBeVD/bmmeCJbT3zXg8pkld+
FjSJvWxJ1wz9JmX5kCNvM9v2U9nWy6MsEfOJehl+iLJsDwR8CTqHU3FMW90OIKBEuxhJ/KdxyJoP
NPyBrBGT9lglyUIACjoNZQpKXPZSB/A9h1vEXN4VHdnHDn/MwVMzM8fi9be5XTjHBnfF7agzLbeV
UoRUczl0TLN1Iz58smbGVjuwzOBidHPfkg44kbpbcaJaeieBimAVLPBShoShImKmnR3HpbbzGtgX
AI21HVQ+JiNH2EFMLYgdKC/E8s6L9pvRwiChFnMOoGKVfP34WtvOVA4YY+c2iHJSi/vXVBaLU0mg
mWPxQvz5xX77eXQVUaSzxeKgbl2e0m1FQJm2lBbxeKQbDRVvA7I57wrNkXvAl12/8zaItxtLjm0W
4VpA3D2aed56Rb8cklzkbTVR0uYOHZMRJDPKULgx9jHJaUQVix7fgGdLgojA7oo8kkPTMl3YZDcE
uBAFLKeCVsDohD7pzikYJRYqfeBR66VJDIojun1V81USu2w+5C3TtVWsi7sVQsNbkoxEhPIrFEjh
R6QCorhm0Nki+4p+EXy1jSo0xe68jahNPpUui91iu7fZEKsdXYYTaNVyC0jqpJzsq4y5dk3vpt3s
hssNdS0ZiH6isFI2Ty358z65G+nPpbVSbLUaN4qfUZQZMOUR3AtEvmhEeJs8QoP3MUOQ3NhMvxk7
s9tjnmU1BQvvRxX7EgWQyu9zUCf6+q7OkvmjyXtQyQvzmxoY50vNEFdN0x5QFrP2KKbdVlX15wTn
6Y77ZgRZwwVVjlNC5GGt97SYLsBcT//8acZ4Jw8cUo9Doibe8rEHUT+SG4m0YDOvq24aS3y5iXJ4
WZguEjGyH+imhZs4tVdxp7u3oqaB32f8p9dF7qF1eEOhv/CcInYQRegR21Ui/kbz3e2bqG3uEoGK
qOjCknWBr6nhlL4btIUwsUG0MFNKe49HySPmIuHegW3fZ4v9yZ6dbzl6XeKQTXnF2zkc8dQY4Lh4
ayJrJqijztiyJGyjz687JMsFNwRcJE1jFajwXJMgy/2PPaPj0M7jOL9dq9Py/7jc2nPa27eSjkUS
ob59/Z//EyQJ//sfr9yZFz9ym3xryrY8dZc/9eov8Yv/+eCV//bqP4IzC+6x/9HMH360fdb9O4Bu
/cn/2z/8hyj3TiwEdXkDlckvs8wbGt2+/PrauvnP3/iHRGf+C6uNtZYEPRxW3jrF/bRuOvgzaT9i
XKHySqvB4Ej0b+umRfgDhXVMeCxqUCrYf/w7F8L8l+viXyR+j3MNE4v7n1g3L+ZDKCz6utGhEczZ
jxbVxeFAOuNQWNm4qhnpGE2gKXawr2hNr8I2LU+n61/uzMPPLfl/FX3+UCZFh/nTYrb7ZaP+z+fx
gVTwsbNezvd4oUF0ZSTKL9QZYXZHJ2KGV1sAJaM/f5I0Lg5f62fRAWS741F8cd6cOHusV4YRx2NA
Z55MwdyyKr+OYoEHW1a3CiLPbb8Y6T6TXbFdz//fbTSfD20xqSvA/+Bua00hbJ1HIKqqb/GvKS9q
vtCrRvWUuKCsbTsS170OBWQemXL9Vjjg15FaxQD6FlLRN6NR/tDWrFE6C8T+UCcYdkh/anGDDEB/
SDLZRn6bLCEsb8f80dlxGbQA9lZ4etaf0N/EP8DiI4ooHGNbhtny4NXSptxWz9G+JiYMMU43PKao
zG9qHCrDoTZ7NLIq9riU3gnDL1i0VkpKXC9UDyOSvzYRGCwcKpHm7KsFrAE71RSmB14GSvytCah+
Q428OeWp1lw7rX11FpIJ0hcCjSZgMdtPhZWoaqtSI7xeIjLp8fIUD9OUHadYdgEBfwMxjtUzjnOk
+bp8TE1MN4XlHMm5QZDoyXhTV03tG57WHOc4i329p7Qb6tRuM+Fl8VazkUYkCjOE0Ca0XHP7nHg4
qfKJ7suMpX5jO3QCp8G564o03WXIquKz80+gk7E0LyCYgDJ2JFG0A1aU2oe5HlBqM9Uze8d7ahXm
NsuZZ8Hv+Apeqx+yDaH4EZ3YEKyac1SJ4HooJo+o7VY3xYBTZwMOTd/aq7lM2jndLsSjY0/vq8cg
iVsg+hpJNJRrXXAVdYwhQ120ZLmZhbZPKFuXqoE8wxumjJhqnxl/hB8YQbOR362e2BVUmXWZZn4m
8r2OaXEDn7by185xaCgCInLxPbXznYGlB456B50v/dmqVbC3IXefhtC9MzCEYeE55l10DVmMZWMI
EbvH9ccIQD/gb8DRUCFC4BiGdoxRhQSVR3PXnVx6V3VIJMsxNUyEoEil2/u6wyuM9KFY1Y+jQSHQ
GLMb3Zt+2OztscI19k7lPLxmdR94YM0oQ49ewCZYbZZVI5p46Bt6E+bZHEd3Rji9xGH7ZYqkHYD2
xnVtgHWyQ+0pNCKASo4OtMAkwktrOWKyhJ9bvpMd3USgsPd2I59hw/EFQpxLIR+3GsxCy9ynFINh
ixuOT+TDxqxKCPk6H22PksDPkpTApiX9kAf7GOdY/8JynOn/c1gKc15URevuqWP7jajVeWKDTQ+Q
WvNA+CDd1urFQ3n5/3jd/P844Rar86rd/G8K8JvV9X9BIvv6Lf6a/ddD8/X7jzb+da0VrF4/f8E/
nATnX+A2Jb10Q1oCWivr2T+cBPEvTLYm1n8hwC87LEz/rLUSIixLMz8tQSGYaCf+e62VNis0GB1U
aahMUabJ/2StpWr3evWjwQ/vlaaXicvategsvD4L1FFezQknvqsmSaL00C+tundawke2QP8IGpim
PksPeVZU/capiE5hlSl6QjCdWF7RdEoDeMzN1RIXln3Lokay+DAl/BPBZgKitfJqpnbsqQHY9Oh6
KW1cpLBR9YBmmRHdlZaVJ2A55+ovFuGYeD2RAOTkqBxRpI7y1g2AJzif25HziuickRjTaghYASVT
tmu+QFZVKgip7yGGInOAGGgwtCtr1hsfPdGnyWEiqWbx5URu9qGeUnj6aK6x9UBech8MWQ/AnqoK
X+Vsiei2YJfzSBGlCnnvBtYkkY6V5dda3SaczXP9FCd6SZg6AmsoJKZmfiji0MTsHebRc405GsGm
G87fDFvrHqo0C1c7Q9H7IInIKDEac/gap+10ZblWTtOospO/EFW2IAahbWEz0fXHCQ7LdsylfSWA
OW6MgoIQmMVCwgrECfjU2XJ+RpvhdpsCljpRQnpJojDoU0wcSwPGyJxTkjar1jFuZS5GUuBZjI0c
HjWE1WS5M5K8Fx8lB0ASX+FSRTvTqwzvC7DO+mqu41YEmacj+APdJGvyTYQGszWLuia5qtvW0u/B
Uo6VCurFIKYrxWToPrV4L9fDPgtWCPvgmeUBUME8rDcrvuq7GFx5UY0Bv8a8MTyzPrjKzed7gUM3
8oEODeI+clxkXcCARj8dU5JTQ+jzZq9PH7pEP6VzDeleoVEeOURclcAQyQsCRtfUghimviUIFxLt
HedeIrWMxMJXaHa7RIkZaT7uLxLp7RGDi9c7H+laEoGiCbAB0G6uNeKPAzMNP1K3YDHIhi+yMtjL
2EiMGB+o5a3vAk5TMTRXIxCevZbp+SqcgPHG2hwYdMduI2kU1zbD5gNYcO3KngZFarvJratrd4+T
d+WMrNExKPkizfRtlz3cErq3VP/aW+LQ0FwPwNQzgut5qmb83ST6Y+8SUvQl6azibjBIU+6H1aEM
Mg9vWtxvrKGN7pVbOQHIt/KDQ4LjHSIlxG/KIi4C+cqq1tbDT1E2fVTkLINdVdHV3I+sqo7TXFd2
vC6GZbh1JrCNBECCREkNCO1CUY2IIF1EMtzZYWYGZgFOCbGy2AwEVSei629rxFdABmPaGOls9U9Z
XD0MVYNsVF/GDTg3/C8w3+7DGKKatcwdhQDk0hbAzJIwy4GU6WgePlBRhx3lkKJdVD/6PnlQI3Gi
wPhUkHVdx/LYOvddx1sWuRoq+BXTV1ODeKZVWjEZGU/QfX1jzrWNlYffMxHvBUyiB46x+o8mTRjp
ZXVT2QTEiZGkDN0jM6ZR08kpuhuir3W/HjWefEVoh0Yem4brZoXO9h3aQQtMipFpwFGo7C1z2R7T
WHNwXBOhRRV98kfHwegyW8uzxnXv0jRcKHqa9Z5dz3hL/Cp2K1cDp2mVH+0uTK8zMFsYHrOB0mvj
BMChzYBMs+KxaZM2IC0s2qCzWu4QBQNAmyGPHmIRshugC9pvyRswdN80i4j8iFob2HDI+XOSduUG
Xut4B424+t/Undl25MiVZb8IuQwGwAC8+uzOyemc+YJFMhiYZ8P49bVBVUtKSa0qvXW/aFiRkcEg
HTC795yzzxbqbbr1I8f50nXzu6otayM6rz6NKrB2kcldiI05N5wUQKnjI/iGUJ9PI7GLz7Iqip1g
McxfHmz32dYiJPkiUCJlwJtQ45PdOlPtvQy+DH9VaU/O5+9O1X8xmTF6/uPpBGFosUsKDFbLTu4f
RMASXHKU0C9z9GTbAw40h1xtNMDru5YA59NQapt3XElsb7BqWGbUcBePRW1MSBMZCNaw9pNrJEwT
NKZ2MAhKReqvWX76JONMjqlBDICqIjdgO417Khegp8zo6HS5N9yNwHEalOJ5eG6VlV4mIr4WbFNf
9c5VFc/ezTx36TnyKEGz6ypYiuksS5N50kAYLblsPSL1krYTZRZFOuGXd4GBrETNv30VuGQA/SBt
j8PgTvuO9/sVc8u4y6jlWTBm4wFbm3/iBkyVgWRxYmXEs9nd62fIaNVGDZQ9Nx0qNXuirAGvidpt
ovCQmOLcorEbmZucwFpBnpwOnmoMIJe9ya53zwYACPFIrv3QiMnJr1079rZ+QwESdhbjG/v0BDJc
2kf6Yut53djCuNBLWm3HUjt3+dRa5xa24QM4lS3zGsu5mEpAs5gX/kRilnc5rY1rjwDXHfkM56Uw
KmvTW1AOdUZddqQLqOYCN1IlIr2zQu8hcrxi3YJfSKar3tcfpTb3XcQoLhG8b6vks+9ZUQOSvi5N
locOKuIGu0d7iUTKmFXyjeO+sS665WaNbG0cCtHFH+zCCEhl3Jk7tz9po7jIoYtvoyCPSFZZ6tzH
dJejfB45VlIEHpU9Q9Usg1WLAH2c3Y7F3lS18G5pPF2R0ytekwkXn5DVJ+sJZ900NoPZDN/C5LN5
V7u1+RCHzpeLD/BSRjx5WES721Y7bbijb5eqKY/RfD56nWmHJ4BvfvErm+zqFbEVAcpLaRHYw5Bx
bqu56iUvZccZX/x5NLsNdTPVx4QJ9g0ktD0/OJQKg9fEAj2tFZ6BN9MKo1uv0hatVoX6HJLAXfKz
SPWhYxmf7FFbMmSqZ9wwtbP3DRHjmICRDL9YPViWob8A0QF0kH7+IIuxi7bUi897J/N6mpI7h36n
qLnpqK1kOMVq8u4AcrwIW9s3rCG4EdQD53w3hMyjY7xVyvAea2SElR1b6oNbbepynIBWPAyizk7x
UBtk04msihXkuvRC3cwwrPGQWFTvNWks2C4uxnObC0e75WVX1bt0pPOK+mJFLKGZu3qNKSm8Za70
+XbKhGPfJSOGPau+TGWSvyxi7Tf42O7A1YsypclawL8VbD3AedTFjV5XHKrJn3n7eSTZtwzPxbNy
CESmU2rdlnbeX8LE91+7lrV0nNOoTUdmeJmNlCuPBXL3gS8jfTTnmZ9uHXM00bwpTsobmGhr24G+
4rXudZRmfbFu/NrZQpxqt7KRbxMx5BOqBtFEMaXJWwZ/9HUKht991RmCxVffH0xR7MBNcnQNTuLQ
/T6N7xifm2gVjHiOVy0sgA/AEf0DVZz2azC6FELJvA+qVdhKj9Zo0uEHZBfrfU6BdHAoGW9Kx8kl
NgP/o2rr8dG0F12IzV+KPi5b7iWF6RxskHvZFoFXhiuzTOkWsWb11Sk7OVRGpxGHEKPHrdOlHedq
iSK7tkcNzBeK4y32dYL2RZBY/koWQXpl2El9Y3fusBGz7H+JHDovz1zrvbAObygP96VhXZUpTaOr
WAo6iLphCsg0jHG+rowG25HmsHhDnMkfnMFLj0NArtsOCQQQcrVRmOyggPoEbNSCN+u3J156UNQE
fFqKtYOa3m1nHOS7dqspPYz2EH2CSmYjnVPCfFOBTF3VNPCQ203ddr7yuGMLk4KCq2nk9bLD0un+
YgltXgex6k5RIpt0j+ljfiaTLWGGa5OgRQiytmid6Azb2PssR1M/EJdHwVs+kgxPKb2KjR/yEOZl
grJHd3ZtrxuEn2vSqCaFtKbP/EOlD/3iOqQtCE04PJPLYxEgYuNuSkZe9q5YCsHHOTN+684uyGrn
0qdnsBXOLXUKKGQ4hvqbmhQ5bdiW9YmGNxGAT2T9PekwPZq1ClKI+HX4WozIwruUAAgwM9v+LeOe
AnmUsHqb6xiKTR27NDoYfdqvmiStn02iBAMVBSOIcUN45YpDlDIBgKpwNY12xEgTUU/QNol/hxLo
X/j+FLeDNrl1qrZ5y+vBBP5JI/wGs4us1tShV2+5LmnVyD3dNTTjxc7WDIfx2NjGsLdy3gCbxEGb
WCc4QcNVUo3lHUSV+K6j4vpQG1brgegMrUNTxPTIZW7WsxVKUvbHUWyzsSka7T+TyKZUEQruk2mY
0ydzjFWyIo1te1WzSJz4KMTNbTONEyqWJuA8NcOrFOKhN3T9mPd1HW87jLV3YJNEee7TMTr0s3Q+
2HguBXtTpm/jUI7H2hnSLbmq9rWrrfb3GAov3xhD6T2Ugkj0bCegNIeMkwheZnTMmzwiouJ6tCyR
/E53XISNG7rUpbPrKqM4Rsg36PFW9NT0Sp6mwtLNKQXylOz9zugZtUE93xZ+1Ny5HpnBjAUrQKB8
XBGza48ujQxvMOvGh4br1rgxYXscGZVUuDNHKzsScMubHWvcfDN3fDrXUk6le1ebmBs2ZPRYf9EZ
shf1YH1QPdgcwf2Ut8JMITv7LvBOu7EHn3my4gYWofxR5FAb49lohnwVZ87w5Vqh/hVWmYEfOvFy
ql1IxXBj5T3xwTjbs68stLsmMFdv+sKQLCCcweValEzP4ZDQBce3GLa171cJs3QVAdJaatn6FbWN
EMZDINgbw/VqCi47/Wg7WWICXBqRjUVmFeE+BJVDS4Zd33h0eu5xyCxwlm58rUorSO9yI1d8hpvl
vVnFVKNteJ9bMJHwg5wrrCf9tmcSjvdjbU/cL9xyaZXiVoTLVJZbolEDH+bMBxRf6/BrbmbrqvW8
VGzJcM4sISn9ALiOrecKU3Mt2FhCIT4NWW+ER4hy1F4DZpjeK59rm6B15mms/frbSQcP/LRfvDhO
Gj3Ts95RYyjFsB+EsZS3oFYqNXZHmp299QzS4HdqDhMTMZkEyBJ5kY3ruvX6zWQGLT5+x9hzJNUb
BHzmOMEwlkuXMT9kmYL72nW+bIJoS2i+ch5n38RWLxkiQ1+dXEyDuynDpQFva36A+i1uM7YzG2mk
5coP2nGifSApL63yg69yrgijOU39kIlx4sxu224Hg91gXtRWfJlZSuFCi7IX2zf62yy1x8eycgvM
1vOyozZKcRe72Nf9ogpu2kw4p54H/nHSXP0bI5sOoTuCb4zH4nfpucWdIxvnkY89N+HEPplIxsfR
DPRrqHv7KlfmfOXOJvEMx+qORN+AHGmr2Mu0XrWu88CdvLknE1VfoT5hru2s8pCqWL0JfnKfgcVK
nBnI2fWx3WyC2Uyvq66Iz607rVlT0T8HnitcDZI9A02I4W/Pjp4CHPUH26m2eZNZWNgpVSmZM7eT
5TTXgH7e/B4dok7bYe9HFHzgxwCJozDzokm/+Lyw0G6r4ei08ZfpIruzrYBk2lBnqC2YXI7sTjIK
4oMKdXYVeIncYLGhp9scs3eiNsXNbFM+C8684YvM2gPuUH3AIOVuDO0lO/4+7c6NbbQcYJYlh+e/
H+P+yXIoHPqt6KEnQm1Do1XLlPd3fgOD128x8CI5yj6WXDuXW5pnleFtNRT2sHb4CE1rbH7mquos
GHdT5x6htgb/Y5z8n1xkhLgU3ullt8p/gav+81fSdAG0BtMdjxN6Q9K3+hPdeQC819t+e+d5hanO
tGq6yPRzPlz6qWT+A+ek8T71PN+R3T8Po3TYk02yCXd54rM/syInrz+UQ9xmY7eG8wJ3PjvjWOM7
D9T51asN0vs/C7l86M1PtxiLYi2ZGl9YfxiwtrT1IPvB+GoiSuQBbYRPrrA6F5BYGL/q2FqS5r0N
HDpmKQDN6IVOYj4ocTTe16VKQKQhp26nWaRXcH2ajTWVFhcJK7wbSvq3NRrfxXXz6YrgjnXTZSHH
ISLrzhqzV2mV4p4ekpMLGn4tl6Wlu6wvq59NJrFL3pAGYapoy8rVuVQ/a8/wZwWKk1r8rn4Wo5Ka
lV/Uinnn0UmbyxzO5gsu/ZqCLCQh1l/LhX3UTge8M/TiQ4w74QkIHp9TCie53Zs/N33/59Y//kwA
cZ9OX07R8O7EXnJHUQJzgqlL6xCQu1tpQAQSn/YyTrBNUh/4A7OVQ4/N0QjkE+6D7liNFALDEHe2
6UwjkJH45WIGZGbB6Mf44i2TTL7MNBBs+L/LnBNEo4623sz5nJQTYCxzYCJaZiNvmZJQb+NNU+UU
EdQUtSfLRnTN28T4zH6GrHGZt5Jl8vKXGUwu09hksN6uQUBRgQG2hXS1H8n5QTlt+ubIrPpwXEIk
mwLY3/hC5pZvklNmzq2emS/3g63YhbNIr16boFLFLyNSXbyNnC78rS0ywed//7zKf8o8sm4BB0z2
XqJPUM6LGvL3D2xX0LEJEKo7xty1bipjDCHDQThvGys9FkuJQu01+bAOujLYjk1552VlcB2NJQKo
oQbwEjqs2abNxoIyN4pqVeTpcGHqoefSZk/6ih+sop4mtuoHe4ChVEkKPcMpHrbKHe9w8d8NgEjg
9Axmf22SVtcICmPwhY5m7aA2q6OK6vQejClFp6NKTpYyHyorIicQnOG/Qj4JQtyOVrAzRfjAM27d
guC4YTCDfWLYgnL7WDgGSeK548iuPUWrWO0AtFJcUDk7xKGv3OysYPKfCURilC9tJ3zE113sQ5h2
W9DvdN6VVjmwewM4ecvLpT57TQvtjJuM3jjslhHl4S9TbDFm6WmuRY6ibYJLYgCvil9u1+KJTL2O
i6Sjz9Lv2+c5pKujtFDbMe5mGx/0A7VemRu8RagKbyMo+mK9FIntAp1G+xgGTsqpa7toFoneJe4U
HgrP4ZGzobnz92tIDE550v/KA9/n+OpEsGcSLuLN2PrTkqLAwb9yOwqFlWiCe9pnKGkBqkeoIYy3
QVAYl5HNCJuCGGk7dvpTlmA7lCI2b1ktznwquXRmiT9ekUAx3n1Aq1v+dRrzlVdc0jjxJHveqn4S
U8ATAMNhRa0bOzOUnGin6Domce70u8mt9VsvzfjRiFr5XCckC4BbiGhd9jWvpnFI7udWhxs4y9aV
w1tqbbuu3pZoDUQtoYO5kZk8FaIlbYrZgEgZ7IalMkPYtE1oFVyTPxZ75UaC59pPrOsqLx98f4Ad
l7GgUD8nEc5p+14ZTUh1zUhLatOILljRPKG9c0HdubWqFhHJ/NGTTD128zr40ZnEIjk1bHVnDGOL
EhW0GaqUH9NWuFWF/DR/VCsf/Ur+KFktPtId7i6XTqhF6SqkYTjUIQ0LH4m3d7Hh7Va9hWz34oOF
JzikbKMyxXY5x37ZHeUgTN/Sq7kIoLYli1tsVTUj/8lkYKkbkLDNsaETaDsMjnnEsqy5V9d0QK86
ymi6FeDHNDkknmoxl7HAcDYN5aJXVmdxn6h/drrjst6lnOiVTlVyMzqkKix+jZvlAZEJypAbn+pg
Jh7X++6uMstu+aphqKGTXo0RElFrlM6hSqcW09JfVdd/sR/+B+cORhqTiwUvKRvcPK7wRdv8u3uF
YDNPxw33Cj+EzOTf1WlzXfX3P3/If2Qg+7+6w/6kcv9rm9n/gwYykzuQJ22BqvzXb/c/idwcZB9a
x2340fxZ3/7bb/6LwO3Zf9hc7jA2UWLqkaThx/AXgdsTf+CBht5JVJAftrP8yv9RuO0/TIHJCSgp
mUsuZX9TuE33D9f2FsgDsg15btf6TxRuWgr4FPzJ38UEAT3Hl5CYEbv/MeWD1RryX9LDabXLSO7o
zm4QD1FP1nQvMyZYFYPGFs87tfZ9GEAmdV367Db2KEdjOQ5IO/lKXhdLsTEt7hRnd0vdseO62UO6
VCA7SxlyOGLUUktBMnUfItw1jpvvWYL4W9eiSrldSpVZf9Ov7EOtikiqkNAORpbN5FF4ywTk2q5C
s7BZukjlQWIJpns1ljna5vwQdjQtzsS887zD4tNzo6EhqrmKPL9Yj55DCdVUdl26DsYQpczNJvYl
Bb7RW8QSeqS7bBYPgRNnr0td6kO5FE4rIaGXeRMl1D991JPRz58sG5z3Ec4aa6eu+RiQpoj8p0cn
kYzdDZiFdZmY6K/o2pir2ja7ozUq2VIJTsmKHK9CoVmC5RFgB6uRnL5ZuLaXOm2kf/Nz2a0i05Qd
ki3oyPS6Xkq4B8VuG7V/qeYujfAJmit93Ym7dHfH7tLjHUoqvbWDS8+3qPkWS+E3RAl5SpYScIpc
7bXm0nKF1P88UdCEkClHZKEZ69w6+2kTn5di8cieU2vBG7o33VI8Hi8V5OKnjbzpJ0x1ddFj9RVL
YTljb7si4GlwDflpNPf7pd1cFbw9Q8NCDpdL/Tk4GP80Mp6+RfD84Tz/NKWrMS7rFfQdtUZ1iV7z
n1Z1YqvRwWr5c8yf1vW0GWhgT0Nds8J3GlqSSpBHWJBJuxyypbq9+mlxp1l7PHRLtbvbubS8y5DC
dwkiOF+5Pz3w3HjaJ43J48xxa18Hqmsfo6U6Hhd1hM8IVd+/0iEfxTWLoeqrzp3prfWj0txQnYod
yk+a6t3skOdXtMXQVZ8k1NaDg/LPNgmNYDNX1NonS8F9vpQzrbwiMkHGATi891QxPrf0DjbYlYTx
jfnKcTaeSSjcdtP8U2EM3uMB4ddL6Q+PbVFYOVJjjiur0ZjZDgPdcgB2jKi40oy1CuLHsDf0yEIr
GoZnXw3VxdHlfLTMYnlu0/rAkszgjlQpTJHC9MWmRt6nA4xqpc+Qh2v5rQH7IrvJsvogYqivW7tX
0PYpGz1nhJlycLXZKF7CehKv3POsaSuoJF98HFRIetyRyr01eQ74xxoCTiuawVwRCw0PM/0/SMLq
O8jk/IZBcUszPXy2wfoqex/ooUiT5tNxR7RhZuLxbewTegC6aCRI2g6PHNDVdQT8+5AC/joVsA2B
ftO7Q/9gnG1r1KWXuXVtuqVa1hwSzATrSV2eXDGjW1vIHusC1YBR2eKCMXrBAT/9nq973pYLhrZn
SF1xHW72XU0SaZZu8OzLJGf2pggEL7+v1obZtQghuqnq9RDm9QbWKAALe46FuSaek5dbGaR2vsal
GX8nXRU9zW4UXYmU0pJtrS2ZrQxbDq8GDwrACmkR/0nrunvLrSSij87QholpfubRpnaoPmM0yicQ
8gkE33yuWD8alWab7/Bi6TrV3dZ1SknbRB/xUedt+9oKlh3srn6l8A0Zjxre032WqauIdlxWx53B
Cnz2uVdqmZBMgZCx8qFov9hB2FxbQRS9mb1LmTHNuPO2kxgM+cACJsdqkot4XeM+/UI4yQ5hrr9E
HduYPIq+PHGUONhzWdD9so0QZ63RdGighR6Gm7jrQg2oOpycTWsiPwJq77xoDcsSuZW/p3IP9LpF
8DOT0LQ2GALb78nG5LceMN+yD+OUscGVNXlTnwIVFywdEdMJKBOOIBeVpXqPcaaNDiUIkZ0dKy0O
+UzdFMOmFcYMA8qp2RLg9eBvL+x2w0ez/j0CgjkJXcqN2bJkWzHB8nLys+KhMHjcSEPEI8T7un6L
XQRVBkrPgzPdyOfJLVl3qjqV1zTNySfWn/UrWUPv5CXYowncaJRsrwqtO7DUxZ3CIP5UTy6WXj9R
fHxcykis3VSZab5p4/5mcrUiPjTa4TMOLMqfRiqkfosaWNAVX2FkbRDQ0bgjb/LeNCI0eCtcxzc8
t05+COClLSgrRz3ybmqu+9xPbgdA8zuL3kwA8RLNdTSamdWrERsRRPjM3Bl1GV8nU+C+TAlF4lk5
5ndpQt1AJmu4tEMZn/GcF+toNk26yVS5NpFmn7tQpE+Vb1Ubc+reKuFaj5pt0DmFFrDp8BIfKMcV
j+y5jW/Y4mOwkqGErWqV1jERiWssukLwmIuQ6aOMH8tSGOeAQsNNOhVAnPooSc9GIgm7YPvs1sNU
OJq1KvnMLSWLcEEIOi/IUjexgXlTK7p8EjKr+sBnF8BR7kK2jW7ardu5HDCA+O6RCQq9IRvmrwxk
8YZ2WCiERVdGd6XK2uu86t1tNaj4PdaoLFTP7MfOH/dB3BWs2fL4I+gmiti8Ib14hHn2Ro01wumj
Ylcbg6eQXqXxF6DK1EUWmyp8AM2NS93sexb1lLt6phy9rchSGkvZzyweAYrEIIN59rGjnPuxnjEn
F0YT3fipaLaasl+euTCJqWgn7i9a2wIkaHZrcAH9o8PRcm8bmYXtfBjSAM6/p7alGNqPGcXnxmut
INnyRoiOfRlEt6Ho5YOwu+psdn7CyB7i4RZhj3rtRLCRMjs192wP5D7BOXzLWizUcCsDKtV8EWU3
KiE6hNgbvHWsuy/aNf3fTZ1ZLqcyV4l1GVWOtaVrXbMImBqjWjthV2TneAQPsHLYl3F+54AVmlbH
+CxY2L/ImcQNM051TqvF7Gu3LpWvVmtaH4peVFwrSRg9K7oemt3ge6VBuraJruwwmTdYf4Ngb0Uu
kz1i4DQcaappqSmaEvXSg1R4KvK4v8Dsqvc6zc27QUYSHwUIW+qZDF4PhO/Cvcoz/cYCv7xvSNr5
Gxl2cA1qYN8qSnlW5zBPrt3Jmq6Jdg745iyju+cCO7Cj8/voNYIUR4ne0GvoC2lkPYpkrF8smVRn
v2WCHVUz33o04gGtdmx73Dg1pirSizHOmyl3f5Us5vMVjIDp1sDnfvKrQuxhZY49ZBRNfUbrqq95
9rRJiNmePnSkq2kNv8TY2lPVf9JdmXg730IhGBjfD0k3D/fUQ5jwzZe/ZW27YE/tumdj7j5ahEJW
A0mwFx5ONqR1XFRnb4CwHdX5k5NmlyzKWXJkYXvt55HNMwvfjzxjb+yLHH14zVZObwry+u4qCJT/
UpkNJwgshTBdK5uk02pBNDwnKqivfeKTFzjw6tKzurlheMmu23DKXg3qC5dm7tb7Aksf7efUICw4
Qja4HT3V93ga9PjuxZOYTuVo9dOBLto+PUWFNCmGCcPpwBbf+QoymsAAVWE2KVAIiVNXmFBWsvH8
W6DpVCZycn0DhlbfYRg0lMwnKV2/3YzODseCn/XK6a1Y7mXpx0/o3nKHYzN5nQ1jvqBeYPhine1z
tkX9s8mi5uJOMrtFSZrPc2zpb+vn8G2CZIlXU2ncDyGlrhG1w2PptTcuWuRjg5mBtg/WkVEOIpFa
0hqrhO1F1ha/u+uzPp4wAM/SusPEgsY/hCGlkDGuzXWbOX5Hi4GdpoeuS5Z9Qd3y0qgp+Vxl8O9e
RWjWuHRq3TYUfzTDqhai+rKNWoOhbuIbsojlfZwP9Uvjz9Gvtnb8Qwah/7k3xTSvx2kMj1C1W70z
B3aR6xyl4Wj49mwcIRmJg3RjVlS4JsyVM0X6PWJIzlZjoynajay82qeKlvNVarbJNSMBgkozyEM1
ijqFIcbKz3Qi7qFTT1Ni1BVVtbGqfK7XSeDMJHtdgx8dAdVTnifkXHoWI9mCuS/P2FrmA03gy+3G
6pK9I9rk4DkF9q3BMOUl5JN5GExVfHrlnL8vU7bmT8Cuu+lsy3gQXdOd88xsXqC7TEc6CXKuqhz4
a1q55nVltg6/0guuGIYsQXxP1XXph1m0Qioug3WZlclHXmZA46WOwztZ5vwV0rTCJZYiEN53fv67
YWFk8bjke4iqCZothnAAy125buafAqvRRFCeDPFIJta/jDIBwuzNNOyiDlNvm9Q9F5Kyt9pTGzue
3KjZtifcJ6o6tJp1MPWstNi6GfXeHMqETQ+NbvnRcI0XuY/nyxmak+ZE+ohTNap1EQdtsBpBArQg
z9zM3kRaB/1KOuQ9Z6opSBS1dO3iRsDbshKp2hLdj65aaWGLS/v5V06F6W4eR9DrXCPzaut2UePR
jZnGRz/lXjaGaXkTNtgDSB4F/n1NqeBT7iwzhfacDJINp/ia6HtzZ0NBvs4xbh6k6ItDjznkWHRT
VOOPzcdnWyop9qgE5dHAUP6uGy+u17Oas5sCo7M8Wk0zhy8u/d9cAN2Bfdt/vqf61xuoPy2p/ner
rP13efuRf7f/H6QhWSyJJZH473ZZj01csaz4x5jGX37bf8c05B+WJZEFyWksxGWXZeNfYxqwYWAt
ER5mT2UuHJ6/bbEcRynkRH6LR7cYv/TfmUgp/yDlJyjMszy59Of9R5lIVrl/3mJBa7EwwvIvVArz
gy+WX/+7XWdVpIYx2WZ3sAN7YuGxfGIH75D3WIPonHlFLw555UTZGlFp2s+l/ubJeUk87zV3M3EJ
agyuTj380pjIaBTJu60eVbcxDNOAmloXD2kl2quFYL4qvanYzOR+yTMn96oysNfKPjoUSxVQGFa3
lGUAyImniIYn57X0MeSpbrqUtvjOq+yM1x7ofMi0VfgJzb6p8QtLDo56uKpOadTvKNwhtDcMrpQy
MlnwFuNPDfv3uM0OZOGveQEt5bzLYZ6r8Bxiz9+Q5jN460240KykuKYLyWJZYM+nyqjUdUT58bji
hZYv0LjpOfDDRxGnHwMcupQmqIzo1wTgFUrENhlHso2cJuuo47hKpN1dKMTap01qX1fKHI8ydbrd
HEwlIUwffaU2sQGhkUzjsEocs/vNxfN2qcremo3l3qN8i7VfRduobtP91ALVw+ZV3LhU966NsQ0+
LYLhBwWq64SyUW24gMl1iWfmmDZmdWJHpj61mt4bqo3ZI3CmVEPfLmo9/6uwqs9O+cZNoHpxRKxQ
qxitZ0PHt30zp023c/LyOzE1KxO/du8akUADC3kJdomJDUKU3jqFhrxNI8pEBr9uTnU+yovXzr+q
inKfklMFva1LX61yerW9KqJGYcLB4Cc0ibXi2q7TbluV7CPmyUhJ7WW/48JLD27pv/uaghTV84/D
yZui3WCiyPS5OJUutGz+KTpQyA1dxW72iCHt0dVtcvKEJp4RjvFjG1CMlboQHFuALJDzwuyCNsT+
E1sPQCDf2g5x1K51ZT+5FrRzNzScmy6pX/i8+t+jKPRWGEV+O8uy2eQ6yrd91T4GRgDHetwqxkD4
Lu1zMpPQ7EXv79uCyyIHxVtWjOKQ6PZiOtWIP9xlBk6sdpdjT3lmnGAlozw8AP4jDRvnwkLtw+jg
rPuIMA4d2Fga/Z7+z3FswwCmKXrwPgeKeiyCGEtfSCnl2VYj21DHMDZRk2Z33MoydMRwOOaxWe0w
+zZ3WO77UxDaMcQUcp1ZFPE689v9rKubhe8eUdHWIHcVZXJpE9vbywpbFLuMZzNsxwds1uFpUJ7A
fBziu7XVkykSuU/jPn/OEvKL/Kj67cC1ReN15W6PUyx4IwnRb4NU1texbsllTYPCkUNuhTp54lmb
Lmi+S5aPm5CSFfq9Zv9WwUW8D3GkbyrirluWWNZat+pEh6d1h3IIvpSLELPtEN8PJpePqULZFMkM
ScdQ85emYDzWBEXU4JYHTyQ6XVWzeR+kmu4hY7ltICHv6C3D+tQG7rpXYbRhCEOZVxWeAeb+Ah0v
Q67kGqI2/mB0L1Prq6cu7NwDq+zgBVo3bAEBWcTpccXh+YuOwJSnq9p14ic/rupr/OxYGug+l5ds
No1bHN0zyO0seUGjexFRo3elWi4uIZbgdjxXupffmDL7C+D9YWPELRtiWDUkl8dyPrGHXLl+W33G
Tjd8c/3J79zKGrDtq+GgtccKMCA/ZrhZujO5Anh2Vt1SS3gFOBtrN37WkKY2GjDEOseWTEakvhr7
AIY3Rr9kk49pAIQhcq/sLE/OwxxU14Gpkzs0THNdiu66U3FPskjXL/jduxWXu+YWD1+3jiaqaboY
jHi+DOB9MicMBnwZ2TDNlyCa70enyDcS28umnIb4iKfunnPIADQe0L8knPCzKXNGj8x4DMdaYPQv
qB2Thb4rU48VL6jWDUWU7OZkfD2ScbnUoV3eO2xGVnlsd6vGZEOCUoLMwpZyQ8nbhAEDlsCRBWy3
wQbmbILYI1PcIN6NBl5AWpeYx3J6VnrX4i0cO99E/4uNrzJzTZryPm/UVyw9KNHJQE2pj7wxigqO
R58McKDaedt3Aa8Xlpc0BAXPMJM5FZevAXoSLviYCrdS+/LF63maM0eqLWhw/4bmGFJVsnfsJfgb
Dp8GHZDJKgHo9Cgr77fTJjf50PH2NQ/esCwgpXeHpOOT904tg8tiNJAtiLpd76VEkIzk4o5mdeMK
lTyzbVPbWtIezOjynBdqTwF9tlGcCQWGBP8Nki5obL/6VY58oFSbPfY1zpZknOg4yMTt3M83uc8c
xWmXPNEnKI9QLf11s/ykuaYGO6sP5crLefVo8gSFnD87t3zvXRnwTZ2taJuxZWcIZ/0K2TU+0bR4
BpPZ3HgiBHAKnDjGu7Wegt5bl7josW60AHnmoqDBxrUObZ/+F3tn1hw1tmXhv1JxH/pNhOYjRcft
iJvz5NnYwIsiwUbzPBxJv74/JbgKU1BFXdPd9dB+A9typlI6Onvvtb5V3dKBbJiqgA+3cWJtjD4/
qgqrEGkcC0/3lnZjvR8yfSNN6yFtM9KzGy1jFGQ9/P9294QQuR2Kx3/+4/iQhtki5GMMPzRf7Vsp
eEy2f98f3S5+jXNHPvvtX/606RVsUjWmsBMby0al9wUIRH3F/omnBjo5YdqndPenTa/6iu/Q+cAl
DaKRFKHfNr3qqwkMgqMZYiVmI/xaTxiUz+P8T2iW38gtX4I53Gl+/+XkdpooUzfhREI3yAzz6z1v
pZTSzDQTHH74sRX2uaisdWG7t5HHRFWNsKgObPo6nvWorUnPtd+Kyl+37rtAtmyLFX/PIncXt/Ya
RvZKI0YzOgCF3jWkuvci4bbvzgKp3jG7WMeNvypGax2NFRsWeoDekoV6r1Vzu3VWtuR3yTdIomqD
mHIb28aVXVnnlm2sZWlemZ4GYZWBoP++9wNa4S6U5fLGUYqbsSeihfvKDPJ5nKqzpHk/JjeDj1cy
xVXT2wym5ZkoHOSo6UErzPPM7O8KAwpnk11iBl8WA4nVKRAPUl8H3bsdGSDzrDVva9vfVDK6SD0T
BU/g0uW3qs3ooUiK/OSKed/GKGr0v1ZHQeqSMFS9iUxOma+aJCnaW7RDS8RVH1BVLcoiPZhkFn5x
5X1Do/G1lsw8fYiTngy1JegY5ysLH0M/vQ5UxSTApVzgbzhRcn1ZXljDcCEqMMAAMubxKJYKYVQd
n8wfvwCTSvD5VUR3VQWPbIOTmchsX9GuiDt2ENATaU802VgU4cFpq1WvMhrsBgthYKBfmF5sr1tv
ZC4w3nVZaBws9mzb1CZRQsweB1T2q9GubDIEjXAlNC9devl46JNqg+eHZqHjK1uV7Uw61ngyrSRd
rFG8IkKqKKKIC1lKoP1EBtqzPPesjeca+7LHJY3vEDFPrX8YmPbP8GhftWq4HmvAVdx790ap7ylr
zpyo3Wc4RHZ5Wfj7v76Q/lhT4Ls/9TeWuFCQf3+dfN00x+oYB8eJRvl4Wn23D//8x5M8ht/9rHDR
Xqmm7lDiw5SzJyHLU29AiFeWAKrAMvmc4GBor0zWSBIATJRJLoDu3xZJ5xXfmLCnwqCcn7gPf2GR
RAX91fWtARjVgLujWUA2gw7neWcg8IaisgBGrcmFTTF2JrYc5yp1NoNsYR3rwQM2MzBiK4tYnaNw
RRGhxoPNOM2kVSotIQ8uoS6UdczNvAgzXVC8bokLyzqwCQKy8SKwWfMEg7H3Qdg2WzUKDZajhhA+
iKXwoWfspMatQvBFTGxjSLsh0YxV1pTjhc4KhPkdxXmEMxNADsNSwmbbfqnGcoM2tHr0kV7MISij
snPT0F0kruacq00bHnzuguWgRwy5BAGGqc4uxmzScFk3kbOPMEkRpD1W81KLlHUQGe5DhMQfaw8j
/RWgcnOdD616I5h9XsSFXa75ZMQiNXrgaWYjx52iAXRmQluv9FGQEm7gdg1nSCKPCURkcNp+Eq1T
p2Q25xMHKecowNmYW61zJZMIh2NZ4P9xzOK9Cljy3Iwplkf7XeOqZ2NOpGBsJhuWa8CimFis4SpQ
IDRYZnspMoJh+eQWvSmwv1bc9bYPV8Bhzr/KFTtJkAqkxVnh9LJZBLFn3zboqNh9J52nLnBtg3aM
9rjXyXNwUnPhMVdElZE77WpCyNDAdCu1m2Wtnh+Z9AxnQ1V571xsY1hjnOJyrDVauyMe5dsET96u
ioZ609uKetYHAW0HtTFwljsNyHt9EgDZaS82XV2KTeK33euOhRa9vm/FmCfHDmqlMmXJO8o210vl
Q200sPJii+wPrjQwRJkU9zKx9X2GoY/SPzCm5qg1YHdJw4fQltVS5arcIEmZaEYW2btqbmXvOrbn
FwIMIAQmNXpfFfnbBlLUW3h9Ys3ALL5OmehcUt/YdwgnE1w7gXrIwlIcoqT1F6VmB8B1+oOXo2Lu
1D5bVaWhbFwVgj1Vt35F257BIPbCvGDsxRVtxTWKW689R+ISnyW9SYGRxHo/10SqHYaxAruABU3c
NYI53Lx2ZbDNy3C4wUDXb1NZa5eMdloTv23RHaG5yh3PFxMwRx2tu3hs3snUkwdcigA00fnf1qqj
BDwmcnlhECj3LmHgVM3jaKzLOUhZqzwnJDnpZ54kqWIBgo0ogThWgAVImnqehLYORb0H3ajwZwCx
yMvOttM7M8d4RY4fH0UZExa5rH22lvAljBxHFVJkgy7GTkRs25VQdS5YLuDnxqEenkcB40wHB+ul
bMbm0NGRvKT/j2BHF9Zwg3ZU25lxUzPoLLX8A+1T/0JtYGYB9Y/0VVeVNYHAQp2igoWypxYDJSI1
mWv80Sy60Kkkz7xujC/rStKK9Pps2SRastDAIGyEkJiRGkUWV04hvQtHmOhlUlQWXdEwgq/pOKwc
a2BORFUYHvTI01ciH+yDFtT9Hh9psFYNvTlkaiHPAjoG76yCeTlTHOYTc314XeCywiTKSPBWq1KU
ufpIjIskDYVE4erGypCnhCaasxAY81pAuYCZIdP43PMTeYVvu79i8yAbbriqmRd46Jj30w0UzUYp
1YrOGMHtseWpIFIRTDdCKS81200vQ0tYdyUi+TuaxvmjNBjPz8Y+1zfe6Cg3Ymj1i67WrTvNKxVy
vuFI7mn2gXkkeHNPn5pLOjOMjwiRifTQZHFn5aq2UHA63IUBtgCQVS2sKQiqS0MbQGxD6ljrURys
1DqQcyKi63lpVozNFeJ8bkyReiTqOg1kC0cO2zzOjIOfhuN6SG1rDeLGYftdjQtfi8DUQRt4w1wf
enmtt9elW3mX/NPbFo0Ub0IJHCz1q4CI16w81+26PYeKmRHTAmLO1PT0HYgFWoZOml62dheuUVgy
oR2RE8aRTbx2VxnIDxShb5nfQCUtoTLPSWAOiBpJ2h3CjJKQF6famqOGH6/sc9Lqww961Tvo8upd
EVSs8TzVUi9/Vxhj2c8xE137JW6otB+2ODj82zJKukcg+nJhV0a/biqZJfR29VJb2sNIy1mFXxLg
YpRypQyG7c+byigOhVCaCXQ9IRfAMCQOYVWozbKNBaiVboc1M403FZlaFkK9My3vNqkPLU6E/hli
lWrDUr3UJvF+GqXlxi1SdBEV5QUuraxYVlUTYkwEGZ/sYqOpVcQxTToLiFZA+R60ILmbKNkGdD4n
Z5efLaueVndQVe8Q2bIyt+Dk5440egR8qiVvqnocmB7q41IvpbXK3LS7NhTU6UsCSN0NjYlhmToO
vIehd2eSXsU4McrIaLlEnlG8L1ojZqMK44C+WrrrC05PxjWP1AVH99gX5llQg3QY0A6hOMqGvSZ1
uG3juKGxP7L/1ZM3zKwfmOVxWO8Y9KLeyJSqy8mUTYMjszH9eWnlWFA1M5/3pmJcQ6Nud2aUqzfm
0OHlrZSovwiIzwFx5BA3AE9DNRfoDTXatHCrQOQoH3uvsnca/d877o/yIJyi3WAymYyMbf6QNmm3
cfRC7Bq9GFE7A7wGNHXpxRoe7wTJnN+l3g0fQMo51R0Yi3HlHB0dNoVZl8G55vfRgh80UOP12rog
GfISL6l6qMMwfSNpKi+7wC9ggytdRzoyYQgb3W4Q8rgU1h9TxTBwMiv05OPYLNHQ4mEPfUeGS83J
bHONFSPYZoD4UHjEOC6C3uw2GeAtFWlZZid09bP8mv1FmJ0lPtzUhZLSJUbib8yDrVprI2lQZRnJ
C7fvq510q+Rq8lY+pqw4w4xutZwTooggzbDD1wbT6WXEdpemkabd1qJLVr2ejQ3/psmTQvJeGZFO
ly4P1SUTKXRyjh5u1DQEMC4QYqLRuZhAIllBAFpf1duK7K9FSxNs5pBrT7htrTHWj/15Vcv+QYZ9
/1EW+gNT4eodhuyjXXQqOhrTzy9cxbeBjrXNZhRhOM9yQx6EUSVsVtVuP5p6hWWf3qWoA9BYCY+n
Wm2NnVE6t/ooU2a9GKx1ICMLYudJ9a0xESZF7S+sxMpWQd2G+yjL5EWjecoaqp5yg4CmWWOGsOem
ntlogQbvAYGnseIe9ddZMBp8DG16G1o5/gnD8S/VNOjX9dg1KyUCa2wHiX1DTCMKw4xH5zzSx2hh
mU1SoMt2/R0JMN2qJpxwS9ZR+V6Lun5JH8C7TENUG1AbBSG7PDjzOrLOW9g1cyXxaEuWmKWIJm/J
8XYyF9FE2FvLMTEY20H8Ic48lIJcJTVYRY0gkqSNJSWqm5t74VQdg6je3KQ9NiivcYNlVaiMSRTd
21iDGa/jQWoACgCqFmgLsbR2chsmXn4pZIIcorVHHcWmqoRvrLBqNqWMi2sVlM2i19ELmGEmZo4Y
zTsedMzh7cqhOghtfWlCYNhhpnc2wmtalpYi++hksXNm11byuoNtTZ8wU5clM9zNGJvWlhamuRKg
9OFoFXizY8/lUTPQZGQ3YCzQxPWHWm2u0Eis2KeqB/IeIpop1b0CnJiGUHDeDcrbrJPBzPBz67VB
BvXMdiq85DlFS2GLKdFC7XeFFTTLiozKatabOMvaSYPJaB/oExcGOpuUYKdrNUZnqJqjtRj8xuMd
INJkluH9CWUW//yf1Glf9SEIXhsjqcKaYXCCctYgmFvBMYN03AnJNgPrTqdZeY2psb91NM19Mzhd
cUFgur93Br1864UyQsHMBp8Guu6vmV0Wt73hjlCaYEpAekI9SmLMJXwyPeCmDfWYDe00V3BNthKY
IsM3tACZRYVJBroFxuwaqeBE9IrBXITKB9/O/YWhwFRQInzCNNrv2rKmV98UFog9V4PG0Yo9nKFm
HpVwuMUkds5I2Tk3E4DvtNcra5GWzritAiHesVP315be4eOO5DHvrMu2aW9MdiiEJTIjJjdtWFhj
MFx1bQZPIx7JL5/snIQ2BKi6IWRQlQaBvUqgvLBs+5X1oDcloyIFDxMP95RN4bJTtPx+1NNEXxSh
g5O7Cuzu4EEw2gbo+QHT+rp9Bf6+u6jxQk2GW807GyByPVr0Wx4Kb+wWhamIJZNH/TofY1o3Cv60
kb6dusyHzt6bTatsCJoD5heNeYl7tw1Hxt9q/9jV/Zs6GEukzVa4Mqs0WVl9maxIdFFnNlLCmQHk
5MyTFv77Mq0IzGotxKtt3tVLUxvDizHOeEKjCNt51K+XIcM0qBV9F15zo7vb3u3lVs/NbosXjr5m
ONQfi6BhK5hK2d8GqSSZo2W/ADWnzFoxd7DNH/Rpn92dttzJafutTztxnsJsyiERgp5pSn2lUssD
XZNBcGFMO3njtKl3pv29dtrpM0xGkzXt/6XiNAd3qgniqTpIpjqhTTqdGYEP5amOoJ4VuVsDyKDA
qE61hs3OjMVoKkGMUzXSToUJCht5mZ6qFUyMPYKjgIe1LfW5E0w0eqMtlaUf0Bt0TyWPcyp/NFFl
xaYpRT93Klvb9ZWF59ksIj7wmAsX4BlQPFi6R3SH+syFpwVzpmsuTVpt68EZGNs5U701luNNUZn2
IlGKa0UPw02hcMIMpcivoSKa8FDYKStD3SuznK3wTmBI3pM2HeAm8MjLaqMWZpjDNmzm8DnMA1/V
7vXSsuatYxiXxEKKu5LPgNCiqWSEK9XP41MdiS8gPgvihk4BRSbEFiIoTpWnfapC3akgLTQjXpdT
kdpO5Wqr2f6hpIItplI2nIradCpveZFToUvJW03FL+SEbvIfoemdSmNL8Z23mVm+7ZFuvrenArqd
SmmCBrJ32VReO6dKG8v4sAmm8tudCvHhVJMnU3meToV6N5XsuPfFfT+V8c2poq+m4j6bynxQJco2
YpFOvYbvAntPZ+2pMxBPTQLsrWJjTY0DvWndxRe9um90lk/2vi/HA5qpM5eAtUr7DVnM1ymltYsV
CBSLsh4ax9xlaLoa3XNg0oFZ1idaBX4w61I1JxuC5oYwpsLWWnfAz9/WTgCLssqF/zB0rdyBB8Mb
72j1pUM37w0bg/zOcIpDG2bA71VgHGyeMDADwsFUrBQxn2lkdFCmQAihZagpBZoIcTrxKWJXO36W
L5uBV2W4esfOyhuzI5iqBLANOG2YgtNCBp+YNQ2hC+vbeFrrzNO6F0xLoDsthn98wk4JMc9O2KlT
yGZan9pckKSfdwpdeCyD2Q9gKGfiZnxjvCmPypvyWp7XV4g9sgsl+ZPY2lP84Fd/kVALV2gmsd6G
Kr76i5IGC5K50FtjvPHeJ3kdNpDkouE87sNRJwwFHmM1lI091xA/vNesER4c3fiPo2b1xmwYQm9F
OCOePLBhTb8cPYNnuA4gRF1DUFPu66awb0Hc86izMzh/89gUTrxs4qHa9GVeHoyUhFQ7G/stOxnW
J9opM1s41y1xheuO7SfNhhRQN9kTq6GW5d7JrfEd1jBvW0sv2Xal5aybIVFep6GsDhikYhDNnb/X
kxaWCEq+4iZw7fFoypC08kT2EIr6sLpD8TStX6me3P/1hv1LhH5/4249OQTf79bvgmP13V49v/m5
Vy9euZaDc1TgIJ3a6zTeP7tRDRR+qmmahkEQ0KTvexpoWq90Rzj8AnkHpmBO9FuvXnvlcq8w0BRw
+y2m8X+lVy9O4W5f3g9ErsFtBm7P4Ri5nvgkX6j41FSNYAgOyE00k7Y1Xvw8Y23SaGvXrdW69O09
+57bVE0WdUXmLnTLGPkLWiJfW0w4xkmfXnY3UpUuNEmrsVZNoqRnTt9Oqueguc5xmCCXzUFT4HrC
kzDgHQ/AKu15QekiNXGRSBfz49lAZ7I/2Lla7QtUPuGF1bY+miYbKAf1biSwsgpR6wSO5Mm1mTXW
gJFrgNUCrsLQlwhCMncNCHo0ZkDMsLDhVUGGDpPR2ahuZnUb+O7Rddda5YY8YxEDnMreIGTqCQXF
Mv/Am+OOdWpvEsIb7a2obSjo5MEk3kymmreWViGiuYLsJp9JiJ8rZtgd3lqjFPkqHCWJPHXvhedh
ozG7iAP69AtfFKO6Y6cGxs4jZYol1ok9sYmmsAkykakHl15lhqyxtrT7OZRE5R2GVNeltz6Eh9xD
LF3SXTjUOrZnmLG5CPc9eajjguichgaOISr7FPOCnwuu/Rtf5u3bRI+lyXijyR91mFEfA1Moypyt
M3qdMRzOehR9wNwsty5nLeQFmshFH280RZcQapXuKjKq9IORkmxJNyzwk+UAjvZNDWhKWXilXedr
s6ztS0W36Ljopp8wz6zp50GL75LbHGAx+41GBa7LCKLIEdw72kcbldw0StCSt6Mgu2zVKqVrwR4d
EUcRb0kLoWAwMAPcOELf8hR3r4VFsdKKrFvoVT3Z9pTiMujoYBlNXl4HkaOel2AglBl6olQuEsty
lrGVFke1bvpztYuMdj6UAwLHQpCRUJGDbZtxgfWOhOU6pKqZjQMpCI1Z5qvc0oZV4Mf9vQAOcab6
mbuhCVTf9UUewoSKmB4ZI7gJR52krF4z3mh5319mPsZHs8FaEmuuvIg0Vv0ktkIcoWV81mqJu2o5
FuMwSJ1wY7N1XTfkhprEHPv1FM09Vjr5jiGaUBpik+/W2wHbzjd6GoAoN8B8WGqQ3lUarsDcMV7b
BkMg3O+kUbjFrOz27CS48plYDZjV8FK5nWVswyntQZKWtgidsN6XHhIsj9be68LPALG2bb8zGpIH
AjF285JkiWFmT1nVGixPfDU6mhzN0sYrQydJecjofnGtG2tIC6JYBGzePjrSbK5ar9AXUWtpN/BC
xjust/YmEc5AkykqRUfxUGR3CRXFPSzn4i7OG4I7giq6E5q1taWDjjjm2GQ+hnJex419Oehp+bbU
0/oqS03tKF0PZGWpC/dGD+lEZUECiDNKKXFmLmsKiMjIACthDLSGmT4e5RiBiy+U2nyt6yU9gw5d
aCW7FEFEJC4cOrvvICbXyyC1PH/R2TX9SEfgXC1CeIe4Ex5E7dGvykvAqrNGsYaLSGS4zVw1Kj7q
5JPcTRfCrTGK8WMgpCwWjlST11BVxNWQ9pP9Dg5cHzQp2YCWJnmfSPEXie5obw0wPMq6BXBpLdwk
8c4NQ7S7gTXi2mNs85gGcc9sEv7HfQy/BNoMS/PGsOFQQv7wjI9xleO2qV1jYm3Gun3buhn+55Yq
cI4Q12dv6GdHG/L2o04xWyCiRgmthnanMx6AaF9pTn+gbm9wAo7huOqLxl0AtqBGD70ejy9lGRMx
3AxsiFbUAVhA0HpXO7q5JYrhhJJnkWntuEnwJJf0YoN22q2STZ3H3CSFbUFydhq9vvb1pFyH6Mjy
WRe29U1Ez3hp28BsKebsvWEn3rWfmOZbembxjhQq750i6xtQnf0h8ltEdYU6RFduZcfpJpdxOMMT
DySVEIx2y64V+ammDDps+sE42LHTnCVlHGBMhVl2EVu9ew6wkAosGpWWE5EQtCXt2pcbPWyaG4w1
yW3Q+dY7PVLksut8sWfUql7RTpO7kI3kIdGZS4Vxm+LRggC8jOPevUizYdh0eW/tKKKIf5Rtl6Wz
RJWhsmQQZSsrHBehNZe2W55xK+iv7aDOr/wyYrPWdETnYew+9lCjjlgN23WJFzCcScOoHrQGpjeO
If22I+yQIKAMHHcZOAe/qooPvufLI7xBNuu+YTWIqRWmWbOxk9XGHsJIYTaTYPXUso9enVcxnWrh
bHCs4biiihsWulVbW0Zc+SGSsbEC78YZHYwwmAlpIXgdBxoV7PqvUKcr8AKARBarsI953jpgn85d
PPCTBt0CHh/ITjLPTWgQBKnuXQfN0H40OittL7S4pYzOHRNAJ8p55mshSXxZGw5XFfJ2nuxVXV1l
uUjdeU2djocxEuY8pkl6wAZW8vDq7Pi8rnt/JYI03wVWjW7epBv8ILA7kq9ASajOPcMI9641SHel
65362hZJeMczG6kxPoyGWYqbd9SYirVPiJJeE0XlgvpCPkMFjwXVySOEyrHeKvsk9EZ1G3Z1dmtk
EDJneL+i/VgqqrkPssG4zwvV7hdYJbchwXzFzKqzfNdN+/QmF/p1rzr6znSJhvNqFTKm45PBlo/y
csxqTojLojtFCTT3Fuipj4HTjfeqrOx1guFhW48ODh9yYK5d4iMOojKoIga7tu8bvYKq30iD7ZDl
m5bH4KugGxwE4XnilfF97mr2GRs2Qqw9Oi4YKGs3ObhD67x1R9AUfWi/gTlUrAc77gEjmlzOPjF5
blWYt0oERSvArYkUG3EEA1mMka+Zf7XZskjccM2EInmb+aokrJZlH4NCVexdrL/LoBlVdRaPer/R
+yTY2WEO85EE56mZY689j/C41qBzpUQRuv5Qdu8GfQCHHcamPcfhGr91hio7mcucTeWpzrmBx1dn
TK52j55VE47Tk2rHxmipFiFacKM+ZmHhbKTk8m+p//da49yag1etpdvdaKIr7isw6evOrBp/JjqH
FSvqLHXdK3XO2pT4yU3IZXJf9mo/C5n5bkB2dOlSM7TwWh/drt9h5Hejed4Wjb/Ej2m+cetmeF8I
5g6zgVW9mckElTaPH69uoS8UiOJB8FZzlegoPP3TDLX3WvKD6rZI3oalLTmJLubLQefxufYm//UY
gGqPTqZsd/Jn54OiXNpYtpPJu+1PLu7wZOgG6WVsW5PgPe1k+C4m73cxucCbyQ8eTc7wKPerlQ99
d54AarqV5tbjlK9GwoGKtLbO6lSlKaJKcwnLiTGJq1JzZ0G6TQE5zwVOxcvaaYqFYmvnAi/Auc1W
eVZWqrzyJiN7PFnaESPgbm80nrEzeXK9i1KKRTdZ4dvJFE9uRnXwy5QZiFJP1vkUlMhZNbJZnFWU
M3fWyWY/niz3+pApNiRTtcH0XtnOwpj8+SVrHU+wwbouBJOrhdGySyQwNEsIG1IcFx3z5PZnAuye
k6kcXPpiggGAP4Bm34FE3jF8KN/Utma/dhJ7ONigyhBSZJ19V9u5dcVix9QmhX73lhtYXRmDBH7I
UAyx4gQnEBOmoIgt4BG8Tn1Br8XZ6bzxj1D2U6QvBCTT3Wa/uc1kCv4gOaEQUM3U6qaYCAlGPcES
0qQwMlbNQVMWbc3kfebj/MeCx/gGOIzvo8Bsa+i8aAcsHU+jqRwVxaxvMsTfGBnYsy8KTIIXo0ja
t5hXgJWWQG7PWkcwMHdIDKgjhS3OYHbqhVPbyduaLkYDUiaKUvIIAhWSbFkm1sIKTPgKruJ5MC66
XnpzNQuYuvQFc07uCBfGQae7955oKXQ64aHWiXHj0nOj3Z7vlMTEclVkg4ojZdTu65pu97qxVWfv
DnR8GTn54etccdLhChAcwcNMTM2PdcVEbV3QYR5Wngq8je6jg1qbmWEdXDSGScmRJDmMDyfQRh56
iSt5Vg3X3DNyZhlp3c+bYGSvweq/bwKSAdo02/eIdO9ZlqxrO+dxEEaeu8+6obnpgd7Rw0/Gezn6
AjJ+EPZYxvKIHk+gksvKkjR+jk+fmhK/qYK/CnD86p8vynN8Zob8H7A5fn4j30x9/FX8PH33FEd4
m/8uGvKHfuhJMPjtA/1YjKQJ2JFOx7OGy+lFnUIs/+gYybEJm/YBmbo2BVVhb6Sjop6+ECcmeeZ/
/rawoXwRfa5jyzh90XTh731xjr53Fv74Df4+YfP3x3n2Bj7kbdZUJHP6YZ4903pOTdIfOQVfHeG3
U4DRk/WCucEEFzt9PT8F7iSJB3+GJv70hcj9/+QU/Jmj4Os80b96KejOKwyq6AFQyH7rUhCvEKnS
fLW0T2fp06X3v38pfP882MBOf+xi+OoYv10MmvqKTrcDtI4jPb8RTLaiNtOKv+lVMIXK6sani/PT
Wvzr2vIX1gNuBtvFrgFw75sXgfbKQtFocyX8XS8C5JgvXRRJ79PcKVyb1e75NWCYxBjhCf90bv6G
dwAj4JfeAeYrwcgHJue3rwCeCIxjNGtyCU1fn5bfv9EyAATA/vSY+vdvAw3DAC4ClZbk80vAAZVJ
OolqfTrNf6O3zcudAiqnVOcfeRx+fwUUr7i8qei1r966+0pVcUO4RF6evvj23+s5CD93cmm86N3r
NtSHab7NZ3/6er4fAojKDGnaLvxtr/5pbX7pSTBeOWAxcF19Xui+OglM6ISuwtj89LT9oZvgB37o
140zxLXk4bSvDh/rLxLZ//QHnjadvz/A583kyR3EjvHZD06GzU+H/mQhmv79X8/uj9OG94tvPm2A
T3/n869/foO//9PP/tbTu3r6z034WB2rDwGZl2zJh88vc0K3/PMf/8oegur4y7ciaq3J6PnbC/qd
3fTXe+APj1/Xx/TpMNOZ0bGKPv37my7WHzrsLGTO+3SY6bBIJNiWvPTVbo7VcMyOTwc6fZKfnvUv
PnKYfj8MGMMhG+uX/ondEazvL/9xTIv//GV/ROoaPjtDPE2n5+hL/8r+WGUUpvHzk2Sf9gQvPjbX
afLVgU/b7Zce+HCM6+D4IB8fi6czcPpshTtlOL/06GfHh2D49j3E8X/C1X7xEPLyn17o6S4i+fkn
fJiX7UP7IXhkWPTs4HDStaf/+Pfv0cs2i47vn45zetUIAH/Cq74+Rse6wZD57NhCN3/CsW/COA6f
LVgGOdo/4TO8PaZh8sv58aH98lV/3ke+9Ao8eVS/tYh/3q689Pj3j3Xzy+wx84/Js1f/aR/w0qOf
HVnMWbCa5/Ctz62nlx593UYcvfnydf9axr742Pmzu3I6LjrDpz/17986PJV/pTOchx/y98fql22d
YEGunw4+3U+USJr2M676fzFR+/7jCXYa+smfsVCGY1493w58BrNR5b70s/hjfNtp5/PvfyCL4wO7
JM4/dzBZB79sjt1jEj696NOzZCLMGcQQvPiNTH9h+qifjvT56IgxJyXYS0/T2TSJa5/vDFRtOvhP
WOTOHv2A1z48uyv4iKfD/4TN5OIxCb4+6Rza/Al33OLX++37NJQXXkPzCSEQ/i4p43R2fsZN/CNZ
HC98Cz/AQnjhX/hT/eYLj3/7yK3lf73H/62t8dLb63B8gBXxdJueFmkTxaCOh0+nxa/qOpqhp2//
7PXol3+xQH33SgbfQ98d6rZuTtQdkrv+dJP3rXrz18nM76vQp4nLt37teYk9/cSH5PFY/dd/AwAA
//8=</cx:binary>
              </cx:geoCache>
            </cx:geography>
          </cx:layoutPr>
        </cx:series>
      </cx:plotAreaRegion>
    </cx:plotArea>
    <cx:legend pos="r" align="min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900" b="0" i="0" u="none" strike="noStrike" baseline="0">
            <a:solidFill>
              <a:sysClr val="window" lastClr="FFFFFF">
                <a:lumMod val="95000"/>
              </a:sysClr>
            </a:solidFill>
            <a:latin typeface="Aptos Narrow" panose="02110004020202020204"/>
          </a:endParaRPr>
        </a:p>
      </cx:txPr>
    </cx:legend>
  </cx:chart>
  <cx:spPr>
    <a:solidFill>
      <a:schemeClr val="tx2">
        <a:lumMod val="25000"/>
        <a:lumOff val="75000"/>
      </a:schemeClr>
    </a:solidFill>
    <a:ln>
      <a:gradFill>
        <a:gsLst>
          <a:gs pos="100000">
            <a:schemeClr val="accent1">
              <a:lumMod val="5000"/>
              <a:lumOff val="95000"/>
              <a:alpha val="0"/>
            </a:schemeClr>
          </a:gs>
          <a:gs pos="100000">
            <a:schemeClr val="bg1">
              <a:alpha val="0"/>
            </a:schemeClr>
          </a:gs>
          <a:gs pos="100000">
            <a:schemeClr val="accent1">
              <a:lumMod val="45000"/>
              <a:lumOff val="55000"/>
            </a:schemeClr>
          </a:gs>
          <a:gs pos="100000">
            <a:schemeClr val="accent1">
              <a:lumMod val="30000"/>
              <a:lumOff val="70000"/>
            </a:schemeClr>
          </a:gs>
        </a:gsLst>
        <a:lin ang="5400000" scaled="1"/>
      </a:gra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497">
  <cs:axisTitle>
    <cs:lnRef idx="0"/>
    <cs:fillRef idx="0"/>
    <cs:effectRef idx="0"/>
    <cs:fontRef idx="minor">
      <a:schemeClr val="lt1">
        <a:lumMod val="95000"/>
      </a:schemeClr>
    </cs:fontRef>
    <cs:defRPr sz="1197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categoryAxis>
  <cs:chartArea>
    <cs:lnRef idx="0"/>
    <cs:fillRef idx="0"/>
    <cs:effectRef idx="0"/>
    <cs:fontRef idx="minor">
      <a:schemeClr val="dk1"/>
    </cs:fontRef>
    <cs:spPr>
      <a:solidFill>
        <a:schemeClr val="dk1"/>
      </a:solidFill>
    </cs:spPr>
    <cs:defRPr sz="1330"/>
  </cs:chartArea>
  <cs:dataLabel>
    <cs:lnRef idx="0"/>
    <cs:fillRef idx="0"/>
    <cs:effectRef idx="0"/>
    <cs:fontRef idx="minor">
      <a:schemeClr val="lt1">
        <a:lumMod val="9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3175">
        <a:solidFill>
          <a:schemeClr val="dk1"/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3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3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1197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1197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1197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C4F08-1898-4A7E-A2FC-7692E467AC8B}" type="datetimeFigureOut">
              <a:rPr lang="en-IN" smtClean="0"/>
              <a:t>30-Aug-2026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67D87-F351-49CC-AF2B-9DD85ADBD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62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67D87-F351-49CC-AF2B-9DD85ADBDDD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33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67D87-F351-49CC-AF2B-9DD85ADBDDD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57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BA16-1D7D-A5DC-51B2-EC5925DAA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7DA3F-0AB3-E6E6-FC5B-8C1F572F5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1A147-769A-160E-4C43-D8AED442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B4D85-D0AC-A3BE-B763-274FA55B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2FAC-A4CD-4C82-9070-D0D23BD5F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3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BACC-3C4A-2439-278C-6A12B8B1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445DD-A714-A86C-8D82-10379E2A9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AF5A1-709A-8F3F-6567-E14503F7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C03DE-F0A6-5B55-8E4C-17A020AA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839C1-BBA7-B09A-920E-720DD730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33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7ED1-F61D-6EF7-18B2-52A181B1A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8F651-1468-F829-8240-6A0D63C09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E145A-20E0-A0C4-D33C-99FDDC264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B49CA-689A-72F1-5036-A106ED26C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CC873-46E0-A312-2817-46E92121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3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D054-0A29-2728-EDA9-59520925E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1018-7B31-3E3D-F998-F8BEBBE22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16893-24B6-8F19-4C0F-8E817CACB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7FBD0-A543-2B80-C31B-6825489C6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B9E82-2CA8-559C-F07C-DBE6EF29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9A07F-4717-93D0-6999-DA1B6E333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15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C0876-4ABB-64AA-7BB3-E3BF0435A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18FAD-A3AA-1B62-88CE-3B9E5A627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6CA5B-C258-C48F-3535-F7CD94857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0E786-BC41-5267-093C-0C6F88721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C056-171C-B15B-1A9C-E3C26FD00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9FA09-3639-7874-686F-A88E0FA7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643195-BF9E-FB7B-181A-329F06B5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62C3C4-6559-08BE-891F-8E6F281E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8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7A77-433F-CA8F-6415-9009CDCC1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2626A-CDB1-F4AB-4B96-4403CC79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3C9B8-E958-FE2A-F452-ECB32D16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45245-EE71-C119-0711-BE6C3DCF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85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EDA778-DAB3-EA40-1577-598C1817F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F7D44-0B3D-A17A-C4D4-9F270B06C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75F7A-DF88-126C-6B7C-9E35890B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2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CA40-E609-995D-F9EA-1B415F1C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0CC82-3226-F5D9-A274-CF466C2C8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5C4AE-AF30-C504-4FF8-5FC70D05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73136-C0CE-81C1-5E68-A1C6ABBB0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C9A5B-8AFA-094B-E4EF-E17922CE1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323E3-0CBC-F806-73F5-DA622B5D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8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C0FC-D365-833B-7B2F-7392B8EF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58836-9787-4901-B39C-A22B2AC40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9281F-000E-ACDD-BFA1-F19D257CF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104C5-8C8B-CC9D-C4CC-40C206A9C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95D71-9B61-92D3-0710-F30937E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FA7B7-4E03-53C4-D52E-AE906F39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7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13F0-14DC-6D9B-D31A-2EE5D027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24C44-C95F-625B-5CD1-DC4790DB2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01FB0-A9C4-BA8F-7788-4F12803F5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5AC61-C29B-38FA-2044-6E517802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1A8A2-2B38-D459-1DC1-A660C40F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0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E344C-5C78-5EBE-640A-21D92F49F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038F3-B007-B513-DD93-3000AC1AE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B9C37-81DB-CC56-A4D8-F9F04618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977F8-0288-472D-C6FB-D9DC4E25B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DF9A2-3124-B345-CD3C-7B2FCFDD1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FF10A-A93B-C624-8836-9818D01A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CAF36-F9FE-8729-2C9E-5C4318E25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D90A8-EA0C-BCD1-F858-4DCAE8F97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82F6A-11F0-4244-8EC1-3C964A181321}" type="datetimeFigureOut">
              <a:rPr lang="en-US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0AE3C-C452-6F21-8245-C0B06C6B7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F0414-7184-3D6C-01B7-A34D0D7DE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4C65B-1434-0948-A5F9-53AD61729D6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9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4CEBC4-4F49-6630-CF3C-1D099E751B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342374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B48A45-7E04-6016-4BE2-863BA1E32839}"/>
              </a:ext>
            </a:extLst>
          </p:cNvPr>
          <p:cNvSpPr txBox="1"/>
          <p:nvPr/>
        </p:nvSpPr>
        <p:spPr>
          <a:xfrm>
            <a:off x="1911663" y="299894"/>
            <a:ext cx="9519047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Job Application &amp; Recruitment Analytics 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4D5D0-8200-2655-7E0A-A33BA66F6C30}"/>
              </a:ext>
            </a:extLst>
          </p:cNvPr>
          <p:cNvSpPr txBox="1"/>
          <p:nvPr/>
        </p:nvSpPr>
        <p:spPr>
          <a:xfrm>
            <a:off x="-26789" y="4939437"/>
            <a:ext cx="3101578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Mini Project</a:t>
            </a:r>
          </a:p>
          <a:p>
            <a:pPr algn="ctr"/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By </a:t>
            </a:r>
          </a:p>
          <a:p>
            <a:pPr algn="ctr"/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Dhivyasree V</a:t>
            </a:r>
            <a:r>
              <a:rPr lang="en-IN" sz="3600" b="1" dirty="0">
                <a:solidFill>
                  <a:schemeClr val="tx2"/>
                </a:solidFill>
              </a:rPr>
              <a:t> </a:t>
            </a:r>
            <a:endParaRPr lang="en-US" sz="3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08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A1762-6AA8-4B0D-AF9F-538AF218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F30A3-9E3F-5EC6-E406-74FE5C2E8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Freshers may find it difficult to choose the right job and skill-matched opportunities.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Experience candidates may find it difficult to suitable role with the right salary.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Recruiters may find it difficult to manage many application and track candidate status.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This project provide clear insights into application , salary, skills, experience and recruitment status.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It help in making better job and hiring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52795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D698-2152-02D9-7953-42BF5A68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CFECB-8F79-E2AE-60E8-9F6026DA6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project focuses on analyzing: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Application by Job Type – Compare applications across job types.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Expected Salary vs Offered Salary – Compare expected and offered salary.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Highest Skill Match – Identify the highest skill-match level.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Application Trends – Analyze application trends over time.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Gender Based Status – Analyze recruitment status by gender.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Experience Level Analysis – Analyze applications by experience level.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Salary Gap vs Selected – Analyze salary gap based on selection.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State Wise Application Count – Analyze applications across states.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Application Source – Identify the major application sources.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Industry Performance – Compare application performance across industries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669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4ABF3-2D18-49C2-04A8-F7EA61F2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055AB-19A2-538E-C109-172137FDB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Core Challenges: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Large number of job applications makes it difficult to track candidates manually.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Recruiters need to identify which job roles and sources attract more applicants.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is difficult to monitor candidate status and recruitment progress efficiently.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 single dashboard is needed to analyze application trends and recruitment outcomes.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Manual analysis makes it harder to identify hiring patterns and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67349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9711-7E21-735D-F8D1-F5F8FA145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5BC99-75CC-AB03-7F24-0C49E220E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Microsoft Excel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
Used for data analysis, calculations and dashboard creation.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Microsoft Excel  Features Used:-</a:t>
            </a:r>
          </a:p>
          <a:p>
            <a:pPr marL="0" indent="0">
              <a:buNone/>
            </a:pP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Pivot Tables 
 Pivot Charts
 Slicers
 Conditional Formatting
 Data Visualization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Power Query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
Used for cleaning, transforming and preparing the recruitment data.
</a:t>
            </a:r>
          </a:p>
        </p:txBody>
      </p:sp>
    </p:spTree>
    <p:extLst>
      <p:ext uri="{BB962C8B-B14F-4D97-AF65-F5344CB8AC3E}">
        <p14:creationId xmlns:p14="http://schemas.microsoft.com/office/powerpoint/2010/main" val="31681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F2556-A706-25DA-2ED5-4880D94A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AD166-4F28-43AA-5A11-534423AC5B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Data Cleaning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Removed empty/unnecessary values.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Handled missing values.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Corrected data types.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Cleaned and standardized the data.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Used trim Function to Text data type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3E012-33C3-A571-1AFB-B9D541CFF4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Data Cleaning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Cleaned Salary Offered and Salary Expected columns.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Removed the “Rs” currency text from salary values.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Converted salary values into a consistent numeric format.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Converted salary values into LPA for analysis.</a:t>
            </a:r>
          </a:p>
          <a:p>
            <a:pPr algn="ctr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Created cleaned salary fields: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Salary_Offered_LPA_Clean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Salary_Expected_LPA_Clean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Used the cleaned salary fields for Expected Salary vs Offered Salary analysis.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Used if function for condition.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75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65B4-C893-5176-CE81-98F3FF27D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622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– IF Function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5F3CE-42B5-82BE-D027-C31D58886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Function – Power Query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used the IF function in Power Query to apply conditions to the salary data.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IF function checks a condition and returns one value when the condition is True and another value when the condition is False.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my project, I used this logic to clean and prepare the salary values for analysis.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Basic syntax: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if condition then value1 else value2</a:t>
            </a:r>
            <a:endParaRPr lang="en-IN" dirty="0"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example: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if [Salary_Offered</a:t>
            </a:r>
            <a:r>
              <a:rPr lang="en-IN" dirty="0"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]&gt;100</a:t>
            </a:r>
            <a:r>
              <a:rPr lang="en-US" dirty="0"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then [Salary_</a:t>
            </a:r>
            <a:r>
              <a:rPr lang="en-IN" dirty="0"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Offered</a:t>
            </a:r>
            <a:r>
              <a:rPr lang="en-US" dirty="0"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en-IN" dirty="0"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/100000</a:t>
            </a:r>
            <a:r>
              <a:rPr lang="en-US" dirty="0"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else [Salary_Offered]</a:t>
            </a:r>
            <a:endParaRPr lang="en-IN" dirty="0"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This checks whether the offered salary is missing.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the condition is True, the expected salary is used.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If the condition is False, the offered salary is retained.</a:t>
            </a:r>
          </a:p>
        </p:txBody>
      </p:sp>
    </p:spTree>
    <p:extLst>
      <p:ext uri="{BB962C8B-B14F-4D97-AF65-F5344CB8AC3E}">
        <p14:creationId xmlns:p14="http://schemas.microsoft.com/office/powerpoint/2010/main" val="1387094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E2E7-79E5-5C9A-9C42-9D7B6F0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441325"/>
            <a:ext cx="10515600" cy="1325563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KPI( Key Performance Indicators)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BDF7A-F240-C9B8-D636-CACC9C5A53A0}"/>
              </a:ext>
            </a:extLst>
          </p:cNvPr>
          <p:cNvSpPr txBox="1"/>
          <p:nvPr/>
        </p:nvSpPr>
        <p:spPr>
          <a:xfrm>
            <a:off x="1460090" y="1766888"/>
            <a:ext cx="92472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Total Application- 3699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Top Application Source- LINKEDIN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Interview Rate- 15.7%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Selection rate- 6.5%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Day To Response- 23.7%</a:t>
            </a:r>
          </a:p>
          <a:p>
            <a:pPr marL="342900" indent="-342900">
              <a:buFont typeface="+mj-lt"/>
              <a:buAutoNum type="arabicPeriod"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2400" b="1" i="1" dirty="0">
                <a:latin typeface="Book Antiqua" panose="02040602050305030304" pitchFamily="18" charset="0"/>
                <a:cs typeface="Calibri" panose="020F0502020204030204" pitchFamily="34" charset="0"/>
              </a:rPr>
              <a:t>“A Quick Overview of Recruitment Performance”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0445D7E-C4BF-A020-FAAA-1E32577EF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9" t="28604" r="52213" b="65429"/>
          <a:stretch>
            <a:fillRect/>
          </a:stretch>
        </p:blipFill>
        <p:spPr>
          <a:xfrm>
            <a:off x="1082040" y="4907280"/>
            <a:ext cx="10176764" cy="86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07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38B4-BB78-2A71-B6F2-296170C9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dirty="0">
                <a:highlight>
                  <a:srgbClr val="FF0066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endParaRPr lang="en-US" dirty="0">
              <a:highlight>
                <a:srgbClr val="FF0066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D95C7-029C-72C3-F119-739C3620B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369" y="2057400"/>
            <a:ext cx="3932237" cy="381158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1.Application by Job Type </a:t>
            </a:r>
            <a:endParaRPr lang="en-IN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Chart: Bar Chart 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Why: To compare different job types.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Explain:  This chart shows which job type receives the highest number of applications.</a:t>
            </a:r>
          </a:p>
        </p:txBody>
      </p:sp>
      <p:graphicFrame>
        <p:nvGraphicFramePr>
          <p:cNvPr id="5" name="Picture Placeholder 4">
            <a:extLst>
              <a:ext uri="{FF2B5EF4-FFF2-40B4-BE49-F238E27FC236}">
                <a16:creationId xmlns:a16="http://schemas.microsoft.com/office/drawing/2014/main" id="{440C3016-8B3A-44A9-993B-BF43B7738B5F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1000616726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24222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ACBB6-0AC1-D04A-6541-E5DB1EB45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2.Application Trends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
Chart: Line Chart
Why: To show changes over time.
Explain: This chart shows how the number of applications changes from month to month.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Picture Placeholder 1">
            <a:extLst>
              <a:ext uri="{FF2B5EF4-FFF2-40B4-BE49-F238E27FC236}">
                <a16:creationId xmlns:a16="http://schemas.microsoft.com/office/drawing/2014/main" id="{1FC00D12-1BDA-4E0C-8E54-DAC6151ED0ED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1480109069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17141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970FB-F8E2-6CA1-F429-314218C44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95363"/>
            <a:ext cx="3932237" cy="4873625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3.Expected Salary vs Offered Salary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
Chart: Column Chart
Why: To compare two salary values.
Explain: This chart compares the salary expected by candidates with the salary offered by companies.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Picture Placeholder 6">
            <a:extLst>
              <a:ext uri="{FF2B5EF4-FFF2-40B4-BE49-F238E27FC236}">
                <a16:creationId xmlns:a16="http://schemas.microsoft.com/office/drawing/2014/main" id="{D3E2DBE9-7C3D-4B76-91FD-6E5EEC4B0914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3675469177"/>
              </p:ext>
            </p:extLst>
          </p:nvPr>
        </p:nvGraphicFramePr>
        <p:xfrm>
          <a:off x="5183187" y="987426"/>
          <a:ext cx="6512283" cy="4218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87356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6DBE6-74E6-889A-6B6B-751760DAC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/>
          <a:lstStyle/>
          <a:p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4.Industry Performance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
Chart: Bar Chart
Why: To compare different industries.
Explain: This chart shows which industry receives more applications</a:t>
            </a:r>
            <a:r>
              <a:rPr lang="en-IN" dirty="0"/>
              <a:t>.</a:t>
            </a:r>
            <a:endParaRPr lang="en-US" dirty="0"/>
          </a:p>
        </p:txBody>
      </p:sp>
      <p:graphicFrame>
        <p:nvGraphicFramePr>
          <p:cNvPr id="2" name="Picture Placeholder 1">
            <a:extLst>
              <a:ext uri="{FF2B5EF4-FFF2-40B4-BE49-F238E27FC236}">
                <a16:creationId xmlns:a16="http://schemas.microsoft.com/office/drawing/2014/main" id="{893DFCB1-8C56-DE78-F451-EE7802022227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1056458057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2129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89B15-286B-BC59-EB3E-8D859B8C8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95363"/>
            <a:ext cx="3932237" cy="4873625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5.Application Source by Candidate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
Chart: Bar Chart
Why: To compare recruitment sources.
Explain: This chart shows which platform brings the most candidates.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Picture Placeholder 1">
            <a:extLst>
              <a:ext uri="{FF2B5EF4-FFF2-40B4-BE49-F238E27FC236}">
                <a16:creationId xmlns:a16="http://schemas.microsoft.com/office/drawing/2014/main" id="{F7B0E71B-5A24-4CFE-9CB7-8AAD13AD490F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1128631455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76640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5120F-CCEC-F900-101D-BB85B03A9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95363"/>
            <a:ext cx="3932237" cy="4873625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9.Highest Skill Match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
Chart: Bar Chart
Why: To compare skill-match levels.
Explain: This chart shows candidates with a higher match between their skills and the job requirements.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Picture Placeholder 1">
            <a:extLst>
              <a:ext uri="{FF2B5EF4-FFF2-40B4-BE49-F238E27FC236}">
                <a16:creationId xmlns:a16="http://schemas.microsoft.com/office/drawing/2014/main" id="{A03E4F25-0219-4862-87D7-0FD9519E7A1F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3402010488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3507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5A4EA-F44F-3573-4F71-20AE04108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95363"/>
            <a:ext cx="3932237" cy="4873625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10. State-wise Application Count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
Chart: Map Chart
Why: To show geographical distribution.
Explain: This chart shows which states have more job applications.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2" name="Picture Placeholder 1">
                <a:extLst>
                  <a:ext uri="{FF2B5EF4-FFF2-40B4-BE49-F238E27FC236}">
                    <a16:creationId xmlns:a16="http://schemas.microsoft.com/office/drawing/2014/main" id="{4A9704E8-CFA8-49D8-AA47-56E1246DDE19}"/>
                  </a:ext>
                </a:extLst>
              </p:cNvPr>
              <p:cNvGraphicFramePr>
                <a:graphicFrameLocks noGrp="1"/>
              </p:cNvGraphicFramePr>
              <p:nvPr>
                <p:ph type="pic" idx="1"/>
                <p:extLst>
                  <p:ext uri="{D42A27DB-BD31-4B8C-83A1-F6EECF244321}">
                    <p14:modId xmlns:p14="http://schemas.microsoft.com/office/powerpoint/2010/main" val="84901855"/>
                  </p:ext>
                </p:extLst>
              </p:nvPr>
            </p:nvGraphicFramePr>
            <p:xfrm>
              <a:off x="5183188" y="987425"/>
              <a:ext cx="6172200" cy="487362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Picture Placeholder 1">
                <a:extLst>
                  <a:ext uri="{FF2B5EF4-FFF2-40B4-BE49-F238E27FC236}">
                    <a16:creationId xmlns:a16="http://schemas.microsoft.com/office/drawing/2014/main" id="{4A9704E8-CFA8-49D8-AA47-56E1246DDE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3188" y="987425"/>
                <a:ext cx="6172200" cy="48736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3938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6E3F-C9F9-49C4-BCE7-4CF1349E1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DE402B-0A6B-75A4-13EE-9FAA03F10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The dashboard converts raw application data into useful business insights. 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Recruitment data was cleaned and prepared using Power Query. 
10 Pivot Tables were created to summarize the data.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5 KPIs provided a quick overview of recruitment performance.
Pivot Charts helped to visualize recruitment patterns clearly.
It supports better and data-driven recruitment decisions.</a:t>
            </a:r>
          </a:p>
          <a:p>
            <a:pPr marL="0" indent="0">
              <a:buNone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476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A3C7-C3E7-BD2E-A0D5-41CA66A9EF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5000"/>
              <a:lumOff val="75000"/>
            </a:schemeClr>
          </a:solidFill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9938E-06BF-FE6F-BF87-AF31F98CF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Predict Future Hiring Demand – Which roles will be needed more in future.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Reduce Hiring Cost – Identify cost-effective recruitment methods.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Improve Employee Retention – Find patterns that may help reduce early employee turnover.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Plan Workforce Better – Help companies plan future hiring based on business needs.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Improve Recruitment Strategy – Use data insights to make the overall hiring process more effective.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573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A894-C7E1-A3A8-67DD-0B37452A55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88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974</Words>
  <Application>Microsoft Office PowerPoint</Application>
  <PresentationFormat>Widescreen</PresentationFormat>
  <Paragraphs>96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Book Antiqua</vt:lpstr>
      <vt:lpstr>Calibri</vt:lpstr>
      <vt:lpstr>Times New Roman</vt:lpstr>
      <vt:lpstr>Office Theme</vt:lpstr>
      <vt:lpstr>PowerPoint Presentation</vt:lpstr>
      <vt:lpstr>Introduction</vt:lpstr>
      <vt:lpstr>Problem Statement </vt:lpstr>
      <vt:lpstr>Business Problems</vt:lpstr>
      <vt:lpstr>Tool Used</vt:lpstr>
      <vt:lpstr>Data Pre-Processing</vt:lpstr>
      <vt:lpstr>Data Pre-processing – IF Function</vt:lpstr>
      <vt:lpstr>KPI( Key Performance Indicators)</vt:lpstr>
      <vt:lpstr>Charts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</vt:lpstr>
      <vt:lpstr>Future Scope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 Job Application &amp; Recruitment Analytics </dc:title>
  <dc:creator>Dhivyasree V</dc:creator>
  <cp:lastModifiedBy>Dhivyasree V</cp:lastModifiedBy>
  <cp:revision>19</cp:revision>
  <dcterms:created xsi:type="dcterms:W3CDTF">2026-08-28T12:49:01Z</dcterms:created>
  <dcterms:modified xsi:type="dcterms:W3CDTF">2026-08-30T07:30:52Z</dcterms:modified>
</cp:coreProperties>
</file>